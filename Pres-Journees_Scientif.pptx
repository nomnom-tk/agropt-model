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4.gif" ContentType="image/gif"/>
  <Override PartName="/ppt/media/image6.gif" ContentType="image/gif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7C4BE54-A32E-4FB3-AF29-5581DF5E8A4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8EF989-7ED1-48F1-BA2A-CB423939CBCF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B2DBA8-0A98-4A3C-8AAE-A81B19E4F32F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9D0558-DCDC-4B1F-9612-74572BA64CFC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F16341-AFBA-40C1-B177-ED3D742937BF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29B5D3-F456-41EF-B4FC-3406DEF47EA8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0D15AB-FFA1-4A20-BE5B-A57B2139D5C5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960326-A4DE-4145-8789-3623374A1DF1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3865B9-AA27-4AEC-9B48-964C2A5FDC70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A72A19-5F4F-4289-8B4F-500BD0C44EBE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846DB8-D62E-4B80-919B-75EECD78A8B8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35A0F4-6AF0-4781-8E47-1FB7E1E73134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60AEF2-2A63-47A6-8F8D-CC91EC4ACB17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9CC165-B2A1-43C7-A7ED-91E5DE93505D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68447D-C0C7-4CBE-91AC-AF261ED72D3D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9457C3-7B17-4300-9365-AE962F56D4B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5095CE-DAED-4488-9064-D4CA8D4675D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1F9580-19A0-4DE0-8AD0-7F622FADD21E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www.allaboutai.com/fr-fr/glossaire-ai/simulation-multi-agent/" TargetMode="External"/><Relationship Id="rId2" Type="http://schemas.openxmlformats.org/officeDocument/2006/relationships/hyperlink" Target="https://www.dicopart.fr/mini-publics-deliberatifs-2022" TargetMode="External"/><Relationship Id="rId3" Type="http://schemas.openxmlformats.org/officeDocument/2006/relationships/hyperlink" Target="https://www.allocine.fr/film/fichefilm_gen_cfilm=123530.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720000" y="1296000"/>
            <a:ext cx="8045280" cy="182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Modélisation des dynamiques d’opinion dans la réduction de la consommation de viande: une approche par simulation multi-agents utilisant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des données de délibération citoyenne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914400" y="3291840"/>
            <a:ext cx="731088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4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DejaVu Sans"/>
              </a:rPr>
              <a:t>Journées Scientifiques du départment Sciences de la Vie et Santé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914400" y="4029120"/>
            <a:ext cx="7310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aaaaaa"/>
                </a:solidFill>
                <a:effectLst/>
                <a:uFillTx/>
                <a:latin typeface="Calibri"/>
                <a:ea typeface="DejaVu Sans"/>
              </a:rPr>
              <a:t>Gregor Stolte, Nicolas Darcel, Patrick Taillandier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" name="Text 1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/>
          </p:nvPr>
        </p:nvSpPr>
        <p:spPr>
          <a:xfrm>
            <a:off x="457200" y="84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Notre problème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Les dynamiques d’opinion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L’expérience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Résultats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Prochaines étapes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1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Notre Problème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Transition vers les régimes durables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" name="Text 18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Réduction des émissions liée à la production alimentaire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9"/>
          <p:cNvSpPr/>
          <p:nvPr/>
        </p:nvSpPr>
        <p:spPr>
          <a:xfrm>
            <a:off x="288000" y="2307600"/>
            <a:ext cx="85910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choix alimentaires ont un impact sur la santé (Springmann et al., 2016), la planète (Springmann et al., 2016), et l’environnement (Garnett, 2008)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Plan National Intégré Énergie-Climat Francais 2021-2030 (European Commission, 2024)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Paris Agreement (OECD, 2025)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consommation et un </a:t>
            </a: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changement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régime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qu’on s’influence? (Cruwys et al., 2015)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Observation (choix des autres, visuel)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Imitation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Répulsion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Nudge – Schäufele-Elbers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– Pollicino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859000" y="2285640"/>
            <a:ext cx="2285280" cy="2285640"/>
          </a:xfrm>
          <a:custGeom>
            <a:avLst/>
            <a:gdLst>
              <a:gd name="textAreaLeft" fmla="*/ 0 w 2285280"/>
              <a:gd name="textAreaRight" fmla="*/ 2286000 w 2285280"/>
              <a:gd name="textAreaTop" fmla="*/ 0 h 2285640"/>
              <a:gd name="textAreaBottom" fmla="*/ 2286360 h 2285640"/>
            </a:gdLst>
            <a:ahLst/>
            <a:cxnLst/>
            <a:rect l="textAreaLeft" t="textAreaTop" r="textAreaRight" b="textAreaBottom"/>
            <a:pathLst>
              <a:path w="6350" h="6351">
                <a:moveTo>
                  <a:pt x="6350" y="5338"/>
                </a:moveTo>
                <a:cubicBezTo>
                  <a:pt x="6343" y="5508"/>
                  <a:pt x="6294" y="5674"/>
                  <a:pt x="6209" y="5822"/>
                </a:cubicBezTo>
                <a:cubicBezTo>
                  <a:pt x="6116" y="5983"/>
                  <a:pt x="5983" y="6116"/>
                  <a:pt x="5822" y="6209"/>
                </a:cubicBezTo>
                <a:cubicBezTo>
                  <a:pt x="5661" y="6302"/>
                  <a:pt x="5478" y="6351"/>
                  <a:pt x="5293" y="6351"/>
                </a:cubicBezTo>
                <a:lnTo>
                  <a:pt x="5292" y="6351"/>
                </a:lnTo>
                <a:lnTo>
                  <a:pt x="1059" y="6351"/>
                </a:lnTo>
                <a:cubicBezTo>
                  <a:pt x="873" y="6351"/>
                  <a:pt x="690" y="6302"/>
                  <a:pt x="529" y="6209"/>
                </a:cubicBezTo>
                <a:cubicBezTo>
                  <a:pt x="368" y="6116"/>
                  <a:pt x="235" y="5983"/>
                  <a:pt x="142" y="5822"/>
                </a:cubicBezTo>
                <a:cubicBezTo>
                  <a:pt x="49" y="5661"/>
                  <a:pt x="0" y="5478"/>
                  <a:pt x="0" y="5293"/>
                </a:cubicBezTo>
                <a:lnTo>
                  <a:pt x="0" y="5292"/>
                </a:lnTo>
                <a:lnTo>
                  <a:pt x="0" y="1059"/>
                </a:lnTo>
                <a:cubicBezTo>
                  <a:pt x="0" y="873"/>
                  <a:pt x="49" y="690"/>
                  <a:pt x="142" y="529"/>
                </a:cubicBezTo>
                <a:cubicBezTo>
                  <a:pt x="235" y="368"/>
                  <a:pt x="368" y="235"/>
                  <a:pt x="529" y="142"/>
                </a:cubicBezTo>
                <a:cubicBezTo>
                  <a:pt x="690" y="49"/>
                  <a:pt x="873" y="0"/>
                  <a:pt x="1059" y="0"/>
                </a:cubicBezTo>
                <a:lnTo>
                  <a:pt x="5293" y="0"/>
                </a:lnTo>
                <a:cubicBezTo>
                  <a:pt x="5478" y="0"/>
                  <a:pt x="5661" y="49"/>
                  <a:pt x="5822" y="142"/>
                </a:cubicBezTo>
                <a:cubicBezTo>
                  <a:pt x="5983" y="235"/>
                  <a:pt x="6116" y="368"/>
                  <a:pt x="6209" y="529"/>
                </a:cubicBezTo>
                <a:cubicBezTo>
                  <a:pt x="6294" y="677"/>
                  <a:pt x="6343" y="843"/>
                  <a:pt x="6350" y="1013"/>
                </a:cubicBezTo>
                <a:lnTo>
                  <a:pt x="6350" y="5338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8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1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8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Text 42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1"/>
          <a:srcRect l="0" t="10360" r="72815" b="0"/>
          <a:stretch/>
        </p:blipFill>
        <p:spPr>
          <a:xfrm>
            <a:off x="900000" y="1567080"/>
            <a:ext cx="1605600" cy="31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43"/>
          <p:cNvSpPr/>
          <p:nvPr/>
        </p:nvSpPr>
        <p:spPr>
          <a:xfrm>
            <a:off x="3934800" y="2520000"/>
            <a:ext cx="42710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Chaque individu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Long-terme: consensus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2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Text 31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2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Text 33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"/>
          <p:cNvPicPr/>
          <p:nvPr/>
        </p:nvPicPr>
        <p:blipFill>
          <a:blip r:embed="rId1"/>
          <a:srcRect l="33366" t="11885" r="36212" b="0"/>
          <a:stretch/>
        </p:blipFill>
        <p:spPr>
          <a:xfrm>
            <a:off x="720000" y="1619280"/>
            <a:ext cx="1797840" cy="30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5"/>
          <p:cNvSpPr/>
          <p:nvPr/>
        </p:nvSpPr>
        <p:spPr>
          <a:xfrm>
            <a:off x="3970800" y="2658240"/>
            <a:ext cx="42710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Attraction: seul les individus assez similaire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Long-terme: fragmentation (potentiel)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4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8" name="Text 34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5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1" name="Text 36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rcRect l="72610" t="11878" r="0" b="0"/>
          <a:stretch/>
        </p:blipFill>
        <p:spPr>
          <a:xfrm>
            <a:off x="900000" y="1584000"/>
            <a:ext cx="1617840" cy="305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26"/>
          <p:cNvSpPr/>
          <p:nvPr/>
        </p:nvSpPr>
        <p:spPr>
          <a:xfrm>
            <a:off x="3971160" y="2766600"/>
            <a:ext cx="42710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Répulsion: les individus pas assez similaire se repousse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Réduction/Augmentation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Long-terme: fragmentation/bi-polarization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0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5" name="Text 28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9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Text 30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1595880" y="1394280"/>
            <a:ext cx="5925960" cy="3470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6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Délibération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4" name="Text 39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 contexte de changement d’attitudes et de consommation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7"/>
          <p:cNvSpPr/>
          <p:nvPr/>
        </p:nvSpPr>
        <p:spPr>
          <a:xfrm>
            <a:off x="4907160" y="2808360"/>
            <a:ext cx="42710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Mini-publics : experts = individus (Dahl., 1989)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Participation citoyenne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Convention Citoyenne pour le Climat, 2021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“View from manywhere” (Niemeyer et al., 2024)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et nudges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"/>
          <p:cNvPicPr/>
          <p:nvPr/>
        </p:nvPicPr>
        <p:blipFill>
          <a:blip r:embed="rId1"/>
          <a:stretch/>
        </p:blipFill>
        <p:spPr>
          <a:xfrm>
            <a:off x="228600" y="1714680"/>
            <a:ext cx="4548960" cy="308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 21"/>
          <p:cNvSpPr/>
          <p:nvPr/>
        </p:nvSpPr>
        <p:spPr>
          <a:xfrm>
            <a:off x="166680" y="4741560"/>
            <a:ext cx="46328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Conseil municipal, la Haye, construction de maison de guilde, 1636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6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Text 22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3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C’est quoi la simulation multi-agent 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2" name="Text 24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Pourquoi modéliser les comportements de la vie réel 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"/>
          <p:cNvPicPr/>
          <p:nvPr/>
        </p:nvPicPr>
        <p:blipFill>
          <a:blip r:embed="rId1"/>
          <a:srcRect l="0" t="24567" r="0" b="18072"/>
          <a:stretch/>
        </p:blipFill>
        <p:spPr>
          <a:xfrm>
            <a:off x="1371600" y="2153160"/>
            <a:ext cx="6580440" cy="159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59"/>
          <p:cNvSpPr/>
          <p:nvPr/>
        </p:nvSpPr>
        <p:spPr>
          <a:xfrm>
            <a:off x="1371600" y="3621600"/>
            <a:ext cx="1599120" cy="4561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Agents: Individus Concerné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58"/>
          <p:cNvSpPr/>
          <p:nvPr/>
        </p:nvSpPr>
        <p:spPr>
          <a:xfrm>
            <a:off x="2237400" y="1740600"/>
            <a:ext cx="1827720" cy="5083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Environnement: Crous, Cantine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62"/>
          <p:cNvSpPr/>
          <p:nvPr/>
        </p:nvSpPr>
        <p:spPr>
          <a:xfrm>
            <a:off x="3393000" y="3634200"/>
            <a:ext cx="1406520" cy="4849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Règles de communication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4"/>
          <p:cNvSpPr/>
          <p:nvPr/>
        </p:nvSpPr>
        <p:spPr>
          <a:xfrm>
            <a:off x="4163400" y="1740600"/>
            <a:ext cx="2236320" cy="4957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Algorithmes déterminant les actions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5"/>
          <p:cNvSpPr/>
          <p:nvPr/>
        </p:nvSpPr>
        <p:spPr>
          <a:xfrm>
            <a:off x="5450400" y="3657600"/>
            <a:ext cx="1863720" cy="4561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Pas de temps/événements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66"/>
          <p:cNvSpPr/>
          <p:nvPr/>
        </p:nvSpPr>
        <p:spPr>
          <a:xfrm>
            <a:off x="6508800" y="1704600"/>
            <a:ext cx="1599120" cy="5443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Définition de comportement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28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1" name="Text 67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8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expérience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9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4" name=""/>
          <p:cNvPicPr/>
          <p:nvPr/>
        </p:nvPicPr>
        <p:blipFill>
          <a:blip r:embed="rId1"/>
          <a:stretch/>
        </p:blipFill>
        <p:spPr>
          <a:xfrm>
            <a:off x="1479600" y="1371600"/>
            <a:ext cx="6095160" cy="319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9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Text 37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4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expérience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9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Text 45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6"/>
          <p:cNvSpPr/>
          <p:nvPr/>
        </p:nvSpPr>
        <p:spPr>
          <a:xfrm>
            <a:off x="5771160" y="2592360"/>
            <a:ext cx="314280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Dheilly et al. (soumis a Communications Sustainability)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Mini-publiques → Débats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302400" y="1600200"/>
            <a:ext cx="5265360" cy="281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20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3" name="Text 47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8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Nos hypothèses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6" name="Text 49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50"/>
          <p:cNvSpPr/>
          <p:nvPr/>
        </p:nvSpPr>
        <p:spPr>
          <a:xfrm>
            <a:off x="299160" y="2521080"/>
            <a:ext cx="88430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que les attitudes avant la délibération sont liées à celles d’après?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individus avec normes perçues et “self-control”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et comparaison avec des modèles de régression simple?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augmenté avec des dynamiques d’argumentation?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3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simulation multi-agent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4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2" name=""/>
          <p:cNvPicPr/>
          <p:nvPr/>
        </p:nvPicPr>
        <p:blipFill>
          <a:blip r:embed="rId1"/>
          <a:srcRect l="0" t="24567" r="0" b="18072"/>
          <a:stretch/>
        </p:blipFill>
        <p:spPr>
          <a:xfrm>
            <a:off x="1371600" y="2153160"/>
            <a:ext cx="6580440" cy="159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8"/>
          <p:cNvSpPr/>
          <p:nvPr/>
        </p:nvSpPr>
        <p:spPr>
          <a:xfrm>
            <a:off x="1371600" y="3621600"/>
            <a:ext cx="1599120" cy="4561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Agents: Individus dans les débats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2057400" y="1740600"/>
            <a:ext cx="1828080" cy="5083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Environnement: Débats visio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3393000" y="3634200"/>
            <a:ext cx="1635480" cy="4849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Modèles d’influence sociale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4294440" y="1753200"/>
            <a:ext cx="1877040" cy="4957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Interagir avec les autres ou pas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2"/>
          <p:cNvSpPr/>
          <p:nvPr/>
        </p:nvSpPr>
        <p:spPr>
          <a:xfrm>
            <a:off x="5450400" y="3657600"/>
            <a:ext cx="1863720" cy="4561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Pas de temps relatif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6485400" y="1828800"/>
            <a:ext cx="1828080" cy="42012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Paramètres pour chaque modèle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1947600" y="4343760"/>
            <a:ext cx="5257080" cy="456120"/>
          </a:xfrm>
          <a:prstGeom prst="rect">
            <a:avLst/>
          </a:prstGeom>
          <a:noFill/>
          <a:ln w="29160">
            <a:solidFill>
              <a:srgbClr val="00a933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Métrique d’efficacité: Mean of absolute error (MAE)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5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Text 14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Résultats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5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Premiers résultats – a completer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30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Text 16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"/>
          <p:cNvPicPr/>
          <p:nvPr/>
        </p:nvPicPr>
        <p:blipFill>
          <a:blip r:embed="rId1"/>
          <a:stretch/>
        </p:blipFill>
        <p:spPr>
          <a:xfrm>
            <a:off x="1619640" y="1392840"/>
            <a:ext cx="6152040" cy="3529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31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7" name="Text 57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Résultats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69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Premiers résultats – a completer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32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Text 70"/>
          <p:cNvSpPr/>
          <p:nvPr/>
        </p:nvSpPr>
        <p:spPr>
          <a:xfrm>
            <a:off x="274320" y="1122120"/>
            <a:ext cx="8591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"/>
          <p:cNvPicPr/>
          <p:nvPr/>
        </p:nvPicPr>
        <p:blipFill>
          <a:blip r:embed="rId1"/>
          <a:stretch/>
        </p:blipFill>
        <p:spPr>
          <a:xfrm>
            <a:off x="1391040" y="1384560"/>
            <a:ext cx="6381000" cy="3661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22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Text 51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Prochaines étapes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2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Conclusions et prochaines étapes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Text 4"/>
          <p:cNvSpPr/>
          <p:nvPr/>
        </p:nvSpPr>
        <p:spPr>
          <a:xfrm>
            <a:off x="299160" y="1693080"/>
            <a:ext cx="88430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Travail en cours!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 grand défi → modéliser les changements d’attitudes subtiles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Prochaine étape → dynamiques d’argumentation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26"/>
          <p:cNvSpPr/>
          <p:nvPr/>
        </p:nvSpPr>
        <p:spPr>
          <a:xfrm>
            <a:off x="0" y="0"/>
            <a:ext cx="9139680" cy="36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Text 60"/>
          <p:cNvSpPr/>
          <p:nvPr/>
        </p:nvSpPr>
        <p:spPr>
          <a:xfrm>
            <a:off x="182880" y="0"/>
            <a:ext cx="877392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61"/>
          <p:cNvSpPr/>
          <p:nvPr/>
        </p:nvSpPr>
        <p:spPr>
          <a:xfrm>
            <a:off x="274320" y="457200"/>
            <a:ext cx="85910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References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1" name="Text 63"/>
          <p:cNvSpPr/>
          <p:nvPr/>
        </p:nvSpPr>
        <p:spPr>
          <a:xfrm>
            <a:off x="299880" y="2883600"/>
            <a:ext cx="838584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1"/>
              </a:rPr>
              <a:t>https://www.allaboutai.com/fr-fr/glossaire-ai/simulation-multi-agent/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Paulis, E, Talukder, D, Vrydagh, J. (2022). Mini-publics déliberatifs. In G. Petit, L. Blondiaux, I. Casillo, J.-M. Fourniau, G. Gourgues, S. Hayat, R. Lefebvre, S. Rui, S. Wojcik, &amp; J. Zetlaoui-Léger (Éds.), Dictionnaire critique et interdisciplinaire de la Participation, DicoPart (2ème édition). GIS Démocratie et Participation. </a:t>
            </a:r>
            <a:r>
              <a:rPr lang="fr-FR" sz="900" b="0" u="none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2"/>
              </a:rPr>
              <a:t>https://www.dicopart.fr/mini-publics-deliberatifs-2022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https://medium.com/data-science/how-to-create-an-agent-based-simulation-model-37bd7b4b0da7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https://nl.wikipedia.org/wiki/Sint_Sebastiaansdoelen_(Den_Haag)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Include Flache et al and all the other references used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3"/>
              </a:rPr>
              <a:t>https://www.allocine.fr/film/fichefilm_gen_cfilm=123530.html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https://www.inrae.fr/dossiers/alimentation-saine-durable/accelerer-transitions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2026-03-19T12:59:51Z</dcterms:created>
  <dc:creator>PptxGenJS</dc:creator>
  <dc:description/>
  <dc:language>en-US</dc:language>
  <cp:lastModifiedBy/>
  <dcterms:modified xsi:type="dcterms:W3CDTF">2026-04-08T11:10:35Z</dcterms:modified>
  <cp:revision>21</cp:revision>
  <dc:subject>PptxGenJS Presentation</dc:subject>
  <dc:title>ABM Results – Based on R Script Output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