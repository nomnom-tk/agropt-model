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13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25.xml" ContentType="application/vnd.openxmlformats-officedocument.theme+xml"/>
  <Override PartName="/ppt/slideLayouts/slideLayout8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media/image4.gif" ContentType="image/gif"/>
  <Override PartName="/ppt/media/image6.gif" ContentType="image/gif"/>
  <Override PartName="/ppt/slides/slide12.xml" ContentType="application/vnd.openxmlformats-officedocument.presentationml.slide+xml"/>
  <Override PartName="/ppt/slides/slide11.xml" ContentType="application/vnd.openxmlformats-officedocument.presentationml.slide+xml"/>
  <Override PartName="/ppt/slides/slide14.xml" ContentType="application/vnd.openxmlformats-officedocument.presentationml.slide+xml"/>
  <Override PartName="/ppt/slides/slide6.xml" ContentType="application/vnd.openxmlformats-officedocument.presentationml.slide+xml"/>
  <Override PartName="/ppt/slides/slide15.xml" ContentType="application/vnd.openxmlformats-officedocument.presentationml.slide+xml"/>
  <Override PartName="/ppt/slides/slide3.xml" ContentType="application/vnd.openxmlformats-officedocument.presentationml.slide+xml"/>
  <Override PartName="/ppt/slides/slide1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3.xml" ContentType="application/vnd.openxmlformats-officedocument.presentationml.slide+xml"/>
  <Override PartName="/ppt/slides/slide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2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notesSlides/notesSlide12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8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</p:sldIdLst>
  <p:sldSz cx="9144000" cy="5143500"/>
  <p:notesSz cx="5143500" cy="9144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13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5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PlaceHolder 1"/>
          <p:cNvSpPr>
            <a:spLocks noGrp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move the slide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45B5B839-0BB2-4AEE-B871-40BC6CC7510E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19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fr-FR" sz="1200" b="0" u="none" strike="noStrike">
                <a:solidFill>
                  <a:srgbClr val="000000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EF7CB02-8FC2-4E9A-8AF5-446079088D99}" type="slidenum"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+mn-lt"/>
                <a:ea typeface="+mn-ea"/>
              </a:rPr>
              <a:t>2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19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8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fr-FR" sz="1200" b="0" u="none" strike="noStrike">
                <a:solidFill>
                  <a:srgbClr val="000000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B5A87A3-CEF7-4222-9EBA-2895E96D5139}" type="slidenum"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+mn-lt"/>
                <a:ea typeface="+mn-ea"/>
              </a:rPr>
              <a:t>2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2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fr-FR" sz="1200" b="0" u="none" strike="noStrike">
                <a:solidFill>
                  <a:srgbClr val="000000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F018273-4A11-4601-8313-09D81621E9AA}" type="slidenum"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+mn-lt"/>
                <a:ea typeface="+mn-ea"/>
              </a:rPr>
              <a:t>2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20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4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fr-FR" sz="1200" b="0" u="none" strike="noStrike">
                <a:solidFill>
                  <a:srgbClr val="000000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3CAB9F92-9E60-4BDE-B6C5-41FCF93417A5}" type="slidenum"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+mn-lt"/>
                <a:ea typeface="+mn-ea"/>
              </a:rPr>
              <a:t>2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20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7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fr-FR" sz="1200" b="0" u="none" strike="noStrike">
                <a:solidFill>
                  <a:srgbClr val="000000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9209C27-DA99-48A5-831D-6A4227D7EDBC}" type="slidenum"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+mn-lt"/>
                <a:ea typeface="+mn-ea"/>
              </a:rPr>
              <a:t>2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20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0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fr-FR" sz="1200" b="0" u="none" strike="noStrike">
                <a:solidFill>
                  <a:srgbClr val="000000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3CB9262-862D-4DD2-B8ED-F34FF98BC20A}" type="slidenum"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+mn-lt"/>
                <a:ea typeface="+mn-ea"/>
              </a:rPr>
              <a:t>2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21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3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fr-FR" sz="1200" b="0" u="none" strike="noStrike">
                <a:solidFill>
                  <a:srgbClr val="000000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07EDF14-FD80-4B4B-9CF5-938E33160F07}" type="slidenum"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+mn-lt"/>
                <a:ea typeface="+mn-ea"/>
              </a:rPr>
              <a:t>2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21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6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fr-FR" sz="1200" b="0" u="none" strike="noStrike">
                <a:solidFill>
                  <a:srgbClr val="000000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27DFC3D-DD86-40D7-8B69-F3411C6549DB}" type="slidenum"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21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9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fr-FR" sz="1200" b="0" u="none" strike="noStrike">
                <a:solidFill>
                  <a:srgbClr val="000000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64828AD-B08D-4A25-B09D-9EEED6C53431}" type="slidenum"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22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2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fr-FR" sz="1200" b="0" u="none" strike="noStrike">
                <a:solidFill>
                  <a:srgbClr val="000000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58F8878-D46F-4C26-BB54-4913DC17F382}" type="slidenum"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22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5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fr-FR" sz="1200" b="0" u="none" strike="noStrike">
                <a:solidFill>
                  <a:srgbClr val="000000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BB72D37-A21D-4367-AC6A-C121EAFBE872}" type="slidenum"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22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fr-FR" sz="1200" b="0" u="none" strike="noStrike">
                <a:solidFill>
                  <a:srgbClr val="000000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1C0520F-AF31-4B30-B295-465F0F9AC53A}" type="slidenum"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23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1" name="PlaceHolder 3"/>
          <p:cNvSpPr>
            <a:spLocks noGrp="1"/>
          </p:cNvSpPr>
          <p:nvPr>
            <p:ph type="sldNum" idx="16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fr-FR" sz="1200" b="0" u="none" strike="noStrike">
                <a:solidFill>
                  <a:srgbClr val="000000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AB8682F4-850E-4882-B94E-A894ADAD5E6E}" type="slidenum"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23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4" name="PlaceHolder 3"/>
          <p:cNvSpPr>
            <a:spLocks noGrp="1"/>
          </p:cNvSpPr>
          <p:nvPr>
            <p:ph type="sldNum" idx="17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fr-FR" sz="1200" b="0" u="none" strike="noStrike">
                <a:solidFill>
                  <a:srgbClr val="000000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DAC6712-83FF-4C34-B5B0-98DCBDDC6702}" type="slidenum"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23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7" name="PlaceHolder 3"/>
          <p:cNvSpPr>
            <a:spLocks noGrp="1"/>
          </p:cNvSpPr>
          <p:nvPr>
            <p:ph type="sldNum" idx="18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fr-FR" sz="1200" b="0" u="none" strike="noStrike">
                <a:solidFill>
                  <a:srgbClr val="000000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C6F11FB-559C-4508-BBB5-50F320305E37}" type="slidenum"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23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0" name="PlaceHolder 3"/>
          <p:cNvSpPr>
            <a:spLocks noGrp="1"/>
          </p:cNvSpPr>
          <p:nvPr>
            <p:ph type="sldNum" idx="19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fr-FR" sz="1200" b="0" u="none" strike="noStrike">
                <a:solidFill>
                  <a:srgbClr val="000000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A4F759B3-1391-4DBA-B6BE-AC097BAE761A}" type="slidenum"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24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3" name="PlaceHolder 3"/>
          <p:cNvSpPr>
            <a:spLocks noGrp="1"/>
          </p:cNvSpPr>
          <p:nvPr>
            <p:ph type="sldNum" idx="20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fr-FR" sz="1200" b="0" u="none" strike="noStrike">
                <a:solidFill>
                  <a:srgbClr val="000000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8DA9A77-41D1-43FB-A041-CBCE7C5C3576}" type="slidenum"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7800" cy="85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4360" cy="1421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4360" cy="1421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7800" cy="1421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7800" cy="85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7800" cy="1421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7800" cy="1421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7800" cy="85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4360" cy="1421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4360" cy="1421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14360" cy="1421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5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14360" cy="1421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7800" cy="85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2648160" cy="1421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 type="body"/>
          </p:nvPr>
        </p:nvSpPr>
        <p:spPr>
          <a:xfrm>
            <a:off x="3239640" y="1203480"/>
            <a:ext cx="2648160" cy="1421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 type="body"/>
          </p:nvPr>
        </p:nvSpPr>
        <p:spPr>
          <a:xfrm>
            <a:off x="6022080" y="1203480"/>
            <a:ext cx="2648160" cy="1421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5"/>
          <p:cNvSpPr>
            <a:spLocks noGrp="1"/>
          </p:cNvSpPr>
          <p:nvPr>
            <p:ph type="body"/>
          </p:nvPr>
        </p:nvSpPr>
        <p:spPr>
          <a:xfrm>
            <a:off x="457200" y="2761920"/>
            <a:ext cx="2648160" cy="1421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6"/>
          <p:cNvSpPr>
            <a:spLocks noGrp="1"/>
          </p:cNvSpPr>
          <p:nvPr>
            <p:ph type="body"/>
          </p:nvPr>
        </p:nvSpPr>
        <p:spPr>
          <a:xfrm>
            <a:off x="3239640" y="2761920"/>
            <a:ext cx="2648160" cy="1421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PlaceHolder 7"/>
          <p:cNvSpPr>
            <a:spLocks noGrp="1"/>
          </p:cNvSpPr>
          <p:nvPr>
            <p:ph type="body"/>
          </p:nvPr>
        </p:nvSpPr>
        <p:spPr>
          <a:xfrm>
            <a:off x="6022080" y="2761920"/>
            <a:ext cx="2648160" cy="1421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160" cy="85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8160" cy="2981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7800" cy="85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7800" cy="85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7800" cy="2981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7800" cy="85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4360" cy="2981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4360" cy="2981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7800" cy="85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Title, 2 Content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7800" cy="85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4360" cy="1421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4360" cy="2981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14360" cy="1421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Title Content and 2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7800" cy="85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4360" cy="2981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4360" cy="1421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14360" cy="1421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Defau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7800" cy="85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4360" cy="1421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4360" cy="1421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7800" cy="1421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Default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7800" cy="85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7800" cy="1421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PlaceHolder 3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7800" cy="1421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Default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7800" cy="85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4360" cy="1421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4360" cy="1421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14360" cy="1421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PlaceHolder 5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14360" cy="1421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7800" cy="85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x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2648160" cy="1421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 type="body"/>
          </p:nvPr>
        </p:nvSpPr>
        <p:spPr>
          <a:xfrm>
            <a:off x="3239640" y="1203480"/>
            <a:ext cx="2648160" cy="1421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PlaceHolder 4"/>
          <p:cNvSpPr>
            <a:spLocks noGrp="1"/>
          </p:cNvSpPr>
          <p:nvPr>
            <p:ph type="body"/>
          </p:nvPr>
        </p:nvSpPr>
        <p:spPr>
          <a:xfrm>
            <a:off x="6022080" y="1203480"/>
            <a:ext cx="2648160" cy="1421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PlaceHolder 5"/>
          <p:cNvSpPr>
            <a:spLocks noGrp="1"/>
          </p:cNvSpPr>
          <p:nvPr>
            <p:ph type="body"/>
          </p:nvPr>
        </p:nvSpPr>
        <p:spPr>
          <a:xfrm>
            <a:off x="457200" y="2761920"/>
            <a:ext cx="2648160" cy="1421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6"/>
          <p:cNvSpPr>
            <a:spLocks noGrp="1"/>
          </p:cNvSpPr>
          <p:nvPr>
            <p:ph type="body"/>
          </p:nvPr>
        </p:nvSpPr>
        <p:spPr>
          <a:xfrm>
            <a:off x="3239640" y="2761920"/>
            <a:ext cx="2648160" cy="1421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7"/>
          <p:cNvSpPr>
            <a:spLocks noGrp="1"/>
          </p:cNvSpPr>
          <p:nvPr>
            <p:ph type="body"/>
          </p:nvPr>
        </p:nvSpPr>
        <p:spPr>
          <a:xfrm>
            <a:off x="6022080" y="2761920"/>
            <a:ext cx="2648160" cy="1421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160" cy="85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8160" cy="2981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7800" cy="85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Default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7800" cy="85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7800" cy="2981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Default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7800" cy="85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4360" cy="2981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4360" cy="2981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Default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7800" cy="85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Default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Default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7800" cy="85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4360" cy="1421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4360" cy="2981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14360" cy="1421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Default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7800" cy="85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4360" cy="2981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4360" cy="1421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PlaceHolder 4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14360" cy="1421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13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1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3.jpe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4.gif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6.gif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4.gif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hyperlink" Target="https://www.allaboutai.com/fr-fr/glossaire-ai/simulation-multi-agent/" TargetMode="External"/><Relationship Id="rId2" Type="http://schemas.openxmlformats.org/officeDocument/2006/relationships/hyperlink" Target="https://www.dicopart.fr/mini-publics-deliberatifs-2022" TargetMode="External"/><Relationship Id="rId3" Type="http://schemas.openxmlformats.org/officeDocument/2006/relationships/hyperlink" Target="https://www.allocine.fr/film/fichefilm_gen_cfilm=123530.html" TargetMode="External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17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e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Text 0"/>
          <p:cNvSpPr/>
          <p:nvPr/>
        </p:nvSpPr>
        <p:spPr>
          <a:xfrm>
            <a:off x="720000" y="1296000"/>
            <a:ext cx="8046000" cy="182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lang="fr-FR" sz="2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Modélisation des dynamiques d’opinion dans la réduction de la consommation de viande: une approche par simulation multi-agents utilisant</a:t>
            </a:r>
            <a:endParaRPr lang="en-US" sz="2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lang="fr-FR" sz="2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des données de délibération citoyenne</a:t>
            </a:r>
            <a:endParaRPr lang="en-US" sz="2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" name="Text 1"/>
          <p:cNvSpPr/>
          <p:nvPr/>
        </p:nvSpPr>
        <p:spPr>
          <a:xfrm>
            <a:off x="914400" y="3291840"/>
            <a:ext cx="7311600" cy="91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lang="fr-FR" sz="1400" b="0" i="1" u="none" strike="noStrike">
                <a:solidFill>
                  <a:srgbClr val="cadcfc"/>
                </a:solidFill>
                <a:effectLst/>
                <a:uFillTx/>
                <a:latin typeface="Calibri"/>
                <a:ea typeface="DejaVu Sans"/>
              </a:rPr>
              <a:t>Journées Scientifiques du départment Sciences de la Vie et Santé 2026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" name="Text 2"/>
          <p:cNvSpPr/>
          <p:nvPr/>
        </p:nvSpPr>
        <p:spPr>
          <a:xfrm>
            <a:off x="914400" y="4029120"/>
            <a:ext cx="731160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lang="fr-FR" sz="900" b="0" u="none" strike="noStrike">
                <a:solidFill>
                  <a:srgbClr val="aaaaaa"/>
                </a:solidFill>
                <a:effectLst/>
                <a:uFillTx/>
                <a:latin typeface="Calibri"/>
                <a:ea typeface="DejaVu Sans"/>
              </a:rPr>
              <a:t>Gregor Stolte, Nicolas Darcel, Patrick Taillandier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Shape 0"/>
          <p:cNvSpPr/>
          <p:nvPr/>
        </p:nvSpPr>
        <p:spPr>
          <a:xfrm>
            <a:off x="0" y="0"/>
            <a:ext cx="9140400" cy="36216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84" name="Text 1"/>
          <p:cNvSpPr/>
          <p:nvPr/>
        </p:nvSpPr>
        <p:spPr>
          <a:xfrm>
            <a:off x="182880" y="0"/>
            <a:ext cx="877464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Agenda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PlaceHolder 1"/>
          <p:cNvSpPr>
            <a:spLocks noGrp="1"/>
          </p:cNvSpPr>
          <p:nvPr>
            <p:ph/>
          </p:nvPr>
        </p:nvSpPr>
        <p:spPr>
          <a:xfrm>
            <a:off x="457200" y="843480"/>
            <a:ext cx="8227440" cy="298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Notre problème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Les dynamiques d’opinion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L’expérience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Résultats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Prochaines étapes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Shape 1"/>
          <p:cNvSpPr/>
          <p:nvPr/>
        </p:nvSpPr>
        <p:spPr>
          <a:xfrm>
            <a:off x="0" y="0"/>
            <a:ext cx="9140400" cy="36216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87" name="Text 3"/>
          <p:cNvSpPr/>
          <p:nvPr/>
        </p:nvSpPr>
        <p:spPr>
          <a:xfrm>
            <a:off x="182880" y="0"/>
            <a:ext cx="877464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Notre Problème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Text 17"/>
          <p:cNvSpPr/>
          <p:nvPr/>
        </p:nvSpPr>
        <p:spPr>
          <a:xfrm>
            <a:off x="274320" y="457200"/>
            <a:ext cx="8591760" cy="54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2000" b="1" u="none" strike="noStrike">
                <a:solidFill>
                  <a:srgbClr val="1e3a5f"/>
                </a:solidFill>
                <a:effectLst/>
                <a:uFillTx/>
                <a:latin typeface="Calibri"/>
                <a:ea typeface="DejaVu Sans"/>
              </a:rPr>
              <a:t>Transition vers les régimes durables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Shape 2"/>
          <p:cNvSpPr/>
          <p:nvPr/>
        </p:nvSpPr>
        <p:spPr>
          <a:xfrm>
            <a:off x="274320" y="1023840"/>
            <a:ext cx="8595360" cy="360"/>
          </a:xfrm>
          <a:prstGeom prst="line">
            <a:avLst/>
          </a:prstGeom>
          <a:ln w="1270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90" name="Text 18"/>
          <p:cNvSpPr/>
          <p:nvPr/>
        </p:nvSpPr>
        <p:spPr>
          <a:xfrm>
            <a:off x="274320" y="1122120"/>
            <a:ext cx="859176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1100" b="1" u="none" strike="noStrike">
                <a:solidFill>
                  <a:srgbClr val="1e3a5f"/>
                </a:solidFill>
                <a:effectLst/>
                <a:uFillTx/>
                <a:latin typeface="Calibri"/>
                <a:ea typeface="DejaVu Sans"/>
              </a:rPr>
              <a:t>Réduction des émissions liée à la production alimentaire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Text 19"/>
          <p:cNvSpPr/>
          <p:nvPr/>
        </p:nvSpPr>
        <p:spPr>
          <a:xfrm>
            <a:off x="288000" y="2307600"/>
            <a:ext cx="8591760" cy="100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lang="fr-FR" sz="10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Les choix alimentaires ont un impact sur la santé (Springmann et al., 2016), la planète (Springmann et al., 2016), et l’environnement (Garnett, 2008)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lang="fr-FR" sz="10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Plan National Intégré Énergie-Climat Francais 2021-2030 (European Commission, 2024)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lang="fr-FR" sz="10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Paris Agreement (OECD, 2025)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lang="fr-FR" sz="1000" b="1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Réduction</a:t>
            </a:r>
            <a:r>
              <a:rPr lang="fr-FR" sz="10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 de consommation et un </a:t>
            </a:r>
            <a:r>
              <a:rPr lang="fr-FR" sz="1000" b="1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changement</a:t>
            </a:r>
            <a:r>
              <a:rPr lang="fr-FR" sz="10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 de régime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lang="fr-FR" sz="10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Changement comportemental à base d’opinions et d’attitudes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lang="fr-FR" sz="10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Est-ce qu’on s’influence? (Cruwys et al., 2015)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lang="fr-FR" sz="10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Observation (choix des autres, visuel)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lang="fr-FR" sz="10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Imitation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lang="fr-FR" sz="10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Répulsion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lang="fr-FR" sz="10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Nudge – Schäufele-Elbers et al., 2025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lang="fr-FR" sz="10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Normes sociales – Pollicino et al., 2025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"/>
          <p:cNvSpPr/>
          <p:nvPr/>
        </p:nvSpPr>
        <p:spPr>
          <a:xfrm>
            <a:off x="5859000" y="2285640"/>
            <a:ext cx="2286000" cy="2286360"/>
          </a:xfrm>
          <a:custGeom>
            <a:avLst/>
            <a:gdLst/>
            <a:ahLst/>
            <a:rect l="0" t="0" r="r" b="b"/>
            <a:pathLst>
              <a:path w="6350" h="6351">
                <a:moveTo>
                  <a:pt x="6350" y="5338"/>
                </a:moveTo>
                <a:cubicBezTo>
                  <a:pt x="6343" y="5508"/>
                  <a:pt x="6294" y="5674"/>
                  <a:pt x="6209" y="5822"/>
                </a:cubicBezTo>
                <a:cubicBezTo>
                  <a:pt x="6116" y="5983"/>
                  <a:pt x="5983" y="6116"/>
                  <a:pt x="5822" y="6209"/>
                </a:cubicBezTo>
                <a:cubicBezTo>
                  <a:pt x="5661" y="6302"/>
                  <a:pt x="5478" y="6351"/>
                  <a:pt x="5293" y="6351"/>
                </a:cubicBezTo>
                <a:lnTo>
                  <a:pt x="5292" y="6351"/>
                </a:lnTo>
                <a:lnTo>
                  <a:pt x="1059" y="6351"/>
                </a:lnTo>
                <a:cubicBezTo>
                  <a:pt x="873" y="6351"/>
                  <a:pt x="690" y="6302"/>
                  <a:pt x="529" y="6209"/>
                </a:cubicBezTo>
                <a:cubicBezTo>
                  <a:pt x="368" y="6116"/>
                  <a:pt x="235" y="5983"/>
                  <a:pt x="142" y="5822"/>
                </a:cubicBezTo>
                <a:cubicBezTo>
                  <a:pt x="49" y="5661"/>
                  <a:pt x="0" y="5478"/>
                  <a:pt x="0" y="5293"/>
                </a:cubicBezTo>
                <a:lnTo>
                  <a:pt x="0" y="5292"/>
                </a:lnTo>
                <a:lnTo>
                  <a:pt x="0" y="1059"/>
                </a:lnTo>
                <a:cubicBezTo>
                  <a:pt x="0" y="873"/>
                  <a:pt x="49" y="690"/>
                  <a:pt x="142" y="529"/>
                </a:cubicBezTo>
                <a:cubicBezTo>
                  <a:pt x="235" y="368"/>
                  <a:pt x="368" y="235"/>
                  <a:pt x="529" y="142"/>
                </a:cubicBezTo>
                <a:cubicBezTo>
                  <a:pt x="690" y="49"/>
                  <a:pt x="873" y="0"/>
                  <a:pt x="1059" y="0"/>
                </a:cubicBezTo>
                <a:lnTo>
                  <a:pt x="5293" y="0"/>
                </a:lnTo>
                <a:cubicBezTo>
                  <a:pt x="5478" y="0"/>
                  <a:pt x="5661" y="49"/>
                  <a:pt x="5822" y="142"/>
                </a:cubicBezTo>
                <a:cubicBezTo>
                  <a:pt x="5983" y="235"/>
                  <a:pt x="6116" y="368"/>
                  <a:pt x="6209" y="529"/>
                </a:cubicBezTo>
                <a:cubicBezTo>
                  <a:pt x="6294" y="677"/>
                  <a:pt x="6343" y="843"/>
                  <a:pt x="6350" y="1013"/>
                </a:cubicBezTo>
                <a:lnTo>
                  <a:pt x="6350" y="5338"/>
                </a:lnTo>
                <a:close/>
              </a:path>
            </a:pathLst>
          </a:custGeom>
          <a:blipFill rotWithShape="0">
            <a:blip r:embed="rId1"/>
            <a:stretch/>
          </a:blipFill>
          <a:ln w="0">
            <a:noFill/>
          </a:ln>
        </p:spPr>
        <p:txBody>
          <a:bodyPr lIns="90000" rIns="90000" tIns="45000" bIns="45000" anchor="ctr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Shape 8"/>
          <p:cNvSpPr/>
          <p:nvPr/>
        </p:nvSpPr>
        <p:spPr>
          <a:xfrm>
            <a:off x="0" y="0"/>
            <a:ext cx="9140400" cy="36216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94" name="Text 40"/>
          <p:cNvSpPr/>
          <p:nvPr/>
        </p:nvSpPr>
        <p:spPr>
          <a:xfrm>
            <a:off x="182880" y="0"/>
            <a:ext cx="877464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Les dynamiques d’opinion - 1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Text 41"/>
          <p:cNvSpPr/>
          <p:nvPr/>
        </p:nvSpPr>
        <p:spPr>
          <a:xfrm>
            <a:off x="274320" y="457200"/>
            <a:ext cx="8591760" cy="54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2000" b="1" u="none" strike="noStrike">
                <a:solidFill>
                  <a:srgbClr val="1e3a5f"/>
                </a:solidFill>
                <a:effectLst/>
                <a:uFillTx/>
                <a:latin typeface="Calibri"/>
                <a:ea typeface="DejaVu Sans"/>
              </a:rPr>
              <a:t>Caractériser l’influence sociale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Shape 18"/>
          <p:cNvSpPr/>
          <p:nvPr/>
        </p:nvSpPr>
        <p:spPr>
          <a:xfrm>
            <a:off x="274320" y="1023840"/>
            <a:ext cx="8595360" cy="360"/>
          </a:xfrm>
          <a:prstGeom prst="line">
            <a:avLst/>
          </a:prstGeom>
          <a:ln w="1270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97" name="Text 42"/>
          <p:cNvSpPr/>
          <p:nvPr/>
        </p:nvSpPr>
        <p:spPr>
          <a:xfrm>
            <a:off x="274320" y="1122120"/>
            <a:ext cx="859176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1100" b="1" u="none" strike="noStrike">
                <a:solidFill>
                  <a:srgbClr val="1e3a5f"/>
                </a:solidFill>
                <a:effectLst/>
                <a:uFillTx/>
                <a:latin typeface="Calibri"/>
                <a:ea typeface="DejaVu Sans"/>
              </a:rPr>
              <a:t>Trois exemples de modèles d’influence social (Flache et al., 2017)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8" name=""/>
          <p:cNvPicPr/>
          <p:nvPr/>
        </p:nvPicPr>
        <p:blipFill>
          <a:blip r:embed="rId1"/>
          <a:srcRect l="0" t="10360" r="72832" b="0"/>
          <a:stretch/>
        </p:blipFill>
        <p:spPr>
          <a:xfrm>
            <a:off x="900000" y="1567080"/>
            <a:ext cx="1606320" cy="3111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9" name="Text 43"/>
          <p:cNvSpPr/>
          <p:nvPr/>
        </p:nvSpPr>
        <p:spPr>
          <a:xfrm>
            <a:off x="3934800" y="2520000"/>
            <a:ext cx="4271760" cy="100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lang="fr-FR" sz="16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Tout le monde est connecté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lang="fr-FR" sz="16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Chaque individu s’influence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lang="fr-FR" sz="16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Réduction de différence d’opinion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lang="fr-FR" sz="16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Long-terme : consensus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Shape 12"/>
          <p:cNvSpPr/>
          <p:nvPr/>
        </p:nvSpPr>
        <p:spPr>
          <a:xfrm>
            <a:off x="0" y="0"/>
            <a:ext cx="9140400" cy="36216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01" name="Text 31"/>
          <p:cNvSpPr/>
          <p:nvPr/>
        </p:nvSpPr>
        <p:spPr>
          <a:xfrm>
            <a:off x="182880" y="0"/>
            <a:ext cx="877464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Les dynamiques d’opinion - 2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Text 32"/>
          <p:cNvSpPr/>
          <p:nvPr/>
        </p:nvSpPr>
        <p:spPr>
          <a:xfrm>
            <a:off x="274320" y="457200"/>
            <a:ext cx="8591760" cy="54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2000" b="1" u="none" strike="noStrike">
                <a:solidFill>
                  <a:srgbClr val="1e3a5f"/>
                </a:solidFill>
                <a:effectLst/>
                <a:uFillTx/>
                <a:latin typeface="Calibri"/>
                <a:ea typeface="DejaVu Sans"/>
              </a:rPr>
              <a:t>Caractériser l’influence sociale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Shape 13"/>
          <p:cNvSpPr/>
          <p:nvPr/>
        </p:nvSpPr>
        <p:spPr>
          <a:xfrm>
            <a:off x="274320" y="1023840"/>
            <a:ext cx="8595360" cy="360"/>
          </a:xfrm>
          <a:prstGeom prst="line">
            <a:avLst/>
          </a:prstGeom>
          <a:ln w="1270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04" name="Text 33"/>
          <p:cNvSpPr/>
          <p:nvPr/>
        </p:nvSpPr>
        <p:spPr>
          <a:xfrm>
            <a:off x="274320" y="1122120"/>
            <a:ext cx="859176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1100" b="1" u="none" strike="noStrike">
                <a:solidFill>
                  <a:srgbClr val="1e3a5f"/>
                </a:solidFill>
                <a:effectLst/>
                <a:uFillTx/>
                <a:latin typeface="Calibri"/>
                <a:ea typeface="DejaVu Sans"/>
              </a:rPr>
              <a:t>Trois exemples de modèles d’influence social (Flache et al., 2017)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5" name=""/>
          <p:cNvPicPr/>
          <p:nvPr/>
        </p:nvPicPr>
        <p:blipFill>
          <a:blip r:embed="rId1"/>
          <a:srcRect l="33375" t="11885" r="36221" b="0"/>
          <a:stretch/>
        </p:blipFill>
        <p:spPr>
          <a:xfrm>
            <a:off x="720000" y="1619280"/>
            <a:ext cx="1798560" cy="3059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6" name="Text 25"/>
          <p:cNvSpPr/>
          <p:nvPr/>
        </p:nvSpPr>
        <p:spPr>
          <a:xfrm>
            <a:off x="3970800" y="2658240"/>
            <a:ext cx="4271760" cy="100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lang="fr-FR" sz="16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Tout le monde est connecté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lang="fr-FR" sz="16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Attraction: seul les individus assez similaire s’influence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lang="fr-FR" sz="16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Réduction de différence d’opinion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lang="fr-FR" sz="16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Long-terme : fragmentation (potentiel)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Shape 14"/>
          <p:cNvSpPr/>
          <p:nvPr/>
        </p:nvSpPr>
        <p:spPr>
          <a:xfrm>
            <a:off x="0" y="0"/>
            <a:ext cx="9140400" cy="36216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08" name="Text 34"/>
          <p:cNvSpPr/>
          <p:nvPr/>
        </p:nvSpPr>
        <p:spPr>
          <a:xfrm>
            <a:off x="182880" y="0"/>
            <a:ext cx="877464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Les dynamiques d’opinion - 3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Text 35"/>
          <p:cNvSpPr/>
          <p:nvPr/>
        </p:nvSpPr>
        <p:spPr>
          <a:xfrm>
            <a:off x="274320" y="457200"/>
            <a:ext cx="8591760" cy="54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2000" b="1" u="none" strike="noStrike">
                <a:solidFill>
                  <a:srgbClr val="1e3a5f"/>
                </a:solidFill>
                <a:effectLst/>
                <a:uFillTx/>
                <a:latin typeface="Calibri"/>
                <a:ea typeface="DejaVu Sans"/>
              </a:rPr>
              <a:t>Caractériser l’influence sociale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Shape 15"/>
          <p:cNvSpPr/>
          <p:nvPr/>
        </p:nvSpPr>
        <p:spPr>
          <a:xfrm>
            <a:off x="274320" y="1023840"/>
            <a:ext cx="8595360" cy="360"/>
          </a:xfrm>
          <a:prstGeom prst="line">
            <a:avLst/>
          </a:prstGeom>
          <a:ln w="1270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11" name="Text 36"/>
          <p:cNvSpPr/>
          <p:nvPr/>
        </p:nvSpPr>
        <p:spPr>
          <a:xfrm>
            <a:off x="274320" y="1122120"/>
            <a:ext cx="859176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1100" b="1" u="none" strike="noStrike">
                <a:solidFill>
                  <a:srgbClr val="1e3a5f"/>
                </a:solidFill>
                <a:effectLst/>
                <a:uFillTx/>
                <a:latin typeface="Calibri"/>
                <a:ea typeface="DejaVu Sans"/>
              </a:rPr>
              <a:t>Trois exemples de modèles d’influence social (Flache et al., 2017)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2" name=""/>
          <p:cNvPicPr/>
          <p:nvPr/>
        </p:nvPicPr>
        <p:blipFill>
          <a:blip r:embed="rId1"/>
          <a:srcRect l="72628" t="11878" r="0" b="0"/>
          <a:stretch/>
        </p:blipFill>
        <p:spPr>
          <a:xfrm>
            <a:off x="900000" y="1584000"/>
            <a:ext cx="1618560" cy="3058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3" name="Text 26"/>
          <p:cNvSpPr/>
          <p:nvPr/>
        </p:nvSpPr>
        <p:spPr>
          <a:xfrm>
            <a:off x="3971160" y="2766600"/>
            <a:ext cx="4271760" cy="100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lang="fr-FR" sz="16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Tout le monde est connecté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lang="fr-FR" sz="16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Attraction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lang="fr-FR" sz="16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 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lang="fr-FR" sz="16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Répulsion : les individus pas assez similaire se repousse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lang="fr-FR" sz="16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Réduction/Augmentation de différence d’opinion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lang="fr-FR" sz="16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Long-terme : fragmentation/bi-polarization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Shape 10"/>
          <p:cNvSpPr/>
          <p:nvPr/>
        </p:nvSpPr>
        <p:spPr>
          <a:xfrm>
            <a:off x="0" y="0"/>
            <a:ext cx="9140400" cy="36216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15" name="Text 28"/>
          <p:cNvSpPr/>
          <p:nvPr/>
        </p:nvSpPr>
        <p:spPr>
          <a:xfrm>
            <a:off x="182880" y="0"/>
            <a:ext cx="877464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Les dynamiques d’opinion - 4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Text 29"/>
          <p:cNvSpPr/>
          <p:nvPr/>
        </p:nvSpPr>
        <p:spPr>
          <a:xfrm>
            <a:off x="274320" y="457200"/>
            <a:ext cx="8591760" cy="54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2000" b="1" u="none" strike="noStrike">
                <a:solidFill>
                  <a:srgbClr val="1e3a5f"/>
                </a:solidFill>
                <a:effectLst/>
                <a:uFillTx/>
                <a:latin typeface="Calibri"/>
                <a:ea typeface="DejaVu Sans"/>
              </a:rPr>
              <a:t>Caractériser l’influence sociale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Shape 11"/>
          <p:cNvSpPr/>
          <p:nvPr/>
        </p:nvSpPr>
        <p:spPr>
          <a:xfrm>
            <a:off x="274320" y="1023840"/>
            <a:ext cx="8595360" cy="360"/>
          </a:xfrm>
          <a:prstGeom prst="line">
            <a:avLst/>
          </a:prstGeom>
          <a:ln w="1270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18" name="Text 30"/>
          <p:cNvSpPr/>
          <p:nvPr/>
        </p:nvSpPr>
        <p:spPr>
          <a:xfrm>
            <a:off x="274320" y="1122120"/>
            <a:ext cx="859176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1100" b="1" u="none" strike="noStrike">
                <a:solidFill>
                  <a:srgbClr val="1e3a5f"/>
                </a:solidFill>
                <a:effectLst/>
                <a:uFillTx/>
                <a:latin typeface="Calibri"/>
                <a:ea typeface="DejaVu Sans"/>
              </a:rPr>
              <a:t>Trois exemples de modèles d’influence social (Flache et al., 2017)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9" name=""/>
          <p:cNvPicPr/>
          <p:nvPr/>
        </p:nvPicPr>
        <p:blipFill>
          <a:blip r:embed="rId1"/>
          <a:stretch/>
        </p:blipFill>
        <p:spPr>
          <a:xfrm>
            <a:off x="1595880" y="1394280"/>
            <a:ext cx="5926680" cy="34714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Shape 16"/>
          <p:cNvSpPr/>
          <p:nvPr/>
        </p:nvSpPr>
        <p:spPr>
          <a:xfrm>
            <a:off x="0" y="0"/>
            <a:ext cx="9140400" cy="36216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21" name="Text 20"/>
          <p:cNvSpPr/>
          <p:nvPr/>
        </p:nvSpPr>
        <p:spPr>
          <a:xfrm>
            <a:off x="182880" y="0"/>
            <a:ext cx="877464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Les dynamiques d’opinion - 5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Text 38"/>
          <p:cNvSpPr/>
          <p:nvPr/>
        </p:nvSpPr>
        <p:spPr>
          <a:xfrm>
            <a:off x="274320" y="457200"/>
            <a:ext cx="8591760" cy="54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2000" b="1" u="none" strike="noStrike">
                <a:solidFill>
                  <a:srgbClr val="1e3a5f"/>
                </a:solidFill>
                <a:effectLst/>
                <a:uFillTx/>
                <a:latin typeface="Calibri"/>
                <a:ea typeface="DejaVu Sans"/>
              </a:rPr>
              <a:t>La Délibération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Shape 17"/>
          <p:cNvSpPr/>
          <p:nvPr/>
        </p:nvSpPr>
        <p:spPr>
          <a:xfrm>
            <a:off x="274320" y="1023840"/>
            <a:ext cx="8595360" cy="360"/>
          </a:xfrm>
          <a:prstGeom prst="line">
            <a:avLst/>
          </a:prstGeom>
          <a:ln w="1270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24" name="Text 39"/>
          <p:cNvSpPr/>
          <p:nvPr/>
        </p:nvSpPr>
        <p:spPr>
          <a:xfrm>
            <a:off x="274320" y="1122120"/>
            <a:ext cx="859176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1100" b="1" u="none" strike="noStrike">
                <a:solidFill>
                  <a:srgbClr val="1e3a5f"/>
                </a:solidFill>
                <a:effectLst/>
                <a:uFillTx/>
                <a:latin typeface="Calibri"/>
                <a:ea typeface="DejaVu Sans"/>
              </a:rPr>
              <a:t>Le contexte de changement d’attitudes et de consommation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Text 27"/>
          <p:cNvSpPr/>
          <p:nvPr/>
        </p:nvSpPr>
        <p:spPr>
          <a:xfrm>
            <a:off x="4907160" y="2808360"/>
            <a:ext cx="4271760" cy="100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lang="fr-FR" sz="16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Mini-publics : experts = individus (Dahl., 1989)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lang="fr-FR" sz="16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Participation citoyenne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lang="fr-FR" sz="16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Convention Citoyenne pour le Climat, 2021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lang="fr-FR" sz="16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“View from manywhere” (Niemeyer et al., 2024)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lang="fr-FR" sz="16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Normes sociales et nudges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6" name=""/>
          <p:cNvPicPr/>
          <p:nvPr/>
        </p:nvPicPr>
        <p:blipFill>
          <a:blip r:embed="rId1"/>
          <a:stretch/>
        </p:blipFill>
        <p:spPr>
          <a:xfrm>
            <a:off x="228600" y="1714680"/>
            <a:ext cx="4549680" cy="3084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7" name="Text 21"/>
          <p:cNvSpPr/>
          <p:nvPr/>
        </p:nvSpPr>
        <p:spPr>
          <a:xfrm>
            <a:off x="166680" y="4741560"/>
            <a:ext cx="463356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900" b="1" u="none" strike="noStrike">
                <a:solidFill>
                  <a:srgbClr val="1e3a5f"/>
                </a:solidFill>
                <a:effectLst/>
                <a:uFillTx/>
                <a:latin typeface="Calibri"/>
                <a:ea typeface="DejaVu Sans"/>
              </a:rPr>
              <a:t>Conseil municipal, la Haye, construction de maison de guilde, 1636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Shape 6"/>
          <p:cNvSpPr/>
          <p:nvPr/>
        </p:nvSpPr>
        <p:spPr>
          <a:xfrm>
            <a:off x="0" y="0"/>
            <a:ext cx="9140400" cy="36216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29" name="Text 22"/>
          <p:cNvSpPr/>
          <p:nvPr/>
        </p:nvSpPr>
        <p:spPr>
          <a:xfrm>
            <a:off x="182880" y="0"/>
            <a:ext cx="877464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Les dynamiques d’opinion - 5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Text 23"/>
          <p:cNvSpPr/>
          <p:nvPr/>
        </p:nvSpPr>
        <p:spPr>
          <a:xfrm>
            <a:off x="274320" y="457200"/>
            <a:ext cx="8591760" cy="54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2000" b="1" u="none" strike="noStrike">
                <a:solidFill>
                  <a:srgbClr val="1e3a5f"/>
                </a:solidFill>
                <a:effectLst/>
                <a:uFillTx/>
                <a:latin typeface="Calibri"/>
                <a:ea typeface="DejaVu Sans"/>
              </a:rPr>
              <a:t>C’est quoi la simulation multi-agent 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Shape 7"/>
          <p:cNvSpPr/>
          <p:nvPr/>
        </p:nvSpPr>
        <p:spPr>
          <a:xfrm>
            <a:off x="274320" y="1023840"/>
            <a:ext cx="8595360" cy="360"/>
          </a:xfrm>
          <a:prstGeom prst="line">
            <a:avLst/>
          </a:prstGeom>
          <a:ln w="1270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32" name="Text 24"/>
          <p:cNvSpPr/>
          <p:nvPr/>
        </p:nvSpPr>
        <p:spPr>
          <a:xfrm>
            <a:off x="274320" y="1122120"/>
            <a:ext cx="859176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1100" b="1" u="none" strike="noStrike">
                <a:solidFill>
                  <a:srgbClr val="1e3a5f"/>
                </a:solidFill>
                <a:effectLst/>
                <a:uFillTx/>
                <a:latin typeface="Calibri"/>
                <a:ea typeface="DejaVu Sans"/>
              </a:rPr>
              <a:t>Pourquoi modéliser les comportements de la vie réel ?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33" name=""/>
          <p:cNvPicPr/>
          <p:nvPr/>
        </p:nvPicPr>
        <p:blipFill>
          <a:blip r:embed="rId1"/>
          <a:srcRect l="0" t="24567" r="0" b="18072"/>
          <a:stretch/>
        </p:blipFill>
        <p:spPr>
          <a:xfrm>
            <a:off x="1371600" y="2153160"/>
            <a:ext cx="6581160" cy="1599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4" name="Text 59"/>
          <p:cNvSpPr/>
          <p:nvPr/>
        </p:nvSpPr>
        <p:spPr>
          <a:xfrm>
            <a:off x="1371600" y="3621600"/>
            <a:ext cx="1599840" cy="456840"/>
          </a:xfrm>
          <a:prstGeom prst="rect">
            <a:avLst/>
          </a:prstGeom>
          <a:noFill/>
          <a:ln w="0">
            <a:solidFill>
              <a:srgbClr val="ff0000"/>
            </a:solidFill>
            <a:prstDash val="lgDash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12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Agents: Individus Concerné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Text 58"/>
          <p:cNvSpPr/>
          <p:nvPr/>
        </p:nvSpPr>
        <p:spPr>
          <a:xfrm>
            <a:off x="2237400" y="1740600"/>
            <a:ext cx="1828440" cy="509040"/>
          </a:xfrm>
          <a:prstGeom prst="rect">
            <a:avLst/>
          </a:prstGeom>
          <a:noFill/>
          <a:ln w="0">
            <a:solidFill>
              <a:srgbClr val="ff0000"/>
            </a:solidFill>
            <a:prstDash val="lgDash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Font typeface="Symbol" charset="2"/>
              <a:buChar char=""/>
              <a:tabLst>
                <a:tab algn="l" pos="0"/>
              </a:tabLst>
            </a:pPr>
            <a:r>
              <a:rPr lang="fr-FR" sz="12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Environnement: Crous, Cantine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Text 62"/>
          <p:cNvSpPr/>
          <p:nvPr/>
        </p:nvSpPr>
        <p:spPr>
          <a:xfrm>
            <a:off x="3393000" y="3634200"/>
            <a:ext cx="1407240" cy="485640"/>
          </a:xfrm>
          <a:prstGeom prst="rect">
            <a:avLst/>
          </a:prstGeom>
          <a:noFill/>
          <a:ln w="0">
            <a:solidFill>
              <a:srgbClr val="ff0000"/>
            </a:solidFill>
            <a:prstDash val="lgDash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12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Règles de communication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Text 64"/>
          <p:cNvSpPr/>
          <p:nvPr/>
        </p:nvSpPr>
        <p:spPr>
          <a:xfrm>
            <a:off x="4163400" y="1740600"/>
            <a:ext cx="2237040" cy="496440"/>
          </a:xfrm>
          <a:prstGeom prst="rect">
            <a:avLst/>
          </a:prstGeom>
          <a:noFill/>
          <a:ln w="0">
            <a:solidFill>
              <a:srgbClr val="ff0000"/>
            </a:solidFill>
            <a:prstDash val="lgDash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Font typeface="Symbol" charset="2"/>
              <a:buChar char=""/>
              <a:tabLst>
                <a:tab algn="l" pos="0"/>
              </a:tabLst>
            </a:pPr>
            <a:r>
              <a:rPr lang="fr-FR" sz="12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Algorithmes déterminant les actions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Text 65"/>
          <p:cNvSpPr/>
          <p:nvPr/>
        </p:nvSpPr>
        <p:spPr>
          <a:xfrm>
            <a:off x="5450400" y="3657600"/>
            <a:ext cx="1864440" cy="456840"/>
          </a:xfrm>
          <a:prstGeom prst="rect">
            <a:avLst/>
          </a:prstGeom>
          <a:noFill/>
          <a:ln w="0">
            <a:solidFill>
              <a:srgbClr val="ff0000"/>
            </a:solidFill>
            <a:prstDash val="lgDash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12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Pas de temps/événements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Text 66"/>
          <p:cNvSpPr/>
          <p:nvPr/>
        </p:nvSpPr>
        <p:spPr>
          <a:xfrm>
            <a:off x="6508800" y="1704600"/>
            <a:ext cx="1599840" cy="545040"/>
          </a:xfrm>
          <a:prstGeom prst="rect">
            <a:avLst/>
          </a:prstGeom>
          <a:noFill/>
          <a:ln w="0">
            <a:solidFill>
              <a:srgbClr val="ff0000"/>
            </a:solidFill>
            <a:prstDash val="lgDash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Font typeface="Symbol" charset="2"/>
              <a:buChar char=""/>
              <a:tabLst>
                <a:tab algn="l" pos="0"/>
              </a:tabLst>
            </a:pPr>
            <a:r>
              <a:rPr lang="fr-FR" sz="12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Définition de comportement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Shape 28"/>
          <p:cNvSpPr/>
          <p:nvPr/>
        </p:nvSpPr>
        <p:spPr>
          <a:xfrm>
            <a:off x="0" y="0"/>
            <a:ext cx="9140400" cy="36216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41" name="Text 67"/>
          <p:cNvSpPr/>
          <p:nvPr/>
        </p:nvSpPr>
        <p:spPr>
          <a:xfrm>
            <a:off x="182880" y="0"/>
            <a:ext cx="877464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L’expérience - 1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Text 68"/>
          <p:cNvSpPr/>
          <p:nvPr/>
        </p:nvSpPr>
        <p:spPr>
          <a:xfrm>
            <a:off x="274320" y="457200"/>
            <a:ext cx="8591760" cy="54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2000" b="1" u="none" strike="noStrike">
                <a:solidFill>
                  <a:srgbClr val="1e3a5f"/>
                </a:solidFill>
                <a:effectLst/>
                <a:uFillTx/>
                <a:latin typeface="Calibri"/>
                <a:ea typeface="DejaVu Sans"/>
              </a:rPr>
              <a:t>Notre expérience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Shape 29"/>
          <p:cNvSpPr/>
          <p:nvPr/>
        </p:nvSpPr>
        <p:spPr>
          <a:xfrm>
            <a:off x="274320" y="1023840"/>
            <a:ext cx="8595360" cy="360"/>
          </a:xfrm>
          <a:prstGeom prst="line">
            <a:avLst/>
          </a:prstGeom>
          <a:ln w="1270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144" name=""/>
          <p:cNvPicPr/>
          <p:nvPr/>
        </p:nvPicPr>
        <p:blipFill>
          <a:blip r:embed="rId1"/>
          <a:stretch/>
        </p:blipFill>
        <p:spPr>
          <a:xfrm>
            <a:off x="1479600" y="1371600"/>
            <a:ext cx="6095880" cy="32000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Shape 9"/>
          <p:cNvSpPr/>
          <p:nvPr/>
        </p:nvSpPr>
        <p:spPr>
          <a:xfrm>
            <a:off x="0" y="0"/>
            <a:ext cx="9140400" cy="36216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46" name="Text 37"/>
          <p:cNvSpPr/>
          <p:nvPr/>
        </p:nvSpPr>
        <p:spPr>
          <a:xfrm>
            <a:off x="182880" y="0"/>
            <a:ext cx="877464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L’expérience - 2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Text 44"/>
          <p:cNvSpPr/>
          <p:nvPr/>
        </p:nvSpPr>
        <p:spPr>
          <a:xfrm>
            <a:off x="274320" y="457200"/>
            <a:ext cx="8591760" cy="54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2000" b="1" u="none" strike="noStrike">
                <a:solidFill>
                  <a:srgbClr val="1e3a5f"/>
                </a:solidFill>
                <a:effectLst/>
                <a:uFillTx/>
                <a:latin typeface="Calibri"/>
                <a:ea typeface="DejaVu Sans"/>
              </a:rPr>
              <a:t>Notre expérience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Shape 19"/>
          <p:cNvSpPr/>
          <p:nvPr/>
        </p:nvSpPr>
        <p:spPr>
          <a:xfrm>
            <a:off x="274320" y="1023840"/>
            <a:ext cx="8595360" cy="360"/>
          </a:xfrm>
          <a:prstGeom prst="line">
            <a:avLst/>
          </a:prstGeom>
          <a:ln w="1270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49" name="Text 45"/>
          <p:cNvSpPr/>
          <p:nvPr/>
        </p:nvSpPr>
        <p:spPr>
          <a:xfrm>
            <a:off x="274320" y="1122120"/>
            <a:ext cx="859176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1100" b="1" u="none" strike="noStrike">
                <a:solidFill>
                  <a:srgbClr val="1e3a5f"/>
                </a:solidFill>
                <a:effectLst/>
                <a:uFillTx/>
                <a:latin typeface="Calibri"/>
                <a:ea typeface="DejaVu Sans"/>
              </a:rPr>
              <a:t>La simulation multi-agent et le comportement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Text 46"/>
          <p:cNvSpPr/>
          <p:nvPr/>
        </p:nvSpPr>
        <p:spPr>
          <a:xfrm>
            <a:off x="5771160" y="2592360"/>
            <a:ext cx="3143520" cy="100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Font typeface="Symbol" charset="2"/>
              <a:buChar char=""/>
              <a:tabLst>
                <a:tab algn="l" pos="0"/>
              </a:tabLst>
            </a:pPr>
            <a:r>
              <a:rPr lang="fr-FR" sz="16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Dheilly et al. (soumis a Communications Sustainability)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lang="fr-FR" sz="16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Mini-publiques → Débats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51" name=""/>
          <p:cNvPicPr/>
          <p:nvPr/>
        </p:nvPicPr>
        <p:blipFill>
          <a:blip r:embed="rId1"/>
          <a:stretch/>
        </p:blipFill>
        <p:spPr>
          <a:xfrm>
            <a:off x="302400" y="1600200"/>
            <a:ext cx="5266080" cy="28184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Shape 20"/>
          <p:cNvSpPr/>
          <p:nvPr/>
        </p:nvSpPr>
        <p:spPr>
          <a:xfrm>
            <a:off x="0" y="0"/>
            <a:ext cx="9140400" cy="36216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53" name="Text 47"/>
          <p:cNvSpPr/>
          <p:nvPr/>
        </p:nvSpPr>
        <p:spPr>
          <a:xfrm>
            <a:off x="182880" y="0"/>
            <a:ext cx="877464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L’expérience - 3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Text 48"/>
          <p:cNvSpPr/>
          <p:nvPr/>
        </p:nvSpPr>
        <p:spPr>
          <a:xfrm>
            <a:off x="274320" y="457200"/>
            <a:ext cx="8591760" cy="54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2000" b="1" u="none" strike="noStrike">
                <a:solidFill>
                  <a:srgbClr val="1e3a5f"/>
                </a:solidFill>
                <a:effectLst/>
                <a:uFillTx/>
                <a:latin typeface="Calibri"/>
                <a:ea typeface="DejaVu Sans"/>
              </a:rPr>
              <a:t>Nos hypothèses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Shape 21"/>
          <p:cNvSpPr/>
          <p:nvPr/>
        </p:nvSpPr>
        <p:spPr>
          <a:xfrm>
            <a:off x="274320" y="1023840"/>
            <a:ext cx="8595360" cy="360"/>
          </a:xfrm>
          <a:prstGeom prst="line">
            <a:avLst/>
          </a:prstGeom>
          <a:ln w="1270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56" name="Text 49"/>
          <p:cNvSpPr/>
          <p:nvPr/>
        </p:nvSpPr>
        <p:spPr>
          <a:xfrm>
            <a:off x="274320" y="1122120"/>
            <a:ext cx="859176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1100" b="1" u="none" strike="noStrike">
                <a:solidFill>
                  <a:srgbClr val="1e3a5f"/>
                </a:solidFill>
                <a:effectLst/>
                <a:uFillTx/>
                <a:latin typeface="Calibri"/>
                <a:ea typeface="DejaVu Sans"/>
              </a:rPr>
              <a:t>La simulation multi-agent et le comportement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Text 50"/>
          <p:cNvSpPr/>
          <p:nvPr/>
        </p:nvSpPr>
        <p:spPr>
          <a:xfrm>
            <a:off x="299160" y="2521080"/>
            <a:ext cx="8843760" cy="100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lang="fr-FR" sz="16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Est-ce que les attitudes avant la délibération sont liées à celles d’après?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lang="fr-FR" sz="16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Les individus avec normes perçues et “self-control”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lang="fr-FR" sz="16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Simulations et comparaison avec des modèles de régression simple?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lang="fr-FR" sz="16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Simulations augmenté avec des dynamiques d’argumentation?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Shape 3"/>
          <p:cNvSpPr/>
          <p:nvPr/>
        </p:nvSpPr>
        <p:spPr>
          <a:xfrm>
            <a:off x="0" y="0"/>
            <a:ext cx="9140400" cy="36216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59" name="Text 5"/>
          <p:cNvSpPr/>
          <p:nvPr/>
        </p:nvSpPr>
        <p:spPr>
          <a:xfrm>
            <a:off x="182880" y="0"/>
            <a:ext cx="877464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L’expérience - 4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Text 6"/>
          <p:cNvSpPr/>
          <p:nvPr/>
        </p:nvSpPr>
        <p:spPr>
          <a:xfrm>
            <a:off x="274320" y="457200"/>
            <a:ext cx="8591760" cy="54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2000" b="1" u="none" strike="noStrike">
                <a:solidFill>
                  <a:srgbClr val="1e3a5f"/>
                </a:solidFill>
                <a:effectLst/>
                <a:uFillTx/>
                <a:latin typeface="Calibri"/>
                <a:ea typeface="DejaVu Sans"/>
              </a:rPr>
              <a:t>Notre simulation multi-agent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Shape 4"/>
          <p:cNvSpPr/>
          <p:nvPr/>
        </p:nvSpPr>
        <p:spPr>
          <a:xfrm>
            <a:off x="274320" y="1023840"/>
            <a:ext cx="8595360" cy="360"/>
          </a:xfrm>
          <a:prstGeom prst="line">
            <a:avLst/>
          </a:prstGeom>
          <a:ln w="1270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162" name=""/>
          <p:cNvPicPr/>
          <p:nvPr/>
        </p:nvPicPr>
        <p:blipFill>
          <a:blip r:embed="rId1"/>
          <a:srcRect l="0" t="24567" r="0" b="18072"/>
          <a:stretch/>
        </p:blipFill>
        <p:spPr>
          <a:xfrm>
            <a:off x="1371600" y="2153160"/>
            <a:ext cx="6581160" cy="1599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3" name="Text 8"/>
          <p:cNvSpPr/>
          <p:nvPr/>
        </p:nvSpPr>
        <p:spPr>
          <a:xfrm>
            <a:off x="1371600" y="3621600"/>
            <a:ext cx="1599840" cy="456840"/>
          </a:xfrm>
          <a:prstGeom prst="rect">
            <a:avLst/>
          </a:prstGeom>
          <a:noFill/>
          <a:ln w="0">
            <a:solidFill>
              <a:srgbClr val="ff0000"/>
            </a:solidFill>
            <a:prstDash val="lgDash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12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Agents: Individus dans les débats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Text 9"/>
          <p:cNvSpPr/>
          <p:nvPr/>
        </p:nvSpPr>
        <p:spPr>
          <a:xfrm>
            <a:off x="2057400" y="1740600"/>
            <a:ext cx="1828800" cy="509040"/>
          </a:xfrm>
          <a:prstGeom prst="rect">
            <a:avLst/>
          </a:prstGeom>
          <a:noFill/>
          <a:ln w="0">
            <a:solidFill>
              <a:srgbClr val="ff0000"/>
            </a:solidFill>
            <a:prstDash val="lgDash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Font typeface="Symbol" charset="2"/>
              <a:buChar char=""/>
              <a:tabLst>
                <a:tab algn="l" pos="0"/>
              </a:tabLst>
            </a:pPr>
            <a:r>
              <a:rPr lang="fr-FR" sz="12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Environnement: Débats visio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Text 10"/>
          <p:cNvSpPr/>
          <p:nvPr/>
        </p:nvSpPr>
        <p:spPr>
          <a:xfrm>
            <a:off x="3393000" y="3634200"/>
            <a:ext cx="1636200" cy="485640"/>
          </a:xfrm>
          <a:prstGeom prst="rect">
            <a:avLst/>
          </a:prstGeom>
          <a:noFill/>
          <a:ln w="0">
            <a:solidFill>
              <a:srgbClr val="ff0000"/>
            </a:solidFill>
            <a:prstDash val="lgDash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12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Modèles d’influence sociale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Text 11"/>
          <p:cNvSpPr/>
          <p:nvPr/>
        </p:nvSpPr>
        <p:spPr>
          <a:xfrm>
            <a:off x="4294440" y="1753200"/>
            <a:ext cx="1877760" cy="496440"/>
          </a:xfrm>
          <a:prstGeom prst="rect">
            <a:avLst/>
          </a:prstGeom>
          <a:noFill/>
          <a:ln w="0">
            <a:solidFill>
              <a:srgbClr val="ff0000"/>
            </a:solidFill>
            <a:prstDash val="lgDash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Font typeface="Symbol" charset="2"/>
              <a:buChar char=""/>
              <a:tabLst>
                <a:tab algn="l" pos="0"/>
              </a:tabLst>
            </a:pPr>
            <a:r>
              <a:rPr lang="fr-FR" sz="12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Interagir avec les autres ou pas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Text 12"/>
          <p:cNvSpPr/>
          <p:nvPr/>
        </p:nvSpPr>
        <p:spPr>
          <a:xfrm>
            <a:off x="5450400" y="3657600"/>
            <a:ext cx="1864440" cy="456840"/>
          </a:xfrm>
          <a:prstGeom prst="rect">
            <a:avLst/>
          </a:prstGeom>
          <a:noFill/>
          <a:ln w="0">
            <a:solidFill>
              <a:srgbClr val="ff0000"/>
            </a:solidFill>
            <a:prstDash val="lgDash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12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Pas de temps relatif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Text 13"/>
          <p:cNvSpPr/>
          <p:nvPr/>
        </p:nvSpPr>
        <p:spPr>
          <a:xfrm>
            <a:off x="6485400" y="1828800"/>
            <a:ext cx="1828800" cy="420840"/>
          </a:xfrm>
          <a:prstGeom prst="rect">
            <a:avLst/>
          </a:prstGeom>
          <a:noFill/>
          <a:ln w="0">
            <a:solidFill>
              <a:srgbClr val="ff0000"/>
            </a:solidFill>
            <a:prstDash val="lgDash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Font typeface="Symbol" charset="2"/>
              <a:buChar char=""/>
              <a:tabLst>
                <a:tab algn="l" pos="0"/>
              </a:tabLst>
            </a:pPr>
            <a:r>
              <a:rPr lang="fr-FR" sz="12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Paramètres pour chaque modèle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Text 7"/>
          <p:cNvSpPr/>
          <p:nvPr/>
        </p:nvSpPr>
        <p:spPr>
          <a:xfrm>
            <a:off x="1947600" y="4343760"/>
            <a:ext cx="5257800" cy="456840"/>
          </a:xfrm>
          <a:prstGeom prst="rect">
            <a:avLst/>
          </a:prstGeom>
          <a:noFill/>
          <a:ln w="29160">
            <a:solidFill>
              <a:srgbClr val="00a933"/>
            </a:solidFill>
            <a:prstDash val="lgDash"/>
            <a:round/>
          </a:ln>
        </p:spPr>
        <p:style>
          <a:lnRef idx="0"/>
          <a:fillRef idx="0"/>
          <a:effectRef idx="0"/>
          <a:fontRef idx="minor"/>
        </p:style>
        <p:txBody>
          <a:bodyPr lIns="104400" rIns="104400" tIns="59400" bIns="594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12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Métrique d’efficacité: Mean of absolute error (MAE)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Shape 24"/>
          <p:cNvSpPr/>
          <p:nvPr/>
        </p:nvSpPr>
        <p:spPr>
          <a:xfrm>
            <a:off x="0" y="0"/>
            <a:ext cx="9140400" cy="36216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71" name="Text 54"/>
          <p:cNvSpPr/>
          <p:nvPr/>
        </p:nvSpPr>
        <p:spPr>
          <a:xfrm>
            <a:off x="182880" y="0"/>
            <a:ext cx="877464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Résultats - 1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Text 55"/>
          <p:cNvSpPr/>
          <p:nvPr/>
        </p:nvSpPr>
        <p:spPr>
          <a:xfrm>
            <a:off x="274320" y="457200"/>
            <a:ext cx="8591760" cy="54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2000" b="1" u="none" strike="noStrike">
                <a:solidFill>
                  <a:srgbClr val="1e3a5f"/>
                </a:solidFill>
                <a:effectLst/>
                <a:uFillTx/>
                <a:latin typeface="Calibri"/>
                <a:ea typeface="DejaVu Sans"/>
              </a:rPr>
              <a:t>Premiers résultats – a completer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Shape 25"/>
          <p:cNvSpPr/>
          <p:nvPr/>
        </p:nvSpPr>
        <p:spPr>
          <a:xfrm>
            <a:off x="274320" y="1023840"/>
            <a:ext cx="8595360" cy="360"/>
          </a:xfrm>
          <a:prstGeom prst="line">
            <a:avLst/>
          </a:prstGeom>
          <a:ln w="1270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74" name="Text 56"/>
          <p:cNvSpPr/>
          <p:nvPr/>
        </p:nvSpPr>
        <p:spPr>
          <a:xfrm>
            <a:off x="274320" y="1122120"/>
            <a:ext cx="859176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1100" b="1" u="none" strike="noStrike">
                <a:solidFill>
                  <a:srgbClr val="1e3a5f"/>
                </a:solidFill>
                <a:effectLst/>
                <a:uFillTx/>
                <a:latin typeface="Calibri"/>
                <a:ea typeface="DejaVu Sans"/>
              </a:rPr>
              <a:t>La simulation multi-agent et le comportement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75" name=""/>
          <p:cNvPicPr/>
          <p:nvPr/>
        </p:nvPicPr>
        <p:blipFill>
          <a:blip r:embed="rId1"/>
          <a:stretch/>
        </p:blipFill>
        <p:spPr>
          <a:xfrm>
            <a:off x="248040" y="1392840"/>
            <a:ext cx="5695560" cy="3530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6" name="Text 53"/>
          <p:cNvSpPr/>
          <p:nvPr/>
        </p:nvSpPr>
        <p:spPr>
          <a:xfrm>
            <a:off x="5866920" y="2507400"/>
            <a:ext cx="3143520" cy="100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Font typeface="Symbol" charset="2"/>
              <a:buChar char=""/>
              <a:tabLst>
                <a:tab algn="l" pos="0"/>
              </a:tabLst>
            </a:pPr>
            <a:r>
              <a:rPr lang="fr-FR" sz="16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Distribution de variance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Font typeface="Symbol" charset="2"/>
              <a:buChar char=""/>
              <a:tabLst>
                <a:tab algn="l" pos="0"/>
              </a:tabLst>
            </a:pPr>
            <a:r>
              <a:rPr lang="fr-FR" sz="16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Width : how often variance changes occur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Font typeface="Symbol" charset="2"/>
              <a:buChar char=""/>
              <a:tabLst>
                <a:tab algn="l" pos="0"/>
              </a:tabLst>
            </a:pPr>
            <a:r>
              <a:rPr lang="fr-FR" sz="16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Dashed zero : 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lang="fr-FR" sz="16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Left : model leads to convergence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lang="fr-FR" sz="16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Right : model leads to polarization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lang="fr-FR" sz="16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Mini-publiques → Débats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Shape 5"/>
          <p:cNvSpPr/>
          <p:nvPr/>
        </p:nvSpPr>
        <p:spPr>
          <a:xfrm>
            <a:off x="0" y="0"/>
            <a:ext cx="9140400" cy="36216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78" name="Text 14"/>
          <p:cNvSpPr/>
          <p:nvPr/>
        </p:nvSpPr>
        <p:spPr>
          <a:xfrm>
            <a:off x="182880" y="0"/>
            <a:ext cx="877464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Résultats - 1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Text 15"/>
          <p:cNvSpPr/>
          <p:nvPr/>
        </p:nvSpPr>
        <p:spPr>
          <a:xfrm>
            <a:off x="274320" y="457200"/>
            <a:ext cx="8591760" cy="54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2000" b="1" u="none" strike="noStrike">
                <a:solidFill>
                  <a:srgbClr val="1e3a5f"/>
                </a:solidFill>
                <a:effectLst/>
                <a:uFillTx/>
                <a:latin typeface="Calibri"/>
                <a:ea typeface="DejaVu Sans"/>
              </a:rPr>
              <a:t>Premiers résultats – a completer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Shape 30"/>
          <p:cNvSpPr/>
          <p:nvPr/>
        </p:nvSpPr>
        <p:spPr>
          <a:xfrm>
            <a:off x="274320" y="1023840"/>
            <a:ext cx="8595360" cy="360"/>
          </a:xfrm>
          <a:prstGeom prst="line">
            <a:avLst/>
          </a:prstGeom>
          <a:ln w="1270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81" name="Text 16"/>
          <p:cNvSpPr/>
          <p:nvPr/>
        </p:nvSpPr>
        <p:spPr>
          <a:xfrm>
            <a:off x="274320" y="1122120"/>
            <a:ext cx="859176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1100" b="1" u="none" strike="noStrike">
                <a:solidFill>
                  <a:srgbClr val="1e3a5f"/>
                </a:solidFill>
                <a:effectLst/>
                <a:uFillTx/>
                <a:latin typeface="Calibri"/>
                <a:ea typeface="DejaVu Sans"/>
              </a:rPr>
              <a:t>La simulation multi-agent et le comportement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82" name=""/>
          <p:cNvPicPr/>
          <p:nvPr/>
        </p:nvPicPr>
        <p:blipFill>
          <a:blip r:embed="rId1"/>
          <a:stretch/>
        </p:blipFill>
        <p:spPr>
          <a:xfrm>
            <a:off x="1619640" y="1392840"/>
            <a:ext cx="6152760" cy="35305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Shape 22"/>
          <p:cNvSpPr/>
          <p:nvPr/>
        </p:nvSpPr>
        <p:spPr>
          <a:xfrm>
            <a:off x="0" y="0"/>
            <a:ext cx="9140400" cy="36216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84" name="Text 51"/>
          <p:cNvSpPr/>
          <p:nvPr/>
        </p:nvSpPr>
        <p:spPr>
          <a:xfrm>
            <a:off x="182880" y="0"/>
            <a:ext cx="877464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Prochaines étapes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Text 52"/>
          <p:cNvSpPr/>
          <p:nvPr/>
        </p:nvSpPr>
        <p:spPr>
          <a:xfrm>
            <a:off x="274320" y="457200"/>
            <a:ext cx="8591760" cy="54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2000" b="1" u="none" strike="noStrike">
                <a:solidFill>
                  <a:srgbClr val="1e3a5f"/>
                </a:solidFill>
                <a:effectLst/>
                <a:uFillTx/>
                <a:latin typeface="Calibri"/>
                <a:ea typeface="DejaVu Sans"/>
              </a:rPr>
              <a:t>Conclusions et prochaines étapes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Shape 23"/>
          <p:cNvSpPr/>
          <p:nvPr/>
        </p:nvSpPr>
        <p:spPr>
          <a:xfrm>
            <a:off x="274320" y="1023840"/>
            <a:ext cx="8595360" cy="360"/>
          </a:xfrm>
          <a:prstGeom prst="line">
            <a:avLst/>
          </a:prstGeom>
          <a:ln w="1270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87" name="Text 4"/>
          <p:cNvSpPr/>
          <p:nvPr/>
        </p:nvSpPr>
        <p:spPr>
          <a:xfrm>
            <a:off x="299160" y="1693080"/>
            <a:ext cx="8843760" cy="100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Font typeface="Symbol" charset="2"/>
              <a:buChar char=""/>
              <a:tabLst>
                <a:tab algn="l" pos="0"/>
              </a:tabLst>
            </a:pPr>
            <a:r>
              <a:rPr lang="fr-FR" sz="16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Travail en cours!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Font typeface="Symbol" charset="2"/>
              <a:buChar char=""/>
              <a:tabLst>
                <a:tab algn="l" pos="0"/>
              </a:tabLs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Font typeface="Symbol" charset="2"/>
              <a:buChar char=""/>
              <a:tabLst>
                <a:tab algn="l" pos="0"/>
              </a:tabLs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Font typeface="Symbol" charset="2"/>
              <a:buChar char=""/>
              <a:tabLst>
                <a:tab algn="l" pos="0"/>
              </a:tabLst>
            </a:pPr>
            <a:r>
              <a:rPr lang="fr-FR" sz="16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Le grand défi → modéliser les changements d’attitudes subtiles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lang="fr-FR" sz="16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Prochaine étape → dynamiques d’argumentation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Shape 26"/>
          <p:cNvSpPr/>
          <p:nvPr/>
        </p:nvSpPr>
        <p:spPr>
          <a:xfrm>
            <a:off x="0" y="0"/>
            <a:ext cx="9140400" cy="36216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89" name="Text 60"/>
          <p:cNvSpPr/>
          <p:nvPr/>
        </p:nvSpPr>
        <p:spPr>
          <a:xfrm>
            <a:off x="182880" y="0"/>
            <a:ext cx="877464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rPr>
              <a:t>L’expérience - 2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Text 61"/>
          <p:cNvSpPr/>
          <p:nvPr/>
        </p:nvSpPr>
        <p:spPr>
          <a:xfrm>
            <a:off x="274320" y="457200"/>
            <a:ext cx="8591760" cy="54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fr-FR" sz="2000" b="1" u="none" strike="noStrike">
                <a:solidFill>
                  <a:srgbClr val="1e3a5f"/>
                </a:solidFill>
                <a:effectLst/>
                <a:uFillTx/>
                <a:latin typeface="Calibri"/>
                <a:ea typeface="DejaVu Sans"/>
              </a:rPr>
              <a:t>References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1" name="Shape 27"/>
          <p:cNvSpPr/>
          <p:nvPr/>
        </p:nvSpPr>
        <p:spPr>
          <a:xfrm>
            <a:off x="274320" y="1023840"/>
            <a:ext cx="8595360" cy="360"/>
          </a:xfrm>
          <a:prstGeom prst="line">
            <a:avLst/>
          </a:prstGeom>
          <a:ln w="1270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92" name="Text 63"/>
          <p:cNvSpPr/>
          <p:nvPr/>
        </p:nvSpPr>
        <p:spPr>
          <a:xfrm>
            <a:off x="299880" y="2883600"/>
            <a:ext cx="8386560" cy="100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lang="fr-FR" sz="900" b="0" u="none" strike="noStrike">
                <a:solidFill>
                  <a:srgbClr val="0563c1"/>
                </a:solidFill>
                <a:effectLst/>
                <a:uFillTx/>
                <a:latin typeface="Calibri"/>
                <a:ea typeface="DejaVu Sans"/>
                <a:hlinkClick r:id="rId1"/>
              </a:rPr>
              <a:t>https://www.allaboutai.com/fr-fr/glossaire-ai/simulation-multi-agent/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lang="fr-FR" sz="9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Paulis, E, Talukder, D, Vrydagh, J. (2022). Mini-publics déliberatifs. In G. Petit, L. Blondiaux, I. Casillo, J.-M. Fourniau, G. Gourgues, S. Hayat, R. Lefebvre, S. Rui, S. Wojcik, &amp; J. Zetlaoui-Léger (Éds.), Dictionnaire critique et interdisciplinaire de la Participation, DicoPart (2ème édition). GIS Démocratie et Participation. </a:t>
            </a:r>
            <a:r>
              <a:rPr lang="fr-FR" sz="900" b="0" u="none" strike="noStrike">
                <a:solidFill>
                  <a:srgbClr val="0563c1"/>
                </a:solidFill>
                <a:effectLst/>
                <a:uFillTx/>
                <a:latin typeface="Calibri"/>
                <a:ea typeface="DejaVu Sans"/>
                <a:hlinkClick r:id="rId2"/>
              </a:rPr>
              <a:t>https://www.dicopart.fr/mini-publics-deliberatifs-2022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lang="fr-FR" sz="10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https://medium.com/data-science/how-to-create-an-agent-based-simulation-model-37bd7b4b0da7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lang="fr-FR" sz="10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https://nl.wikipedia.org/wiki/Sint_Sebastiaansdoelen_(Den_Haag)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lang="fr-FR" sz="9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Include Flache et al and all the other references used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lang="fr-FR" sz="10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  <a:hlinkClick r:id="rId3"/>
              </a:rPr>
              <a:t>https://www.allocine.fr/film/fichefilm_gen_cfilm=123530.html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lang="fr-FR" sz="10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https://www.inrae.fr/dossiers/alimentation-saine-durable/accelerer-transitions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lang="fr-FR" sz="9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 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lang="fr-FR" sz="9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DejaVu Sans"/>
              </a:rPr>
              <a:t> 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5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121</TotalTime>
  <Application>LibreOffice/25.8.5.2$Linux_X86_64 LibreOffice_project/580$Build-2</Application>
  <AppVersion>15.0000</AppVersion>
  <Words>0</Words>
  <Paragraphs>0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2026-03-19T12:59:51Z</dcterms:created>
  <dc:creator>PptxGenJS</dc:creator>
  <dc:description/>
  <dc:language>en-US</dc:language>
  <cp:lastModifiedBy/>
  <dcterms:modified xsi:type="dcterms:W3CDTF">2026-04-07T16:21:16Z</dcterms:modified>
  <cp:revision>19</cp:revision>
  <dc:subject>PptxGenJS Presentation</dc:subject>
  <dc:title>ABM Results – Based on R Script Output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14</vt:i4>
  </property>
  <property fmtid="{D5CDD505-2E9C-101B-9397-08002B2CF9AE}" pid="3" name="PresentationFormat">
    <vt:lpwstr>On-screen Show (16:9)</vt:lpwstr>
  </property>
  <property fmtid="{D5CDD505-2E9C-101B-9397-08002B2CF9AE}" pid="4" name="Slides">
    <vt:i4>14</vt:i4>
  </property>
</Properties>
</file>