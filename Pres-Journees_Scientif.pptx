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13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25.xml" ContentType="application/vnd.openxmlformats-officedocument.theme+xml"/>
  <Override PartName="/ppt/slideLayouts/slideLayout8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s/slide12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6.xml" ContentType="application/vnd.openxmlformats-officedocument.presentationml.slide+xml"/>
  <Override PartName="/ppt/slides/slide14.xml" ContentType="application/vnd.openxmlformats-officedocument.presentationml.slide+xml"/>
  <Override PartName="/ppt/slides/slide21.xml" ContentType="application/vnd.openxmlformats-officedocument.presentationml.slide+xml"/>
  <Override PartName="/ppt/slides/slide15.xml" ContentType="application/vnd.openxmlformats-officedocument.presentationml.slide+xml"/>
  <Override PartName="/ppt/slides/slide3.xml" ContentType="application/vnd.openxmlformats-officedocument.presentationml.slide+xml"/>
  <Override PartName="/ppt/slides/slide20.xml" ContentType="application/vnd.openxmlformats-officedocument.presentationml.slide+xml"/>
  <Override PartName="/ppt/slides/slide18.xml" ContentType="application/vnd.openxmlformats-officedocument.presentationml.slide+xml"/>
  <Override PartName="/ppt/slides/slide1.xml" ContentType="application/vnd.openxmlformats-officedocument.presentationml.slide+xml"/>
  <Override PartName="/ppt/slides/slide16.xml" ContentType="application/vnd.openxmlformats-officedocument.presentationml.slide+xml"/>
  <Override PartName="/ppt/slides/slide7.xml" ContentType="application/vnd.openxmlformats-officedocument.presentationml.slide+xml"/>
  <Override PartName="/ppt/slides/slide2.xml" ContentType="application/vnd.openxmlformats-officedocument.presentationml.slide+xml"/>
  <Override PartName="/ppt/slides/slide17.xml" ContentType="application/vnd.openxmlformats-officedocument.presentationml.slide+xml"/>
  <Override PartName="/ppt/slides/slide13.xml" ContentType="application/vnd.openxmlformats-officedocument.presentationml.slide+xml"/>
  <Override PartName="/ppt/slides/slide9.xml" ContentType="application/vnd.openxmlformats-officedocument.presentationml.slide+xml"/>
  <Override PartName="/ppt/slides/slide4.xml" ContentType="application/vnd.openxmlformats-officedocument.presentationml.slide+xml"/>
  <Override PartName="/ppt/slides/slide11.xml" ContentType="application/vnd.openxmlformats-officedocument.presentationml.slide+xml"/>
  <Override PartName="/ppt/slides/slide19.xml" ContentType="application/vnd.openxmlformats-officedocument.presentationml.slide+xml"/>
  <Override PartName="/ppt/slides/slide22.xml" ContentType="application/vnd.openxmlformats-officedocument.presentationml.slide+xml"/>
  <Override PartName="/ppt/slides/slide5.xml" ContentType="application/vnd.openxmlformats-officedocument.presentationml.slide+xml"/>
  <Override PartName="/ppt/notesSlides/notesSlide12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.xml" ContentType="application/vnd.openxmlformats-officedocument.presentationml.notesSlide+xml"/>
  <Override PartName="/ppt/notesSlides/notesSlide4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1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</p:sldIdLst>
  <p:sldSz cx="9144000" cy="5143500"/>
  <p:notesSz cx="5143500" cy="9144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13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slide" Target="slides/slide20.xml"/><Relationship Id="rId25" Type="http://schemas.openxmlformats.org/officeDocument/2006/relationships/slide" Target="slides/slide21.xml"/><Relationship Id="rId26" Type="http://schemas.openxmlformats.org/officeDocument/2006/relationships/slide" Target="slides/slide22.xml"/><Relationship Id="rId27" Type="http://schemas.openxmlformats.org/officeDocument/2006/relationships/presProps" Target="presProps.xml"/>
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0"/>
  <c:chart>
    <c:autoTitleDeleted val="1"/>
    <c:plotArea>
      <c:barChart>
        <c:barDir val="col"/>
        <c:grouping val="clustered"/>
        <c:varyColors val="0"/>
        <c:ser>
          <c:idx val="0"/>
          <c:order val="0"/>
          <c:tx>
            <c:strRef>
              <c:f>label 0</c:f>
              <c:strCache>
                <c:ptCount val="1"/>
                <c:pt idx="0">
                  <c:v>H (Homogeneous)</c:v>
                </c:pt>
              </c:strCache>
            </c:strRef>
          </c:tx>
          <c:spPr>
            <a:solidFill>
              <a:srgbClr val="2e75b6"/>
            </a:solidFill>
            <a:ln w="0">
              <a:noFill/>
            </a:ln>
          </c:spPr>
          <c:invertIfNegative val="0"/>
          <c:dLbls>
            <c:numFmt formatCode="#,##0" sourceLinked="0"/>
            <c:txPr>
              <a:bodyPr wrap="square"/>
              <a:lstStyle/>
              <a:p>
                <a:pPr>
                  <a:defRPr sz="800" b="0" u="none" strike="noStrike">
                    <a:solidFill>
                      <a:srgbClr val="333333"/>
                    </a:solidFill>
                    <a:uFillTx/>
                    <a:latin typeface="Arial"/>
                    <a:ea typeface="DejaVu San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eparator>; 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categories</c:f>
              <c:strCache>
                <c:ptCount val="4"/>
                <c:pt idx="0">
                  <c:v>Bipolarization</c:v>
                </c:pt>
                <c:pt idx="1">
                  <c:v>Clustering</c:v>
                </c:pt>
                <c:pt idx="2">
                  <c:v>Consensus</c:v>
                </c:pt>
                <c:pt idx="3">
                  <c:v>No-Change</c:v>
                </c:pt>
              </c:strCache>
            </c:strRef>
          </c:cat>
          <c:val>
            <c:numRef>
              <c:f>0</c:f>
              <c:numCache>
                <c:formatCode>General</c:formatCode>
                <c:ptCount val="4"/>
                <c:pt idx="0">
                  <c:v>0.0791</c:v>
                </c:pt>
                <c:pt idx="1">
                  <c:v>0.0856</c:v>
                </c:pt>
                <c:pt idx="2">
                  <c:v>0.0769</c:v>
                </c:pt>
                <c:pt idx="3">
                  <c:v>0.0466</c:v>
                </c:pt>
              </c:numCache>
            </c:numRef>
          </c:val>
        </c:ser>
        <c:ser>
          <c:idx val="1"/>
          <c:order val="1"/>
          <c:tx>
            <c:strRef>
              <c:f>label 1</c:f>
              <c:strCache>
                <c:ptCount val="1"/>
                <c:pt idx="0">
                  <c:v>M (Mixed/Hetero)</c:v>
                </c:pt>
              </c:strCache>
            </c:strRef>
          </c:tx>
          <c:spPr>
            <a:solidFill>
              <a:srgbClr val="e87722"/>
            </a:solidFill>
            <a:ln w="0">
              <a:noFill/>
            </a:ln>
          </c:spPr>
          <c:invertIfNegative val="0"/>
          <c:dLbls>
            <c:numFmt formatCode="#,##0" sourceLinked="0"/>
            <c:txPr>
              <a:bodyPr wrap="square"/>
              <a:lstStyle/>
              <a:p>
                <a:pPr>
                  <a:defRPr sz="800" b="0" u="none" strike="noStrike">
                    <a:solidFill>
                      <a:srgbClr val="333333"/>
                    </a:solidFill>
                    <a:uFillTx/>
                    <a:latin typeface="Arial"/>
                    <a:ea typeface="DejaVu San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eparator>; 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categories</c:f>
              <c:strCache>
                <c:ptCount val="4"/>
                <c:pt idx="0">
                  <c:v>Bipolarization</c:v>
                </c:pt>
                <c:pt idx="1">
                  <c:v>Clustering</c:v>
                </c:pt>
                <c:pt idx="2">
                  <c:v>Consensus</c:v>
                </c:pt>
                <c:pt idx="3">
                  <c:v>No-Change</c:v>
                </c:pt>
              </c:strCache>
            </c:strRef>
          </c:cat>
          <c:val>
            <c:numRef>
              <c:f>1</c:f>
              <c:numCache>
                <c:formatCode>General</c:formatCode>
                <c:ptCount val="4"/>
                <c:pt idx="0">
                  <c:v>0.1706</c:v>
                </c:pt>
                <c:pt idx="1">
                  <c:v>0.1109</c:v>
                </c:pt>
                <c:pt idx="2">
                  <c:v>0.1461</c:v>
                </c:pt>
                <c:pt idx="3">
                  <c:v>0.0366</c:v>
                </c:pt>
              </c:numCache>
            </c:numRef>
          </c:val>
        </c:ser>
        <c:gapWidth val="150"/>
        <c:overlap val="0"/>
        <c:axId val="74641597"/>
        <c:axId val="69582131"/>
      </c:barChart>
      <c:catAx>
        <c:axId val="74641597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low"/>
        <c:spPr>
          <a:ln w="12600">
            <a:solidFill>
              <a:srgbClr val="888888"/>
            </a:solidFill>
            <a:round/>
          </a:ln>
        </c:spPr>
        <c:txPr>
          <a:bodyPr/>
          <a:lstStyle/>
          <a:p>
            <a:pPr>
              <a:defRPr sz="1200" b="0" u="none" strike="noStrike">
                <a:solidFill>
                  <a:srgbClr val="666666"/>
                </a:solidFill>
                <a:uFillTx/>
                <a:latin typeface="Arial"/>
                <a:ea typeface="DejaVu Sans"/>
              </a:defRPr>
            </a:pPr>
          </a:p>
        </c:txPr>
        <c:crossAx val="69582131"/>
        <c:crosses val="autoZero"/>
        <c:auto val="1"/>
        <c:lblAlgn val="ctr"/>
        <c:lblOffset val="100"/>
        <c:noMultiLvlLbl val="0"/>
      </c:catAx>
      <c:valAx>
        <c:axId val="69582131"/>
        <c:scaling>
          <c:orientation val="minMax"/>
          <c:max val="0.22"/>
          <c:min val="0"/>
        </c:scaling>
        <c:delete val="0"/>
        <c:axPos val="l"/>
        <c:majorGridlines>
          <c:spPr>
            <a:ln w="6480">
              <a:solidFill>
                <a:srgbClr val="eeeeee"/>
              </a:solidFill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600">
            <a:solidFill>
              <a:srgbClr val="888888"/>
            </a:solidFill>
            <a:round/>
          </a:ln>
        </c:spPr>
        <c:txPr>
          <a:bodyPr/>
          <a:lstStyle/>
          <a:p>
            <a:pPr>
              <a:defRPr sz="1200" b="0" u="none" strike="noStrike">
                <a:solidFill>
                  <a:srgbClr val="666666"/>
                </a:solidFill>
                <a:uFillTx/>
                <a:latin typeface="Arial"/>
                <a:ea typeface="DejaVu Sans"/>
              </a:defRPr>
            </a:pPr>
          </a:p>
        </c:txPr>
        <c:crossAx val="74641597"/>
        <c:crosses val="autoZero"/>
        <c:crossBetween val="between"/>
      </c:valAx>
      <c:spPr>
        <a:noFill/>
        <a:ln w="0">
          <a:noFill/>
        </a:ln>
      </c:spPr>
    </c:plotArea>
    <c:legend>
      <c:legendPos val="b"/>
      <c:overlay val="0"/>
      <c:spPr>
        <a:noFill/>
        <a:ln w="0">
          <a:noFill/>
        </a:ln>
      </c:spPr>
      <c:txPr>
        <a:bodyPr/>
        <a:lstStyle/>
        <a:p>
          <a:pPr>
            <a:defRPr sz="900" b="0" u="none" strike="noStrike">
              <a:solidFill>
                <a:srgbClr val="000000"/>
              </a:solidFill>
              <a:uFillTx/>
              <a:latin typeface="Calibri"/>
              <a:ea typeface="DejaVu Sans"/>
            </a:defRPr>
          </a:pPr>
        </a:p>
      </c:txPr>
    </c:legend>
    <c:plotVisOnly val="1"/>
    <c:dispBlanksAs val="span"/>
  </c:chart>
  <c:spPr>
    <a:solidFill>
      <a:srgbClr val="ffffff"/>
    </a:solidFill>
    <a:ln w="9360">
      <a:noFill/>
    </a:ln>
  </c:spPr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0"/>
  <c:chart>
    <c:autoTitleDeleted val="1"/>
    <c:plotArea>
      <c:barChart>
        <c:barDir val="col"/>
        <c:grouping val="clustered"/>
        <c:varyColors val="0"/>
        <c:ser>
          <c:idx val="0"/>
          <c:order val="0"/>
          <c:tx>
            <c:strRef>
              <c:f>label 0</c:f>
              <c:strCache>
                <c:ptCount val="1"/>
                <c:pt idx="0">
                  <c:v>Anti (0–0.33)</c:v>
                </c:pt>
              </c:strCache>
            </c:strRef>
          </c:tx>
          <c:spPr>
            <a:solidFill>
              <a:srgbClr val="e87722"/>
            </a:solidFill>
            <a:ln w="0">
              <a:noFill/>
            </a:ln>
          </c:spPr>
          <c:invertIfNegative val="0"/>
          <c:dLbls>
            <c:numFmt formatCode="#,##0" sourceLinked="0"/>
            <c:txPr>
              <a:bodyPr wrap="square"/>
              <a:lstStyle/>
              <a:p>
                <a:pPr>
                  <a:defRPr sz="700" b="0" u="none" strike="noStrike">
                    <a:solidFill>
                      <a:srgbClr val="333333"/>
                    </a:solidFill>
                    <a:uFillTx/>
                    <a:latin typeface="Arial"/>
                    <a:ea typeface="DejaVu San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eparator>; 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categories</c:f>
              <c:strCache>
                <c:ptCount val="4"/>
                <c:pt idx="0">
                  <c:v>Bipolarization</c:v>
                </c:pt>
                <c:pt idx="1">
                  <c:v>Clustering</c:v>
                </c:pt>
                <c:pt idx="2">
                  <c:v>Consensus</c:v>
                </c:pt>
                <c:pt idx="3">
                  <c:v>No-Change</c:v>
                </c:pt>
              </c:strCache>
            </c:strRef>
          </c:cat>
          <c:val>
            <c:numRef>
              <c:f>0</c:f>
              <c:numCache>
                <c:formatCode>General</c:formatCode>
                <c:ptCount val="4"/>
                <c:pt idx="0">
                  <c:v>0.2124</c:v>
                </c:pt>
                <c:pt idx="1">
                  <c:v>0.114</c:v>
                </c:pt>
                <c:pt idx="2">
                  <c:v>0.1593</c:v>
                </c:pt>
                <c:pt idx="3">
                  <c:v>0.0671</c:v>
                </c:pt>
              </c:numCache>
            </c:numRef>
          </c:val>
        </c:ser>
        <c:ser>
          <c:idx val="1"/>
          <c:order val="1"/>
          <c:tx>
            <c:strRef>
              <c:f>label 1</c:f>
              <c:strCache>
                <c:ptCount val="1"/>
                <c:pt idx="0">
                  <c:v>Moderate (0.33–0.67)</c:v>
                </c:pt>
              </c:strCache>
            </c:strRef>
          </c:tx>
          <c:spPr>
            <a:solidFill>
              <a:srgbClr val="2e75b6"/>
            </a:solidFill>
            <a:ln w="0">
              <a:noFill/>
            </a:ln>
          </c:spPr>
          <c:invertIfNegative val="0"/>
          <c:dLbls>
            <c:numFmt formatCode="#,##0" sourceLinked="0"/>
            <c:txPr>
              <a:bodyPr wrap="square"/>
              <a:lstStyle/>
              <a:p>
                <a:pPr>
                  <a:defRPr sz="700" b="0" u="none" strike="noStrike">
                    <a:solidFill>
                      <a:srgbClr val="333333"/>
                    </a:solidFill>
                    <a:uFillTx/>
                    <a:latin typeface="Arial"/>
                    <a:ea typeface="DejaVu San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eparator>; 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categories</c:f>
              <c:strCache>
                <c:ptCount val="4"/>
                <c:pt idx="0">
                  <c:v>Bipolarization</c:v>
                </c:pt>
                <c:pt idx="1">
                  <c:v>Clustering</c:v>
                </c:pt>
                <c:pt idx="2">
                  <c:v>Consensus</c:v>
                </c:pt>
                <c:pt idx="3">
                  <c:v>No-Change</c:v>
                </c:pt>
              </c:strCache>
            </c:strRef>
          </c:cat>
          <c:val>
            <c:numRef>
              <c:f>1</c:f>
              <c:numCache>
                <c:formatCode>General</c:formatCode>
                <c:ptCount val="4"/>
                <c:pt idx="0">
                  <c:v>0.1338</c:v>
                </c:pt>
                <c:pt idx="1">
                  <c:v>0.0863</c:v>
                </c:pt>
                <c:pt idx="2">
                  <c:v>0.0918</c:v>
                </c:pt>
                <c:pt idx="3">
                  <c:v>0.041</c:v>
                </c:pt>
              </c:numCache>
            </c:numRef>
          </c:val>
        </c:ser>
        <c:ser>
          <c:idx val="2"/>
          <c:order val="2"/>
          <c:tx>
            <c:strRef>
              <c:f>label 2</c:f>
              <c:strCache>
                <c:ptCount val="1"/>
                <c:pt idx="0">
                  <c:v>Pro (0.67–1.0)</c:v>
                </c:pt>
              </c:strCache>
            </c:strRef>
          </c:tx>
          <c:spPr>
            <a:solidFill>
              <a:srgbClr val="a33b20"/>
            </a:solidFill>
            <a:ln w="0">
              <a:noFill/>
            </a:ln>
          </c:spPr>
          <c:invertIfNegative val="0"/>
          <c:dLbls>
            <c:numFmt formatCode="#,##0" sourceLinked="0"/>
            <c:txPr>
              <a:bodyPr wrap="square"/>
              <a:lstStyle/>
              <a:p>
                <a:pPr>
                  <a:defRPr sz="700" b="0" u="none" strike="noStrike">
                    <a:solidFill>
                      <a:srgbClr val="333333"/>
                    </a:solidFill>
                    <a:uFillTx/>
                    <a:latin typeface="Arial"/>
                    <a:ea typeface="DejaVu San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eparator>; 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categories</c:f>
              <c:strCache>
                <c:ptCount val="4"/>
                <c:pt idx="0">
                  <c:v>Bipolarization</c:v>
                </c:pt>
                <c:pt idx="1">
                  <c:v>Clustering</c:v>
                </c:pt>
                <c:pt idx="2">
                  <c:v>Consensus</c:v>
                </c:pt>
                <c:pt idx="3">
                  <c:v>No-Change</c:v>
                </c:pt>
              </c:strCache>
            </c:strRef>
          </c:cat>
          <c:val>
            <c:numRef>
              <c:f>2</c:f>
              <c:numCache>
                <c:formatCode>General</c:formatCode>
                <c:ptCount val="4"/>
                <c:pt idx="0">
                  <c:v>0.1738</c:v>
                </c:pt>
                <c:pt idx="1">
                  <c:v>0.1554</c:v>
                </c:pt>
                <c:pt idx="2">
                  <c:v>0.2177</c:v>
                </c:pt>
                <c:pt idx="3">
                  <c:v>0.03</c:v>
                </c:pt>
              </c:numCache>
            </c:numRef>
          </c:val>
        </c:ser>
        <c:gapWidth val="150"/>
        <c:overlap val="0"/>
        <c:axId val="40489795"/>
        <c:axId val="13574329"/>
      </c:barChart>
      <c:catAx>
        <c:axId val="40489795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low"/>
        <c:spPr>
          <a:ln w="12600">
            <a:solidFill>
              <a:srgbClr val="888888"/>
            </a:solidFill>
            <a:round/>
          </a:ln>
        </c:spPr>
        <c:txPr>
          <a:bodyPr/>
          <a:lstStyle/>
          <a:p>
            <a:pPr>
              <a:defRPr sz="1200" b="0" u="none" strike="noStrike">
                <a:solidFill>
                  <a:srgbClr val="666666"/>
                </a:solidFill>
                <a:uFillTx/>
                <a:latin typeface="Arial"/>
                <a:ea typeface="DejaVu Sans"/>
              </a:defRPr>
            </a:pPr>
          </a:p>
        </c:txPr>
        <c:crossAx val="13574329"/>
        <c:crosses val="autoZero"/>
        <c:auto val="1"/>
        <c:lblAlgn val="ctr"/>
        <c:lblOffset val="100"/>
        <c:noMultiLvlLbl val="0"/>
      </c:catAx>
      <c:valAx>
        <c:axId val="13574329"/>
        <c:scaling>
          <c:orientation val="minMax"/>
          <c:max val="0.28"/>
          <c:min val="0"/>
        </c:scaling>
        <c:delete val="0"/>
        <c:axPos val="l"/>
        <c:majorGridlines>
          <c:spPr>
            <a:ln w="6480">
              <a:solidFill>
                <a:srgbClr val="eeeeee"/>
              </a:solidFill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600">
            <a:solidFill>
              <a:srgbClr val="888888"/>
            </a:solidFill>
            <a:round/>
          </a:ln>
        </c:spPr>
        <c:txPr>
          <a:bodyPr/>
          <a:lstStyle/>
          <a:p>
            <a:pPr>
              <a:defRPr sz="1200" b="0" u="none" strike="noStrike">
                <a:solidFill>
                  <a:srgbClr val="666666"/>
                </a:solidFill>
                <a:uFillTx/>
                <a:latin typeface="Arial"/>
                <a:ea typeface="DejaVu Sans"/>
              </a:defRPr>
            </a:pPr>
          </a:p>
        </c:txPr>
        <c:crossAx val="40489795"/>
        <c:crosses val="autoZero"/>
        <c:crossBetween val="between"/>
      </c:valAx>
      <c:spPr>
        <a:noFill/>
        <a:ln w="0">
          <a:noFill/>
        </a:ln>
      </c:spPr>
    </c:plotArea>
    <c:legend>
      <c:legendPos val="b"/>
      <c:overlay val="0"/>
      <c:spPr>
        <a:noFill/>
        <a:ln w="0">
          <a:noFill/>
        </a:ln>
      </c:spPr>
      <c:txPr>
        <a:bodyPr/>
        <a:lstStyle/>
        <a:p>
          <a:pPr>
            <a:defRPr sz="900" b="0" u="none" strike="noStrike">
              <a:solidFill>
                <a:srgbClr val="000000"/>
              </a:solidFill>
              <a:uFillTx/>
              <a:latin typeface="Calibri"/>
              <a:ea typeface="DejaVu Sans"/>
            </a:defRPr>
          </a:pPr>
        </a:p>
      </c:txPr>
    </c:legend>
    <c:plotVisOnly val="1"/>
    <c:dispBlanksAs val="span"/>
  </c:chart>
  <c:spPr>
    <a:solidFill>
      <a:srgbClr val="ffffff"/>
    </a:solidFill>
    <a:ln w="9360">
      <a:noFill/>
    </a:ln>
  </c:spPr>
</c:chartSpace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5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PlaceHolder 1"/>
          <p:cNvSpPr>
            <a:spLocks noGrp="1"/>
          </p:cNvSpPr>
          <p:nvPr>
            <p:ph type="sldImg"/>
          </p:nvPr>
        </p:nvSpPr>
        <p:spPr>
          <a:xfrm>
            <a:off x="0" y="81252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</a:t>
            </a: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to </a:t>
            </a: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mov</a:t>
            </a: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 the </a:t>
            </a: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slide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edit the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notes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&lt;header&gt;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7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8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9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F5B21F72-D664-4F67-AFE0-9C2E869D9CB0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
</Relationships>
</file>

<file path=ppt/notesSlides/_rels/notesSlide18.xml.rels><?xml version="1.0" encoding="UTF-8"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
</Relationships>
</file>

<file path=ppt/notesSlides/_rels/notesSlide19.xml.rels><?xml version="1.0" encoding="UTF-8"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
</Relationships>
</file>

<file path=ppt/notesSlides/_rels/notesSlide20.xml.rels><?xml version="1.0" encoding="UTF-8"?>
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
</Relationships>
</file>

<file path=ppt/notesSlides/_rels/notesSlide21.xml.rels><?xml version="1.0" encoding="UTF-8"?>
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
</Relationships>
</file>

<file path=ppt/notesSlides/_rels/notesSlide22.xml.rels><?xml version="1.0" encoding="UTF-8"?>
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880" cy="3083760"/>
          </a:xfrm>
          <a:prstGeom prst="rect">
            <a:avLst/>
          </a:prstGeom>
          <a:ln w="0">
            <a:noFill/>
          </a:ln>
        </p:spPr>
      </p:sp>
      <p:sp>
        <p:nvSpPr>
          <p:cNvPr id="25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4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lang="fr-FR" sz="1200" b="0" u="none" strike="noStrike">
                <a:solidFill>
                  <a:srgbClr val="000000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614A1B0C-7969-4229-8634-6D4953963B7C}" type="slidenum">
              <a:rPr lang="fr-FR" sz="1200" b="0" u="none" strike="noStrike">
                <a:solidFill>
                  <a:srgbClr val="000000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880" cy="3083760"/>
          </a:xfrm>
          <a:prstGeom prst="rect">
            <a:avLst/>
          </a:prstGeom>
          <a:ln w="0">
            <a:noFill/>
          </a:ln>
        </p:spPr>
      </p:sp>
      <p:sp>
        <p:nvSpPr>
          <p:cNvPr id="25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7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lang="fr-FR" sz="1200" b="0" u="none" strike="noStrike">
                <a:solidFill>
                  <a:srgbClr val="000000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84B93362-EC40-47A5-93D2-725AD51DFF27}" type="slidenum">
              <a:rPr lang="fr-FR" sz="1200" b="0" u="none" strike="noStrike">
                <a:solidFill>
                  <a:srgbClr val="000000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880" cy="3083760"/>
          </a:xfrm>
          <a:prstGeom prst="rect">
            <a:avLst/>
          </a:prstGeom>
          <a:ln w="0">
            <a:noFill/>
          </a:ln>
        </p:spPr>
      </p:sp>
      <p:sp>
        <p:nvSpPr>
          <p:cNvPr id="25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0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lang="fr-FR" sz="1200" b="0" u="none" strike="noStrike">
                <a:solidFill>
                  <a:srgbClr val="000000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D304938A-D333-48AB-A092-CE30FD36D6C9}" type="slidenum">
              <a:rPr lang="fr-FR" sz="1200" b="0" u="none" strike="noStrike">
                <a:solidFill>
                  <a:srgbClr val="000000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880" cy="3083760"/>
          </a:xfrm>
          <a:prstGeom prst="rect">
            <a:avLst/>
          </a:prstGeom>
          <a:ln w="0">
            <a:noFill/>
          </a:ln>
        </p:spPr>
      </p:sp>
      <p:sp>
        <p:nvSpPr>
          <p:cNvPr id="26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3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lang="fr-FR" sz="1200" b="0" u="none" strike="noStrike">
                <a:solidFill>
                  <a:srgbClr val="000000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0CABE909-C69F-41B2-84B9-F5ED566AD415}" type="slidenum">
              <a:rPr lang="fr-FR" sz="1200" b="0" u="none" strike="noStrike">
                <a:solidFill>
                  <a:srgbClr val="000000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880" cy="3083760"/>
          </a:xfrm>
          <a:prstGeom prst="rect">
            <a:avLst/>
          </a:prstGeom>
          <a:ln w="0">
            <a:noFill/>
          </a:ln>
        </p:spPr>
      </p:sp>
      <p:sp>
        <p:nvSpPr>
          <p:cNvPr id="26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6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lang="fr-FR" sz="1200" b="0" u="none" strike="noStrike">
                <a:solidFill>
                  <a:srgbClr val="000000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ABCBA3CC-A27E-4700-B5A1-6C3AD92505AF}" type="slidenum">
              <a:rPr lang="fr-FR" sz="1200" b="0" u="none" strike="noStrike">
                <a:solidFill>
                  <a:srgbClr val="000000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880" cy="3083760"/>
          </a:xfrm>
          <a:prstGeom prst="rect">
            <a:avLst/>
          </a:prstGeom>
          <a:ln w="0">
            <a:noFill/>
          </a:ln>
        </p:spPr>
      </p:sp>
      <p:sp>
        <p:nvSpPr>
          <p:cNvPr id="26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9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lang="fr-FR" sz="1200" b="0" u="none" strike="noStrike">
                <a:solidFill>
                  <a:srgbClr val="000000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674D3C00-08B0-4364-86CE-80953D321E1D}" type="slidenum">
              <a:rPr lang="fr-FR" sz="1200" b="0" u="none" strike="noStrike">
                <a:solidFill>
                  <a:srgbClr val="000000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880" cy="3083760"/>
          </a:xfrm>
          <a:prstGeom prst="rect">
            <a:avLst/>
          </a:prstGeom>
          <a:ln w="0">
            <a:noFill/>
          </a:ln>
        </p:spPr>
      </p:sp>
      <p:sp>
        <p:nvSpPr>
          <p:cNvPr id="27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2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lang="fr-FR" sz="1200" b="0" u="none" strike="noStrike">
                <a:solidFill>
                  <a:srgbClr val="000000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6343EDE7-E8C4-403A-8BD1-E77CC7E49788}" type="slidenum">
              <a:rPr lang="fr-FR" sz="1200" b="0" u="none" strike="noStrike">
                <a:solidFill>
                  <a:srgbClr val="000000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880" cy="3083760"/>
          </a:xfrm>
          <a:prstGeom prst="rect">
            <a:avLst/>
          </a:prstGeom>
          <a:ln w="0">
            <a:noFill/>
          </a:ln>
        </p:spPr>
      </p:sp>
      <p:sp>
        <p:nvSpPr>
          <p:cNvPr id="27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5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lang="fr-FR" sz="1200" b="0" u="none" strike="noStrike">
                <a:solidFill>
                  <a:srgbClr val="000000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AF5E73F1-8223-46A2-BF74-53504F5BB184}" type="slidenum">
              <a:rPr lang="fr-FR" sz="1200" b="0" u="none" strike="noStrike">
                <a:solidFill>
                  <a:srgbClr val="000000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880" cy="3083760"/>
          </a:xfrm>
          <a:prstGeom prst="rect">
            <a:avLst/>
          </a:prstGeom>
          <a:ln w="0">
            <a:noFill/>
          </a:ln>
        </p:spPr>
      </p:sp>
      <p:sp>
        <p:nvSpPr>
          <p:cNvPr id="27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8" name="PlaceHolder 3"/>
          <p:cNvSpPr>
            <a:spLocks noGrp="1"/>
          </p:cNvSpPr>
          <p:nvPr>
            <p:ph type="sldNum" idx="12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lang="fr-FR" sz="1200" b="0" u="none" strike="noStrike">
                <a:solidFill>
                  <a:srgbClr val="000000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578FC5E6-7093-4345-ABE0-138FB7C952D9}" type="slidenum">
              <a:rPr lang="fr-FR" sz="1200" b="0" u="none" strike="noStrike">
                <a:solidFill>
                  <a:srgbClr val="000000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880" cy="3083760"/>
          </a:xfrm>
          <a:prstGeom prst="rect">
            <a:avLst/>
          </a:prstGeom>
          <a:ln w="0">
            <a:noFill/>
          </a:ln>
        </p:spPr>
      </p:sp>
      <p:sp>
        <p:nvSpPr>
          <p:cNvPr id="28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1" name="PlaceHolder 3"/>
          <p:cNvSpPr>
            <a:spLocks noGrp="1"/>
          </p:cNvSpPr>
          <p:nvPr>
            <p:ph type="sldNum" idx="13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lang="fr-FR" sz="1200" b="0" u="none" strike="noStrike">
                <a:solidFill>
                  <a:srgbClr val="000000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0424B99B-77DF-40E1-8B02-70DE7F02BEC3}" type="slidenum">
              <a:rPr lang="fr-FR" sz="1200" b="0" u="none" strike="noStrike">
                <a:solidFill>
                  <a:srgbClr val="000000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880" cy="3083760"/>
          </a:xfrm>
          <a:prstGeom prst="rect">
            <a:avLst/>
          </a:prstGeom>
          <a:ln w="0">
            <a:noFill/>
          </a:ln>
        </p:spPr>
      </p:sp>
      <p:sp>
        <p:nvSpPr>
          <p:cNvPr id="28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4" name="PlaceHolder 3"/>
          <p:cNvSpPr>
            <a:spLocks noGrp="1"/>
          </p:cNvSpPr>
          <p:nvPr>
            <p:ph type="sldNum" idx="14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lang="fr-FR" sz="1200" b="0" u="none" strike="noStrike">
                <a:solidFill>
                  <a:srgbClr val="000000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07075A32-20F1-4465-936E-7F4CCD758D19}" type="slidenum">
              <a:rPr lang="fr-FR" sz="1200" b="0" u="none" strike="noStrike">
                <a:solidFill>
                  <a:srgbClr val="000000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880" cy="3083760"/>
          </a:xfrm>
          <a:prstGeom prst="rect">
            <a:avLst/>
          </a:prstGeom>
          <a:ln w="0">
            <a:noFill/>
          </a:ln>
        </p:spPr>
      </p:sp>
      <p:sp>
        <p:nvSpPr>
          <p:cNvPr id="28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7" name="PlaceHolder 3"/>
          <p:cNvSpPr>
            <a:spLocks noGrp="1"/>
          </p:cNvSpPr>
          <p:nvPr>
            <p:ph type="sldNum" idx="15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lang="fr-FR" sz="1200" b="0" u="none" strike="noStrike">
                <a:solidFill>
                  <a:srgbClr val="000000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DBE612CF-18F5-4B80-995C-5906620A7602}" type="slidenum">
              <a:rPr lang="fr-FR" sz="1200" b="0" u="none" strike="noStrike">
                <a:solidFill>
                  <a:srgbClr val="000000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880" cy="3083760"/>
          </a:xfrm>
          <a:prstGeom prst="rect">
            <a:avLst/>
          </a:prstGeom>
          <a:ln w="0">
            <a:noFill/>
          </a:ln>
        </p:spPr>
      </p:sp>
      <p:sp>
        <p:nvSpPr>
          <p:cNvPr id="28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0" name="PlaceHolder 3"/>
          <p:cNvSpPr>
            <a:spLocks noGrp="1"/>
          </p:cNvSpPr>
          <p:nvPr>
            <p:ph type="sldNum" idx="16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lang="fr-FR" sz="1200" b="0" u="none" strike="noStrike">
                <a:solidFill>
                  <a:srgbClr val="000000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26939F7A-877A-4EF4-A325-26C2D83A78C5}" type="slidenum">
              <a:rPr lang="fr-FR" sz="1200" b="0" u="none" strike="noStrike">
                <a:solidFill>
                  <a:srgbClr val="000000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880" cy="3083760"/>
          </a:xfrm>
          <a:prstGeom prst="rect">
            <a:avLst/>
          </a:prstGeom>
          <a:ln w="0">
            <a:noFill/>
          </a:ln>
        </p:spPr>
      </p:sp>
      <p:sp>
        <p:nvSpPr>
          <p:cNvPr id="29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3" name="PlaceHolder 3"/>
          <p:cNvSpPr>
            <a:spLocks noGrp="1"/>
          </p:cNvSpPr>
          <p:nvPr>
            <p:ph type="sldNum" idx="17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lang="fr-FR" sz="1200" b="0" u="none" strike="noStrike">
                <a:solidFill>
                  <a:srgbClr val="000000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179B4AD1-3F8D-4B46-873C-E0C29C9645D7}" type="slidenum">
              <a:rPr lang="fr-FR" sz="1200" b="0" u="none" strike="noStrike">
                <a:solidFill>
                  <a:srgbClr val="000000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880" cy="3083760"/>
          </a:xfrm>
          <a:prstGeom prst="rect">
            <a:avLst/>
          </a:prstGeom>
          <a:ln w="0">
            <a:noFill/>
          </a:ln>
        </p:spPr>
      </p:sp>
      <p:sp>
        <p:nvSpPr>
          <p:cNvPr id="29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6" name="PlaceHolder 3"/>
          <p:cNvSpPr>
            <a:spLocks noGrp="1"/>
          </p:cNvSpPr>
          <p:nvPr>
            <p:ph type="sldNum" idx="18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lang="fr-FR" sz="1200" b="0" u="none" strike="noStrike">
                <a:solidFill>
                  <a:srgbClr val="000000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7580824C-FE9D-49BB-9778-3A80659C33E9}" type="slidenum">
              <a:rPr lang="fr-FR" sz="1200" b="0" u="none" strike="noStrike">
                <a:solidFill>
                  <a:srgbClr val="000000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880" cy="3083760"/>
          </a:xfrm>
          <a:prstGeom prst="rect">
            <a:avLst/>
          </a:prstGeom>
          <a:ln w="0">
            <a:noFill/>
          </a:ln>
        </p:spPr>
      </p:sp>
      <p:sp>
        <p:nvSpPr>
          <p:cNvPr id="29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9" name="PlaceHolder 3"/>
          <p:cNvSpPr>
            <a:spLocks noGrp="1"/>
          </p:cNvSpPr>
          <p:nvPr>
            <p:ph type="sldNum" idx="19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lang="fr-FR" sz="1200" b="0" u="none" strike="noStrike">
                <a:solidFill>
                  <a:srgbClr val="000000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BF60E57D-D7EF-47EF-B44F-10934A4186BB}" type="slidenum">
              <a:rPr lang="fr-FR" sz="1200" b="0" u="none" strike="noStrike">
                <a:solidFill>
                  <a:srgbClr val="000000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880" cy="3083760"/>
          </a:xfrm>
          <a:prstGeom prst="rect">
            <a:avLst/>
          </a:prstGeom>
          <a:ln w="0">
            <a:noFill/>
          </a:ln>
        </p:spPr>
      </p:sp>
      <p:sp>
        <p:nvSpPr>
          <p:cNvPr id="30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2" name="PlaceHolder 3"/>
          <p:cNvSpPr>
            <a:spLocks noGrp="1"/>
          </p:cNvSpPr>
          <p:nvPr>
            <p:ph type="sldNum" idx="20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lang="fr-FR" sz="1200" b="0" u="none" strike="noStrike">
                <a:solidFill>
                  <a:srgbClr val="000000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A0A99CE7-7E36-48A9-ADBE-61B40EF92C20}" type="slidenum">
              <a:rPr lang="fr-FR" sz="1200" b="0" u="none" strike="noStrike">
                <a:solidFill>
                  <a:srgbClr val="000000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880" cy="3083760"/>
          </a:xfrm>
          <a:prstGeom prst="rect">
            <a:avLst/>
          </a:prstGeom>
          <a:ln w="0">
            <a:noFill/>
          </a:ln>
        </p:spPr>
      </p:sp>
      <p:sp>
        <p:nvSpPr>
          <p:cNvPr id="30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5" name="PlaceHolder 3"/>
          <p:cNvSpPr>
            <a:spLocks noGrp="1"/>
          </p:cNvSpPr>
          <p:nvPr>
            <p:ph type="sldNum" idx="21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lang="fr-FR" sz="1200" b="0" u="none" strike="noStrike">
                <a:solidFill>
                  <a:srgbClr val="000000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7E54789E-ADF9-4EF5-A08F-ACBFEF46015E}" type="slidenum">
              <a:rPr lang="fr-FR" sz="1200" b="0" u="none" strike="noStrike">
                <a:solidFill>
                  <a:srgbClr val="000000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880" cy="3083760"/>
          </a:xfrm>
          <a:prstGeom prst="rect">
            <a:avLst/>
          </a:prstGeom>
          <a:ln w="0">
            <a:noFill/>
          </a:ln>
        </p:spPr>
      </p:sp>
      <p:sp>
        <p:nvSpPr>
          <p:cNvPr id="30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8" name="PlaceHolder 3"/>
          <p:cNvSpPr>
            <a:spLocks noGrp="1"/>
          </p:cNvSpPr>
          <p:nvPr>
            <p:ph type="sldNum" idx="22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lang="fr-FR" sz="1200" b="0" u="none" strike="noStrike">
                <a:solidFill>
                  <a:srgbClr val="000000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5E17C988-A2A8-4A82-B4F3-A2AAAB758748}" type="slidenum">
              <a:rPr lang="fr-FR" sz="1200" b="0" u="none" strike="noStrike">
                <a:solidFill>
                  <a:srgbClr val="000000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880" cy="3083760"/>
          </a:xfrm>
          <a:prstGeom prst="rect">
            <a:avLst/>
          </a:prstGeom>
          <a:ln w="0">
            <a:noFill/>
          </a:ln>
        </p:spPr>
      </p:sp>
      <p:sp>
        <p:nvSpPr>
          <p:cNvPr id="31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1" name="PlaceHolder 3"/>
          <p:cNvSpPr>
            <a:spLocks noGrp="1"/>
          </p:cNvSpPr>
          <p:nvPr>
            <p:ph type="sldNum" idx="23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lang="fr-FR" sz="1200" b="0" u="none" strike="noStrike">
                <a:solidFill>
                  <a:srgbClr val="000000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B5FAE5C5-C413-466D-94C2-0B3AF5FCC4C7}" type="slidenum">
              <a:rPr lang="fr-FR" sz="1200" b="0" u="none" strike="noStrike">
                <a:solidFill>
                  <a:srgbClr val="000000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880" cy="3083760"/>
          </a:xfrm>
          <a:prstGeom prst="rect">
            <a:avLst/>
          </a:prstGeom>
          <a:ln w="0">
            <a:noFill/>
          </a:ln>
        </p:spPr>
      </p:sp>
      <p:sp>
        <p:nvSpPr>
          <p:cNvPr id="31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4" name="PlaceHolder 3"/>
          <p:cNvSpPr>
            <a:spLocks noGrp="1"/>
          </p:cNvSpPr>
          <p:nvPr>
            <p:ph type="sldNum" idx="24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lang="fr-FR" sz="1200" b="0" u="none" strike="noStrike">
                <a:solidFill>
                  <a:srgbClr val="000000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049E9D9E-569D-4B24-AA22-2221F4A2CA8B}" type="slidenum">
              <a:rPr lang="fr-FR" sz="1200" b="0" u="none" strike="noStrike">
                <a:solidFill>
                  <a:srgbClr val="000000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880" cy="3083760"/>
          </a:xfrm>
          <a:prstGeom prst="rect">
            <a:avLst/>
          </a:prstGeom>
          <a:ln w="0">
            <a:noFill/>
          </a:ln>
        </p:spPr>
      </p:sp>
      <p:sp>
        <p:nvSpPr>
          <p:cNvPr id="31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7" name="PlaceHolder 3"/>
          <p:cNvSpPr>
            <a:spLocks noGrp="1"/>
          </p:cNvSpPr>
          <p:nvPr>
            <p:ph type="sldNum" idx="25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lang="fr-FR" sz="1200" b="0" u="none" strike="noStrike">
                <a:solidFill>
                  <a:srgbClr val="000000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25364696-3634-4BCC-932D-B0117430F7AE}" type="slidenum">
              <a:rPr lang="fr-FR" sz="1200" b="0" u="none" strike="noStrike">
                <a:solidFill>
                  <a:srgbClr val="000000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880" cy="85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544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544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822888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880" cy="85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title text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888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body"/>
          </p:nvPr>
        </p:nvSpPr>
        <p:spPr>
          <a:xfrm>
            <a:off x="457200" y="2761920"/>
            <a:ext cx="822888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880" cy="85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edit the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title text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544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544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401544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PlaceHolder 5"/>
          <p:cNvSpPr>
            <a:spLocks noGrp="1"/>
          </p:cNvSpPr>
          <p:nvPr>
            <p:ph type="body"/>
          </p:nvPr>
        </p:nvSpPr>
        <p:spPr>
          <a:xfrm>
            <a:off x="4674240" y="2761920"/>
            <a:ext cx="401544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880" cy="85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title text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264924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 type="body"/>
          </p:nvPr>
        </p:nvSpPr>
        <p:spPr>
          <a:xfrm>
            <a:off x="3239640" y="1203480"/>
            <a:ext cx="264924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 type="body"/>
          </p:nvPr>
        </p:nvSpPr>
        <p:spPr>
          <a:xfrm>
            <a:off x="6022080" y="1203480"/>
            <a:ext cx="264924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PlaceHolder 5"/>
          <p:cNvSpPr>
            <a:spLocks noGrp="1"/>
          </p:cNvSpPr>
          <p:nvPr>
            <p:ph type="body"/>
          </p:nvPr>
        </p:nvSpPr>
        <p:spPr>
          <a:xfrm>
            <a:off x="457200" y="2761920"/>
            <a:ext cx="264924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PlaceHolder 6"/>
          <p:cNvSpPr>
            <a:spLocks noGrp="1"/>
          </p:cNvSpPr>
          <p:nvPr>
            <p:ph type="body"/>
          </p:nvPr>
        </p:nvSpPr>
        <p:spPr>
          <a:xfrm>
            <a:off x="3239640" y="2761920"/>
            <a:ext cx="264924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PlaceHolder 7"/>
          <p:cNvSpPr>
            <a:spLocks noGrp="1"/>
          </p:cNvSpPr>
          <p:nvPr>
            <p:ph type="body"/>
          </p:nvPr>
        </p:nvSpPr>
        <p:spPr>
          <a:xfrm>
            <a:off x="6022080" y="2761920"/>
            <a:ext cx="264924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</a:t>
            </a: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 to </a:t>
            </a: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edit </a:t>
            </a: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</a:t>
            </a: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title </a:t>
            </a: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text </a:t>
            </a: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</a:t>
            </a: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880" cy="85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title text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880" cy="85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edit the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title text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8880" cy="2982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880" cy="85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5440" cy="2982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5440" cy="2982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880" cy="85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Tx" preserve="1">
  <p:cSld name="Title, 2 Content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880" cy="85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544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5440" cy="2982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401544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AndTwoObj" preserve="1">
  <p:cSld name="Title Content and 2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880" cy="85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title text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5440" cy="2982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544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 type="body"/>
          </p:nvPr>
        </p:nvSpPr>
        <p:spPr>
          <a:xfrm>
            <a:off x="4674240" y="2761920"/>
            <a:ext cx="401544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Defau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880" cy="85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title text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544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544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822888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Default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880" cy="85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title text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888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PlaceHolder 3"/>
          <p:cNvSpPr>
            <a:spLocks noGrp="1"/>
          </p:cNvSpPr>
          <p:nvPr>
            <p:ph type="body"/>
          </p:nvPr>
        </p:nvSpPr>
        <p:spPr>
          <a:xfrm>
            <a:off x="457200" y="2761920"/>
            <a:ext cx="822888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Default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880" cy="85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title text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544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544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401544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PlaceHolder 5"/>
          <p:cNvSpPr>
            <a:spLocks noGrp="1"/>
          </p:cNvSpPr>
          <p:nvPr>
            <p:ph type="body"/>
          </p:nvPr>
        </p:nvSpPr>
        <p:spPr>
          <a:xfrm>
            <a:off x="4674240" y="2761920"/>
            <a:ext cx="401544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880" cy="85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title text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264924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 type="body"/>
          </p:nvPr>
        </p:nvSpPr>
        <p:spPr>
          <a:xfrm>
            <a:off x="3239640" y="1203480"/>
            <a:ext cx="264924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PlaceHolder 4"/>
          <p:cNvSpPr>
            <a:spLocks noGrp="1"/>
          </p:cNvSpPr>
          <p:nvPr>
            <p:ph type="body"/>
          </p:nvPr>
        </p:nvSpPr>
        <p:spPr>
          <a:xfrm>
            <a:off x="6022080" y="1203480"/>
            <a:ext cx="264924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PlaceHolder 5"/>
          <p:cNvSpPr>
            <a:spLocks noGrp="1"/>
          </p:cNvSpPr>
          <p:nvPr>
            <p:ph type="body"/>
          </p:nvPr>
        </p:nvSpPr>
        <p:spPr>
          <a:xfrm>
            <a:off x="457200" y="2761920"/>
            <a:ext cx="264924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PlaceHolder 6"/>
          <p:cNvSpPr>
            <a:spLocks noGrp="1"/>
          </p:cNvSpPr>
          <p:nvPr>
            <p:ph type="body"/>
          </p:nvPr>
        </p:nvSpPr>
        <p:spPr>
          <a:xfrm>
            <a:off x="3239640" y="2761920"/>
            <a:ext cx="264924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PlaceHolder 7"/>
          <p:cNvSpPr>
            <a:spLocks noGrp="1"/>
          </p:cNvSpPr>
          <p:nvPr>
            <p:ph type="body"/>
          </p:nvPr>
        </p:nvSpPr>
        <p:spPr>
          <a:xfrm>
            <a:off x="6022080" y="2761920"/>
            <a:ext cx="264924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</a:t>
            </a: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to </a:t>
            </a: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edit </a:t>
            </a: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</a:t>
            </a: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title </a:t>
            </a: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text </a:t>
            </a: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</a:t>
            </a: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Default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880" cy="85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title text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Default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880" cy="85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title text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8880" cy="2982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Default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880" cy="85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title text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5440" cy="2982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5440" cy="2982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Default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880" cy="85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title text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Default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Tx" preserve="1">
  <p:cSld name="Default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880" cy="85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title text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544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5440" cy="2982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401544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AndTwoObj" preserve="1">
  <p:cSld name="Default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880" cy="85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title text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5440" cy="2982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544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PlaceHolder 4"/>
          <p:cNvSpPr>
            <a:spLocks noGrp="1"/>
          </p:cNvSpPr>
          <p:nvPr>
            <p:ph type="body"/>
          </p:nvPr>
        </p:nvSpPr>
        <p:spPr>
          <a:xfrm>
            <a:off x="4674240" y="2761920"/>
            <a:ext cx="401544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_rels/slideMaster13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4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Masters/slideMaster1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2.jpe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6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7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8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0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chart" Target="../charts/chart2.xml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22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e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Text 0"/>
          <p:cNvSpPr/>
          <p:nvPr/>
        </p:nvSpPr>
        <p:spPr>
          <a:xfrm>
            <a:off x="720000" y="1296000"/>
            <a:ext cx="8047080" cy="182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lang="fr-FR" sz="2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DejaVu Sans"/>
              </a:rPr>
              <a:t>Modélisation des dynamiqes d’opinion dans la réduction de la consommation de viande: une approche par simulation multi-agents utilisant</a:t>
            </a:r>
            <a:endParaRPr lang="en-US" sz="2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lang="fr-FR" sz="2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DejaVu Sans"/>
              </a:rPr>
              <a:t>des données de délibération citoyenne</a:t>
            </a:r>
            <a:endParaRPr lang="en-US" sz="2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" name="Text 1"/>
          <p:cNvSpPr/>
          <p:nvPr/>
        </p:nvSpPr>
        <p:spPr>
          <a:xfrm>
            <a:off x="914400" y="3291840"/>
            <a:ext cx="7312680" cy="91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lang="fr-FR" sz="1400" b="0" i="1" u="none" strike="noStrike">
                <a:solidFill>
                  <a:srgbClr val="cadcfc"/>
                </a:solidFill>
                <a:effectLst/>
                <a:uFillTx/>
                <a:latin typeface="Calibri"/>
                <a:ea typeface="DejaVu Sans"/>
              </a:rPr>
              <a:t>Journées Scientifiques du départment Sciences de la Vie et Santé 2026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2" name="Text 2"/>
          <p:cNvSpPr/>
          <p:nvPr/>
        </p:nvSpPr>
        <p:spPr>
          <a:xfrm>
            <a:off x="914400" y="4029120"/>
            <a:ext cx="7312680" cy="36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lang="fr-FR" sz="900" b="0" u="none" strike="noStrike">
                <a:solidFill>
                  <a:srgbClr val="aaaaaa"/>
                </a:solidFill>
                <a:effectLst/>
                <a:uFillTx/>
                <a:latin typeface="Calibri"/>
                <a:ea typeface="DejaVu Sans"/>
              </a:rPr>
              <a:t>Gregor Stolte, Nicolas Darcel, Patrick Taillandier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Shape 0"/>
          <p:cNvSpPr/>
          <p:nvPr/>
        </p:nvSpPr>
        <p:spPr>
          <a:xfrm>
            <a:off x="0" y="0"/>
            <a:ext cx="9141480" cy="3632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" name="Text 1"/>
          <p:cNvSpPr/>
          <p:nvPr/>
        </p:nvSpPr>
        <p:spPr>
          <a:xfrm>
            <a:off x="182880" y="0"/>
            <a:ext cx="8775720" cy="36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fr-FR" sz="1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DejaVu Sans"/>
              </a:rPr>
              <a:t>Agenda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PlaceHolder 1"/>
          <p:cNvSpPr>
            <a:spLocks noGrp="1"/>
          </p:cNvSpPr>
          <p:nvPr>
            <p:ph/>
          </p:nvPr>
        </p:nvSpPr>
        <p:spPr>
          <a:xfrm>
            <a:off x="457200" y="843480"/>
            <a:ext cx="8228520" cy="2982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2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Notre problème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2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Les dynamiques d’opinion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2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L’expérience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2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Résultats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2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Prochaines étapes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Shape 1"/>
          <p:cNvSpPr/>
          <p:nvPr/>
        </p:nvSpPr>
        <p:spPr>
          <a:xfrm>
            <a:off x="0" y="0"/>
            <a:ext cx="9141480" cy="3632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7" name="Text 3"/>
          <p:cNvSpPr/>
          <p:nvPr/>
        </p:nvSpPr>
        <p:spPr>
          <a:xfrm>
            <a:off x="182880" y="0"/>
            <a:ext cx="8775720" cy="36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fr-FR" sz="1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DejaVu Sans"/>
              </a:rPr>
              <a:t>Notre Problème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Text 17"/>
          <p:cNvSpPr/>
          <p:nvPr/>
        </p:nvSpPr>
        <p:spPr>
          <a:xfrm>
            <a:off x="274320" y="457200"/>
            <a:ext cx="8592840" cy="54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fr-FR" sz="2000" b="1" u="none" strike="noStrike">
                <a:solidFill>
                  <a:srgbClr val="1e3a5f"/>
                </a:solidFill>
                <a:effectLst/>
                <a:uFillTx/>
                <a:latin typeface="Calibri"/>
                <a:ea typeface="DejaVu Sans"/>
              </a:rPr>
              <a:t>Transition vers les régimes durable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Shape 2"/>
          <p:cNvSpPr/>
          <p:nvPr/>
        </p:nvSpPr>
        <p:spPr>
          <a:xfrm>
            <a:off x="274320" y="1023840"/>
            <a:ext cx="8595360" cy="360"/>
          </a:xfrm>
          <a:prstGeom prst="line">
            <a:avLst/>
          </a:prstGeom>
          <a:ln w="1270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Text 18"/>
          <p:cNvSpPr/>
          <p:nvPr/>
        </p:nvSpPr>
        <p:spPr>
          <a:xfrm>
            <a:off x="274320" y="1122120"/>
            <a:ext cx="859284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fr-FR" sz="1100" b="1" u="none" strike="noStrike">
                <a:solidFill>
                  <a:srgbClr val="1e3a5f"/>
                </a:solidFill>
                <a:effectLst/>
                <a:uFillTx/>
                <a:latin typeface="Calibri"/>
                <a:ea typeface="DejaVu Sans"/>
              </a:rPr>
              <a:t>Reduction des emissions liée a la production alimentaire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Text 19"/>
          <p:cNvSpPr/>
          <p:nvPr/>
        </p:nvSpPr>
        <p:spPr>
          <a:xfrm>
            <a:off x="288000" y="2052000"/>
            <a:ext cx="8592840" cy="100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lang="fr-FR" sz="10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DejaVu Sans"/>
              </a:rPr>
              <a:t>Les choix alimentaires ont un impact sur la santé (Springmann et al., 2016), la planète (Springmann et al., 2016), et l’environnement (Garnett, 2008)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lang="fr-FR" sz="10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DejaVu Sans"/>
              </a:rPr>
              <a:t>Initiatives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lang="fr-FR" sz="10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DejaVu Sans"/>
              </a:rPr>
              <a:t>Eat-Lancet (Rockstroem et al., 2025)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lang="fr-FR" sz="10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DejaVu Sans"/>
              </a:rPr>
              <a:t>Plan National Intégré Énergie-Climat Francais 2021-2030 (European Commission, 2024)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lang="fr-FR" sz="10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DejaVu Sans"/>
              </a:rPr>
              <a:t>Paris Agreement (OECD, 2025)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lang="fr-FR" sz="10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DejaVu Sans"/>
              </a:rPr>
              <a:t>Ceci implique la </a:t>
            </a:r>
            <a:r>
              <a:rPr lang="fr-FR" sz="1000" b="1" u="none" strike="noStrike">
                <a:solidFill>
                  <a:srgbClr val="333333"/>
                </a:solidFill>
                <a:effectLst/>
                <a:uFillTx/>
                <a:latin typeface="Calibri"/>
                <a:ea typeface="DejaVu Sans"/>
              </a:rPr>
              <a:t>réduction</a:t>
            </a:r>
            <a:r>
              <a:rPr lang="fr-FR" sz="10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DejaVu Sans"/>
              </a:rPr>
              <a:t> de consomation de viande et un </a:t>
            </a:r>
            <a:r>
              <a:rPr lang="fr-FR" sz="1000" b="1" u="none" strike="noStrike">
                <a:solidFill>
                  <a:srgbClr val="333333"/>
                </a:solidFill>
                <a:effectLst/>
                <a:uFillTx/>
                <a:latin typeface="Calibri"/>
                <a:ea typeface="DejaVu Sans"/>
              </a:rPr>
              <a:t>changement</a:t>
            </a:r>
            <a:r>
              <a:rPr lang="fr-FR" sz="10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DejaVu Sans"/>
              </a:rPr>
              <a:t> de régime 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Shape 6"/>
          <p:cNvSpPr/>
          <p:nvPr/>
        </p:nvSpPr>
        <p:spPr>
          <a:xfrm>
            <a:off x="0" y="0"/>
            <a:ext cx="9141480" cy="3632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" name="Text 21"/>
          <p:cNvSpPr/>
          <p:nvPr/>
        </p:nvSpPr>
        <p:spPr>
          <a:xfrm>
            <a:off x="182880" y="0"/>
            <a:ext cx="8775720" cy="36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fr-FR" sz="1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DejaVu Sans"/>
              </a:rPr>
              <a:t>Notre Problème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Text 22"/>
          <p:cNvSpPr/>
          <p:nvPr/>
        </p:nvSpPr>
        <p:spPr>
          <a:xfrm>
            <a:off x="274320" y="457200"/>
            <a:ext cx="8592840" cy="54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en-US" sz="2000" b="1" u="none" strike="noStrike">
                <a:solidFill>
                  <a:srgbClr val="1e3a5f"/>
                </a:solidFill>
                <a:effectLst/>
                <a:uFillTx/>
                <a:latin typeface="Calibri"/>
                <a:ea typeface="DejaVu Sans"/>
              </a:rPr>
              <a:t>Comment peut on réduire notre consommation?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Shape 7"/>
          <p:cNvSpPr/>
          <p:nvPr/>
        </p:nvSpPr>
        <p:spPr>
          <a:xfrm>
            <a:off x="274320" y="1023840"/>
            <a:ext cx="8595360" cy="360"/>
          </a:xfrm>
          <a:prstGeom prst="line">
            <a:avLst/>
          </a:prstGeom>
          <a:ln w="1270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Text 23"/>
          <p:cNvSpPr/>
          <p:nvPr/>
        </p:nvSpPr>
        <p:spPr>
          <a:xfrm>
            <a:off x="274320" y="1122120"/>
            <a:ext cx="859284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fr-FR" sz="1100" b="1" u="none" strike="noStrike">
                <a:solidFill>
                  <a:srgbClr val="1e3a5f"/>
                </a:solidFill>
                <a:effectLst/>
                <a:uFillTx/>
                <a:latin typeface="Calibri"/>
                <a:ea typeface="DejaVu Sans"/>
              </a:rPr>
              <a:t>Les choix alimentaires sont social (Cruwys et al., 2015)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Text 24"/>
          <p:cNvSpPr/>
          <p:nvPr/>
        </p:nvSpPr>
        <p:spPr>
          <a:xfrm>
            <a:off x="288000" y="2268000"/>
            <a:ext cx="8592840" cy="100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lang="fr-FR" sz="10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DejaVu Sans"/>
              </a:rPr>
              <a:t>Les attitudes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lang="fr-FR" sz="10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DejaVu Sans"/>
              </a:rPr>
              <a:t>Crous, restaurants, cantines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lang="fr-FR" sz="10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DejaVu Sans"/>
              </a:rPr>
              <a:t>Méme tout seul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lang="fr-FR" sz="10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DejaVu Sans"/>
              </a:rPr>
              <a:t>Est-ce qu’on s’influence?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lang="fr-FR" sz="1000" b="1" u="none" strike="noStrike">
                <a:solidFill>
                  <a:srgbClr val="333333"/>
                </a:solidFill>
                <a:effectLst/>
                <a:uFillTx/>
                <a:latin typeface="Calibri"/>
                <a:ea typeface="DejaVu Sans"/>
              </a:rPr>
              <a:t>OUI!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lang="fr-FR" sz="10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DejaVu Sans"/>
              </a:rPr>
              <a:t>Et comment?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lang="fr-FR" sz="10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DejaVu Sans"/>
              </a:rPr>
              <a:t>Observation (choix des autres, réagissements)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48000" lvl="2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lang="fr-FR" sz="10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DejaVu Sans"/>
              </a:rPr>
              <a:t>Imitation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48000" lvl="2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lang="fr-FR" sz="10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DejaVu Sans"/>
              </a:rPr>
              <a:t>Repulsion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lang="fr-FR" sz="10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DejaVu Sans"/>
              </a:rPr>
              <a:t>Les recherches en sciences social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lang="fr-FR" sz="10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DejaVu Sans"/>
              </a:rPr>
              <a:t>Nudge – Schäufele-Elbers et al., 2025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lang="fr-FR" sz="10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DejaVu Sans"/>
              </a:rPr>
              <a:t>Normes sociales – Pollicino et al., 2025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Shape 8"/>
          <p:cNvSpPr/>
          <p:nvPr/>
        </p:nvSpPr>
        <p:spPr>
          <a:xfrm>
            <a:off x="0" y="0"/>
            <a:ext cx="9141480" cy="3632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9" name="Text 40"/>
          <p:cNvSpPr/>
          <p:nvPr/>
        </p:nvSpPr>
        <p:spPr>
          <a:xfrm>
            <a:off x="182880" y="0"/>
            <a:ext cx="8775720" cy="36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fr-FR" sz="1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DejaVu Sans"/>
              </a:rPr>
              <a:t>Les dynamiques d’opinion - 1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Text 41"/>
          <p:cNvSpPr/>
          <p:nvPr/>
        </p:nvSpPr>
        <p:spPr>
          <a:xfrm>
            <a:off x="274320" y="457200"/>
            <a:ext cx="8592840" cy="54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fr-FR" sz="2000" b="1" u="none" strike="noStrike">
                <a:solidFill>
                  <a:srgbClr val="1e3a5f"/>
                </a:solidFill>
                <a:effectLst/>
                <a:uFillTx/>
                <a:latin typeface="Calibri"/>
                <a:ea typeface="DejaVu Sans"/>
              </a:rPr>
              <a:t>Characterizer l’influence social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Shape 18"/>
          <p:cNvSpPr/>
          <p:nvPr/>
        </p:nvSpPr>
        <p:spPr>
          <a:xfrm>
            <a:off x="274320" y="1023840"/>
            <a:ext cx="8595360" cy="360"/>
          </a:xfrm>
          <a:prstGeom prst="line">
            <a:avLst/>
          </a:prstGeom>
          <a:ln w="1270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Text 42"/>
          <p:cNvSpPr/>
          <p:nvPr/>
        </p:nvSpPr>
        <p:spPr>
          <a:xfrm>
            <a:off x="274320" y="1122120"/>
            <a:ext cx="859284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fr-FR" sz="1100" b="1" u="none" strike="noStrike">
                <a:solidFill>
                  <a:srgbClr val="1e3a5f"/>
                </a:solidFill>
                <a:effectLst/>
                <a:uFillTx/>
                <a:latin typeface="Calibri"/>
                <a:ea typeface="DejaVu Sans"/>
              </a:rPr>
              <a:t>Trois exemples de modèles d’influence social (Flache et al., 2017)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3" name=""/>
          <p:cNvPicPr/>
          <p:nvPr/>
        </p:nvPicPr>
        <p:blipFill>
          <a:blip r:embed="rId1"/>
          <a:srcRect l="0" t="10360" r="72859" b="0"/>
          <a:stretch/>
        </p:blipFill>
        <p:spPr>
          <a:xfrm>
            <a:off x="900000" y="1567080"/>
            <a:ext cx="1607400" cy="3112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4" name="Text 43"/>
          <p:cNvSpPr/>
          <p:nvPr/>
        </p:nvSpPr>
        <p:spPr>
          <a:xfrm>
            <a:off x="3934800" y="2520000"/>
            <a:ext cx="4272840" cy="100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lang="fr-FR" sz="16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DejaVu Sans"/>
              </a:rPr>
              <a:t>Tout le monde est connecté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lang="fr-FR" sz="16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DejaVu Sans"/>
              </a:rPr>
              <a:t>Chaque individu s’influence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lang="fr-FR" sz="16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DejaVu Sans"/>
              </a:rPr>
              <a:t>Réduction de différence d’opinion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lang="fr-FR" sz="16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DejaVu Sans"/>
              </a:rPr>
              <a:t>Long-terme : consensus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Shape 12"/>
          <p:cNvSpPr/>
          <p:nvPr/>
        </p:nvSpPr>
        <p:spPr>
          <a:xfrm>
            <a:off x="0" y="0"/>
            <a:ext cx="9141480" cy="3632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6" name="Text 31"/>
          <p:cNvSpPr/>
          <p:nvPr/>
        </p:nvSpPr>
        <p:spPr>
          <a:xfrm>
            <a:off x="182880" y="0"/>
            <a:ext cx="8775720" cy="36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fr-FR" sz="1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DejaVu Sans"/>
              </a:rPr>
              <a:t>Les dynamiques d’opinion - 2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Text 32"/>
          <p:cNvSpPr/>
          <p:nvPr/>
        </p:nvSpPr>
        <p:spPr>
          <a:xfrm>
            <a:off x="274320" y="457200"/>
            <a:ext cx="8592840" cy="54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fr-FR" sz="2000" b="1" u="none" strike="noStrike">
                <a:solidFill>
                  <a:srgbClr val="1e3a5f"/>
                </a:solidFill>
                <a:effectLst/>
                <a:uFillTx/>
                <a:latin typeface="Calibri"/>
                <a:ea typeface="DejaVu Sans"/>
              </a:rPr>
              <a:t>Characterizer l’influence social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Shape 13"/>
          <p:cNvSpPr/>
          <p:nvPr/>
        </p:nvSpPr>
        <p:spPr>
          <a:xfrm>
            <a:off x="274320" y="1023840"/>
            <a:ext cx="8595360" cy="360"/>
          </a:xfrm>
          <a:prstGeom prst="line">
            <a:avLst/>
          </a:prstGeom>
          <a:ln w="1270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Text 33"/>
          <p:cNvSpPr/>
          <p:nvPr/>
        </p:nvSpPr>
        <p:spPr>
          <a:xfrm>
            <a:off x="274320" y="1122120"/>
            <a:ext cx="859284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fr-FR" sz="1100" b="1" u="none" strike="noStrike">
                <a:solidFill>
                  <a:srgbClr val="1e3a5f"/>
                </a:solidFill>
                <a:effectLst/>
                <a:uFillTx/>
                <a:latin typeface="Calibri"/>
                <a:ea typeface="DejaVu Sans"/>
              </a:rPr>
              <a:t>Trois exemples de modèles d’influence social (Flache et al., 2017)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10" name=""/>
          <p:cNvPicPr/>
          <p:nvPr/>
        </p:nvPicPr>
        <p:blipFill>
          <a:blip r:embed="rId1"/>
          <a:srcRect l="33388" t="11885" r="36234" b="0"/>
          <a:stretch/>
        </p:blipFill>
        <p:spPr>
          <a:xfrm>
            <a:off x="720000" y="1619280"/>
            <a:ext cx="1799640" cy="3060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1" name="Text 25"/>
          <p:cNvSpPr/>
          <p:nvPr/>
        </p:nvSpPr>
        <p:spPr>
          <a:xfrm>
            <a:off x="3970800" y="2658240"/>
            <a:ext cx="4272840" cy="100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lang="fr-FR" sz="16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DejaVu Sans"/>
              </a:rPr>
              <a:t>Tout le monde est connecté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lang="fr-FR" sz="16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DejaVu Sans"/>
              </a:rPr>
              <a:t>Attraction: seul les individus assez similaire s’influence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lang="fr-FR" sz="16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DejaVu Sans"/>
              </a:rPr>
              <a:t>Réduction de différence d’opinion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lang="fr-FR" sz="16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DejaVu Sans"/>
              </a:rPr>
              <a:t>Long-terme : fragmentation (potentiel)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Shape 14"/>
          <p:cNvSpPr/>
          <p:nvPr/>
        </p:nvSpPr>
        <p:spPr>
          <a:xfrm>
            <a:off x="0" y="0"/>
            <a:ext cx="9141480" cy="3632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3" name="Text 34"/>
          <p:cNvSpPr/>
          <p:nvPr/>
        </p:nvSpPr>
        <p:spPr>
          <a:xfrm>
            <a:off x="182880" y="0"/>
            <a:ext cx="8775720" cy="36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fr-FR" sz="1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DejaVu Sans"/>
              </a:rPr>
              <a:t>Les dynamiques d’opinion - 3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Text 35"/>
          <p:cNvSpPr/>
          <p:nvPr/>
        </p:nvSpPr>
        <p:spPr>
          <a:xfrm>
            <a:off x="274320" y="457200"/>
            <a:ext cx="8592840" cy="54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fr-FR" sz="2000" b="1" u="none" strike="noStrike">
                <a:solidFill>
                  <a:srgbClr val="1e3a5f"/>
                </a:solidFill>
                <a:effectLst/>
                <a:uFillTx/>
                <a:latin typeface="Calibri"/>
                <a:ea typeface="DejaVu Sans"/>
              </a:rPr>
              <a:t>Characterizer L’influence Social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Shape 15"/>
          <p:cNvSpPr/>
          <p:nvPr/>
        </p:nvSpPr>
        <p:spPr>
          <a:xfrm>
            <a:off x="274320" y="1023840"/>
            <a:ext cx="8595360" cy="360"/>
          </a:xfrm>
          <a:prstGeom prst="line">
            <a:avLst/>
          </a:prstGeom>
          <a:ln w="1270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Text 36"/>
          <p:cNvSpPr/>
          <p:nvPr/>
        </p:nvSpPr>
        <p:spPr>
          <a:xfrm>
            <a:off x="274320" y="1122120"/>
            <a:ext cx="859284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fr-FR" sz="1100" b="1" u="none" strike="noStrike">
                <a:solidFill>
                  <a:srgbClr val="1e3a5f"/>
                </a:solidFill>
                <a:effectLst/>
                <a:uFillTx/>
                <a:latin typeface="Calibri"/>
                <a:ea typeface="DejaVu Sans"/>
              </a:rPr>
              <a:t>Trois exemples de modèles d’influence social (Flache et al., 2017)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17" name=""/>
          <p:cNvPicPr/>
          <p:nvPr/>
        </p:nvPicPr>
        <p:blipFill>
          <a:blip r:embed="rId1"/>
          <a:srcRect l="72655" t="11878" r="0" b="0"/>
          <a:stretch/>
        </p:blipFill>
        <p:spPr>
          <a:xfrm>
            <a:off x="900000" y="1584000"/>
            <a:ext cx="1619640" cy="3059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8" name="Text 26"/>
          <p:cNvSpPr/>
          <p:nvPr/>
        </p:nvSpPr>
        <p:spPr>
          <a:xfrm>
            <a:off x="3971160" y="2766600"/>
            <a:ext cx="4272840" cy="100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lang="fr-FR" sz="16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DejaVu Sans"/>
              </a:rPr>
              <a:t>Tout le monde est connecté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lang="fr-FR" sz="16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DejaVu Sans"/>
              </a:rPr>
              <a:t>Attraction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lang="fr-FR" sz="16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DejaVu Sans"/>
              </a:rPr>
              <a:t> 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lang="fr-FR" sz="16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DejaVu Sans"/>
              </a:rPr>
              <a:t>Répulsion : les individus pas assez similaire se repousse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lang="fr-FR" sz="16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DejaVu Sans"/>
              </a:rPr>
              <a:t>Réduction/Augmentation de différence d’opinion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lang="fr-FR" sz="16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DejaVu Sans"/>
              </a:rPr>
              <a:t>Long-terme : fragmentation/bi-polarization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Shape 10"/>
          <p:cNvSpPr/>
          <p:nvPr/>
        </p:nvSpPr>
        <p:spPr>
          <a:xfrm>
            <a:off x="0" y="0"/>
            <a:ext cx="9141480" cy="3632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0" name="Text 28"/>
          <p:cNvSpPr/>
          <p:nvPr/>
        </p:nvSpPr>
        <p:spPr>
          <a:xfrm>
            <a:off x="182880" y="0"/>
            <a:ext cx="8775720" cy="36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fr-FR" sz="1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DejaVu Sans"/>
              </a:rPr>
              <a:t>Les dynamiques d’opinion - 4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Text 29"/>
          <p:cNvSpPr/>
          <p:nvPr/>
        </p:nvSpPr>
        <p:spPr>
          <a:xfrm>
            <a:off x="274320" y="457200"/>
            <a:ext cx="8592840" cy="54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fr-FR" sz="2000" b="1" u="none" strike="noStrike">
                <a:solidFill>
                  <a:srgbClr val="1e3a5f"/>
                </a:solidFill>
                <a:effectLst/>
                <a:uFillTx/>
                <a:latin typeface="Calibri"/>
                <a:ea typeface="DejaVu Sans"/>
              </a:rPr>
              <a:t>Characterizer L’influence Social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Shape 11"/>
          <p:cNvSpPr/>
          <p:nvPr/>
        </p:nvSpPr>
        <p:spPr>
          <a:xfrm>
            <a:off x="274320" y="1023840"/>
            <a:ext cx="8595360" cy="360"/>
          </a:xfrm>
          <a:prstGeom prst="line">
            <a:avLst/>
          </a:prstGeom>
          <a:ln w="1270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Text 30"/>
          <p:cNvSpPr/>
          <p:nvPr/>
        </p:nvSpPr>
        <p:spPr>
          <a:xfrm>
            <a:off x="274320" y="1122120"/>
            <a:ext cx="859284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fr-FR" sz="1100" b="1" u="none" strike="noStrike">
                <a:solidFill>
                  <a:srgbClr val="1e3a5f"/>
                </a:solidFill>
                <a:effectLst/>
                <a:uFillTx/>
                <a:latin typeface="Calibri"/>
                <a:ea typeface="DejaVu Sans"/>
              </a:rPr>
              <a:t>Trois exemples de modèles d’influence social (Flache et al., 2017)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24" name=""/>
          <p:cNvPicPr/>
          <p:nvPr/>
        </p:nvPicPr>
        <p:blipFill>
          <a:blip r:embed="rId1"/>
          <a:stretch/>
        </p:blipFill>
        <p:spPr>
          <a:xfrm>
            <a:off x="1595880" y="1394280"/>
            <a:ext cx="5927760" cy="34725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Shape 16"/>
          <p:cNvSpPr/>
          <p:nvPr/>
        </p:nvSpPr>
        <p:spPr>
          <a:xfrm>
            <a:off x="0" y="0"/>
            <a:ext cx="9141480" cy="3632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6" name="Text 20"/>
          <p:cNvSpPr/>
          <p:nvPr/>
        </p:nvSpPr>
        <p:spPr>
          <a:xfrm>
            <a:off x="182880" y="0"/>
            <a:ext cx="8775720" cy="36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fr-FR" sz="1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DejaVu Sans"/>
              </a:rPr>
              <a:t>Les dynamiques d’opinion - 5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" name="Text 38"/>
          <p:cNvSpPr/>
          <p:nvPr/>
        </p:nvSpPr>
        <p:spPr>
          <a:xfrm>
            <a:off x="274320" y="457200"/>
            <a:ext cx="8592840" cy="54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fr-FR" sz="2000" b="1" u="none" strike="noStrike">
                <a:solidFill>
                  <a:srgbClr val="1e3a5f"/>
                </a:solidFill>
                <a:effectLst/>
                <a:uFillTx/>
                <a:latin typeface="Calibri"/>
                <a:ea typeface="DejaVu Sans"/>
              </a:rPr>
              <a:t>La Délibération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" name="Shape 17"/>
          <p:cNvSpPr/>
          <p:nvPr/>
        </p:nvSpPr>
        <p:spPr>
          <a:xfrm>
            <a:off x="274320" y="1023840"/>
            <a:ext cx="8595360" cy="360"/>
          </a:xfrm>
          <a:prstGeom prst="line">
            <a:avLst/>
          </a:prstGeom>
          <a:ln w="1270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" name="Text 39"/>
          <p:cNvSpPr/>
          <p:nvPr/>
        </p:nvSpPr>
        <p:spPr>
          <a:xfrm>
            <a:off x="274320" y="1122120"/>
            <a:ext cx="859284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fr-FR" sz="1100" b="1" u="none" strike="noStrike">
                <a:solidFill>
                  <a:srgbClr val="1e3a5f"/>
                </a:solidFill>
                <a:effectLst/>
                <a:uFillTx/>
                <a:latin typeface="Calibri"/>
                <a:ea typeface="DejaVu Sans"/>
              </a:rPr>
              <a:t>Le contexte de changement d’attitudes et de consommation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" name="Text 27"/>
          <p:cNvSpPr/>
          <p:nvPr/>
        </p:nvSpPr>
        <p:spPr>
          <a:xfrm>
            <a:off x="4907160" y="2808360"/>
            <a:ext cx="4272840" cy="100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lang="fr-FR" sz="16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DejaVu Sans"/>
              </a:rPr>
              <a:t>Discussion commune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lang="fr-FR" sz="16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DejaVu Sans"/>
              </a:rPr>
              <a:t>Mini-publiques : experts - individus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lang="fr-FR" sz="16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DejaVu Sans"/>
              </a:rPr>
              <a:t>Convention Citoyenne pour le Climat, 2021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lang="fr-FR" sz="16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DejaVu Sans"/>
              </a:rPr>
              <a:t>“View from manywhere” (Niemeyer et al., 2024)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lang="fr-FR" sz="16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DejaVu Sans"/>
              </a:rPr>
              <a:t>Normes sociales et nudges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31" name=""/>
          <p:cNvPicPr/>
          <p:nvPr/>
        </p:nvPicPr>
        <p:blipFill>
          <a:blip r:embed="rId1"/>
          <a:stretch/>
        </p:blipFill>
        <p:spPr>
          <a:xfrm>
            <a:off x="228600" y="1714680"/>
            <a:ext cx="4550760" cy="30859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Shape 9"/>
          <p:cNvSpPr/>
          <p:nvPr/>
        </p:nvSpPr>
        <p:spPr>
          <a:xfrm>
            <a:off x="0" y="0"/>
            <a:ext cx="9141480" cy="3632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3" name="Text 37"/>
          <p:cNvSpPr/>
          <p:nvPr/>
        </p:nvSpPr>
        <p:spPr>
          <a:xfrm>
            <a:off x="182880" y="0"/>
            <a:ext cx="8775720" cy="36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fr-FR" sz="1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DejaVu Sans"/>
              </a:rPr>
              <a:t>L’expérience - 1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" name="Text 44"/>
          <p:cNvSpPr/>
          <p:nvPr/>
        </p:nvSpPr>
        <p:spPr>
          <a:xfrm>
            <a:off x="274320" y="457200"/>
            <a:ext cx="8592840" cy="54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fr-FR" sz="2000" b="1" u="none" strike="noStrike">
                <a:solidFill>
                  <a:srgbClr val="1e3a5f"/>
                </a:solidFill>
                <a:effectLst/>
                <a:uFillTx/>
                <a:latin typeface="Calibri"/>
                <a:ea typeface="DejaVu Sans"/>
              </a:rPr>
              <a:t>Notre </a:t>
            </a:r>
            <a:r>
              <a:rPr lang="fr-FR" sz="2000" b="1" u="none" strike="noStrike">
                <a:solidFill>
                  <a:srgbClr val="1e3a5f"/>
                </a:solidFill>
                <a:effectLst/>
                <a:uFillTx/>
                <a:latin typeface="Calibri"/>
                <a:ea typeface="DejaVu Sans"/>
              </a:rPr>
              <a:t>Expérien</a:t>
            </a:r>
            <a:r>
              <a:rPr lang="fr-FR" sz="2000" b="1" u="none" strike="noStrike">
                <a:solidFill>
                  <a:srgbClr val="1e3a5f"/>
                </a:solidFill>
                <a:effectLst/>
                <a:uFillTx/>
                <a:latin typeface="Calibri"/>
                <a:ea typeface="DejaVu Sans"/>
              </a:rPr>
              <a:t>ce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" name="Shape 19"/>
          <p:cNvSpPr/>
          <p:nvPr/>
        </p:nvSpPr>
        <p:spPr>
          <a:xfrm>
            <a:off x="274320" y="1023840"/>
            <a:ext cx="8595360" cy="360"/>
          </a:xfrm>
          <a:prstGeom prst="line">
            <a:avLst/>
          </a:prstGeom>
          <a:ln w="1270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" name="Text 45"/>
          <p:cNvSpPr/>
          <p:nvPr/>
        </p:nvSpPr>
        <p:spPr>
          <a:xfrm>
            <a:off x="274320" y="1122120"/>
            <a:ext cx="859284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fr-FR" sz="1100" b="1" u="none" strike="noStrike">
                <a:solidFill>
                  <a:srgbClr val="1e3a5f"/>
                </a:solidFill>
                <a:effectLst/>
                <a:uFillTx/>
                <a:latin typeface="Calibri"/>
                <a:ea typeface="DejaVu Sans"/>
              </a:rPr>
              <a:t>La simulation </a:t>
            </a:r>
            <a:r>
              <a:rPr lang="fr-FR" sz="1100" b="1" u="none" strike="noStrike">
                <a:solidFill>
                  <a:srgbClr val="1e3a5f"/>
                </a:solidFill>
                <a:effectLst/>
                <a:uFillTx/>
                <a:latin typeface="Calibri"/>
                <a:ea typeface="DejaVu Sans"/>
              </a:rPr>
              <a:t>multi-agent et </a:t>
            </a:r>
            <a:r>
              <a:rPr lang="fr-FR" sz="1100" b="1" u="none" strike="noStrike">
                <a:solidFill>
                  <a:srgbClr val="1e3a5f"/>
                </a:solidFill>
                <a:effectLst/>
                <a:uFillTx/>
                <a:latin typeface="Calibri"/>
                <a:ea typeface="DejaVu Sans"/>
              </a:rPr>
              <a:t>le </a:t>
            </a:r>
            <a:r>
              <a:rPr lang="fr-FR" sz="1100" b="1" u="none" strike="noStrike">
                <a:solidFill>
                  <a:srgbClr val="1e3a5f"/>
                </a:solidFill>
                <a:effectLst/>
                <a:uFillTx/>
                <a:latin typeface="Calibri"/>
                <a:ea typeface="DejaVu Sans"/>
              </a:rPr>
              <a:t>comportement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" name="Text 46"/>
          <p:cNvSpPr/>
          <p:nvPr/>
        </p:nvSpPr>
        <p:spPr>
          <a:xfrm>
            <a:off x="4907160" y="2808360"/>
            <a:ext cx="4272840" cy="100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lang="fr-FR" sz="16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DejaVu Sans"/>
              </a:rPr>
              <a:t>Dheilly </a:t>
            </a:r>
            <a:r>
              <a:rPr lang="fr-FR" sz="16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DejaVu Sans"/>
              </a:rPr>
              <a:t>et al. </a:t>
            </a:r>
            <a:r>
              <a:rPr lang="fr-FR" sz="16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DejaVu Sans"/>
              </a:rPr>
              <a:t>(unpubli</a:t>
            </a:r>
            <a:r>
              <a:rPr lang="fr-FR" sz="16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DejaVu Sans"/>
              </a:rPr>
              <a:t>shed)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lang="fr-FR" sz="16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DejaVu Sans"/>
              </a:rPr>
              <a:t>Mini-</a:t>
            </a:r>
            <a:r>
              <a:rPr lang="fr-FR" sz="16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DejaVu Sans"/>
              </a:rPr>
              <a:t>publique</a:t>
            </a:r>
            <a:r>
              <a:rPr lang="fr-FR" sz="16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DejaVu Sans"/>
              </a:rPr>
              <a:t>s → </a:t>
            </a:r>
            <a:r>
              <a:rPr lang="fr-FR" sz="16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DejaVu Sans"/>
              </a:rPr>
              <a:t>Débats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lang="fr-FR" sz="16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DejaVu Sans"/>
              </a:rPr>
              <a:t>GAMA!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lang="fr-FR" sz="16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DejaVu Sans"/>
              </a:rPr>
              <a:t> 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Shape 20"/>
          <p:cNvSpPr/>
          <p:nvPr/>
        </p:nvSpPr>
        <p:spPr>
          <a:xfrm>
            <a:off x="0" y="0"/>
            <a:ext cx="9141480" cy="3632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9" name="Text 47"/>
          <p:cNvSpPr/>
          <p:nvPr/>
        </p:nvSpPr>
        <p:spPr>
          <a:xfrm>
            <a:off x="182880" y="0"/>
            <a:ext cx="8775720" cy="36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fr-FR" sz="1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DejaVu Sans"/>
              </a:rPr>
              <a:t>L’expérience - 2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Text 48"/>
          <p:cNvSpPr/>
          <p:nvPr/>
        </p:nvSpPr>
        <p:spPr>
          <a:xfrm>
            <a:off x="274320" y="457200"/>
            <a:ext cx="8592840" cy="54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fr-FR" sz="2000" b="1" u="none" strike="noStrike">
                <a:solidFill>
                  <a:srgbClr val="1e3a5f"/>
                </a:solidFill>
                <a:effectLst/>
                <a:uFillTx/>
                <a:latin typeface="Calibri"/>
                <a:ea typeface="DejaVu Sans"/>
              </a:rPr>
              <a:t>Notre </a:t>
            </a:r>
            <a:r>
              <a:rPr lang="fr-FR" sz="2000" b="1" u="none" strike="noStrike">
                <a:solidFill>
                  <a:srgbClr val="1e3a5f"/>
                </a:solidFill>
                <a:effectLst/>
                <a:uFillTx/>
                <a:latin typeface="Calibri"/>
                <a:ea typeface="DejaVu Sans"/>
              </a:rPr>
              <a:t>Hypothè</a:t>
            </a:r>
            <a:r>
              <a:rPr lang="fr-FR" sz="2000" b="1" u="none" strike="noStrike">
                <a:solidFill>
                  <a:srgbClr val="1e3a5f"/>
                </a:solidFill>
                <a:effectLst/>
                <a:uFillTx/>
                <a:latin typeface="Calibri"/>
                <a:ea typeface="DejaVu Sans"/>
              </a:rPr>
              <a:t>ses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Shape 21"/>
          <p:cNvSpPr/>
          <p:nvPr/>
        </p:nvSpPr>
        <p:spPr>
          <a:xfrm>
            <a:off x="274320" y="1023840"/>
            <a:ext cx="8595360" cy="360"/>
          </a:xfrm>
          <a:prstGeom prst="line">
            <a:avLst/>
          </a:prstGeom>
          <a:ln w="1270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" name="Text 49"/>
          <p:cNvSpPr/>
          <p:nvPr/>
        </p:nvSpPr>
        <p:spPr>
          <a:xfrm>
            <a:off x="274320" y="1122120"/>
            <a:ext cx="859284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fr-FR" sz="1100" b="1" u="none" strike="noStrike">
                <a:solidFill>
                  <a:srgbClr val="1e3a5f"/>
                </a:solidFill>
                <a:effectLst/>
                <a:uFillTx/>
                <a:latin typeface="Calibri"/>
                <a:ea typeface="DejaVu Sans"/>
              </a:rPr>
              <a:t>La simulation </a:t>
            </a:r>
            <a:r>
              <a:rPr lang="fr-FR" sz="1100" b="1" u="none" strike="noStrike">
                <a:solidFill>
                  <a:srgbClr val="1e3a5f"/>
                </a:solidFill>
                <a:effectLst/>
                <a:uFillTx/>
                <a:latin typeface="Calibri"/>
                <a:ea typeface="DejaVu Sans"/>
              </a:rPr>
              <a:t>multi-agent et </a:t>
            </a:r>
            <a:r>
              <a:rPr lang="fr-FR" sz="1100" b="1" u="none" strike="noStrike">
                <a:solidFill>
                  <a:srgbClr val="1e3a5f"/>
                </a:solidFill>
                <a:effectLst/>
                <a:uFillTx/>
                <a:latin typeface="Calibri"/>
                <a:ea typeface="DejaVu Sans"/>
              </a:rPr>
              <a:t>le </a:t>
            </a:r>
            <a:r>
              <a:rPr lang="fr-FR" sz="1100" b="1" u="none" strike="noStrike">
                <a:solidFill>
                  <a:srgbClr val="1e3a5f"/>
                </a:solidFill>
                <a:effectLst/>
                <a:uFillTx/>
                <a:latin typeface="Calibri"/>
                <a:ea typeface="DejaVu Sans"/>
              </a:rPr>
              <a:t>comportement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" name="Text 50"/>
          <p:cNvSpPr/>
          <p:nvPr/>
        </p:nvSpPr>
        <p:spPr>
          <a:xfrm>
            <a:off x="299160" y="2521080"/>
            <a:ext cx="8844840" cy="100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lang="fr-FR" sz="16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DejaVu Sans"/>
              </a:rPr>
              <a:t>Est-ce que </a:t>
            </a:r>
            <a:r>
              <a:rPr lang="fr-FR" sz="16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DejaVu Sans"/>
              </a:rPr>
              <a:t>les </a:t>
            </a:r>
            <a:r>
              <a:rPr lang="fr-FR" sz="16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DejaVu Sans"/>
              </a:rPr>
              <a:t>attitudes </a:t>
            </a:r>
            <a:r>
              <a:rPr lang="fr-FR" sz="16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DejaVu Sans"/>
              </a:rPr>
              <a:t>avant la </a:t>
            </a:r>
            <a:r>
              <a:rPr lang="fr-FR" sz="16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DejaVu Sans"/>
              </a:rPr>
              <a:t>délibérati</a:t>
            </a:r>
            <a:r>
              <a:rPr lang="fr-FR" sz="16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DejaVu Sans"/>
              </a:rPr>
              <a:t>on sont </a:t>
            </a:r>
            <a:r>
              <a:rPr lang="fr-FR" sz="16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DejaVu Sans"/>
              </a:rPr>
              <a:t>liées a </a:t>
            </a:r>
            <a:r>
              <a:rPr lang="fr-FR" sz="16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DejaVu Sans"/>
              </a:rPr>
              <a:t>ceux </a:t>
            </a:r>
            <a:r>
              <a:rPr lang="fr-FR" sz="16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DejaVu Sans"/>
              </a:rPr>
              <a:t>d’après?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lang="fr-FR" sz="16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DejaVu Sans"/>
              </a:rPr>
              <a:t>Individus </a:t>
            </a:r>
            <a:r>
              <a:rPr lang="fr-FR" sz="16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DejaVu Sans"/>
              </a:rPr>
              <a:t>avec </a:t>
            </a:r>
            <a:r>
              <a:rPr lang="fr-FR" sz="16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DejaVu Sans"/>
              </a:rPr>
              <a:t>normes </a:t>
            </a:r>
            <a:r>
              <a:rPr lang="fr-FR" sz="16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DejaVu Sans"/>
              </a:rPr>
              <a:t>perçues et </a:t>
            </a:r>
            <a:r>
              <a:rPr lang="fr-FR" sz="16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DejaVu Sans"/>
              </a:rPr>
              <a:t>“self-</a:t>
            </a:r>
            <a:r>
              <a:rPr lang="fr-FR" sz="16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DejaVu Sans"/>
              </a:rPr>
              <a:t>control”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lang="fr-FR" sz="16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DejaVu Sans"/>
              </a:rPr>
              <a:t>Simulatio</a:t>
            </a:r>
            <a:r>
              <a:rPr lang="fr-FR" sz="16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DejaVu Sans"/>
              </a:rPr>
              <a:t>ns et </a:t>
            </a:r>
            <a:r>
              <a:rPr lang="fr-FR" sz="16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DejaVu Sans"/>
              </a:rPr>
              <a:t>comparais</a:t>
            </a:r>
            <a:r>
              <a:rPr lang="fr-FR" sz="16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DejaVu Sans"/>
              </a:rPr>
              <a:t>on avec </a:t>
            </a:r>
            <a:r>
              <a:rPr lang="fr-FR" sz="16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DejaVu Sans"/>
              </a:rPr>
              <a:t>des </a:t>
            </a:r>
            <a:r>
              <a:rPr lang="fr-FR" sz="16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DejaVu Sans"/>
              </a:rPr>
              <a:t>modèles </a:t>
            </a:r>
            <a:r>
              <a:rPr lang="fr-FR" sz="16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DejaVu Sans"/>
              </a:rPr>
              <a:t>de </a:t>
            </a:r>
            <a:r>
              <a:rPr lang="fr-FR" sz="16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DejaVu Sans"/>
              </a:rPr>
              <a:t>régression </a:t>
            </a:r>
            <a:r>
              <a:rPr lang="fr-FR" sz="16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DejaVu Sans"/>
              </a:rPr>
              <a:t>simple?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lang="fr-FR" sz="16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DejaVu Sans"/>
              </a:rPr>
              <a:t>Simulatio</a:t>
            </a:r>
            <a:r>
              <a:rPr lang="fr-FR" sz="16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DejaVu Sans"/>
              </a:rPr>
              <a:t>ns </a:t>
            </a:r>
            <a:r>
              <a:rPr lang="fr-FR" sz="16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DejaVu Sans"/>
              </a:rPr>
              <a:t>augmenté </a:t>
            </a:r>
            <a:r>
              <a:rPr lang="fr-FR" sz="16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DejaVu Sans"/>
              </a:rPr>
              <a:t>avec des </a:t>
            </a:r>
            <a:r>
              <a:rPr lang="fr-FR" sz="16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DejaVu Sans"/>
              </a:rPr>
              <a:t>dynamiqu</a:t>
            </a:r>
            <a:r>
              <a:rPr lang="fr-FR" sz="16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DejaVu Sans"/>
              </a:rPr>
              <a:t>es </a:t>
            </a:r>
            <a:r>
              <a:rPr lang="fr-FR" sz="16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DejaVu Sans"/>
              </a:rPr>
              <a:t>d’argume</a:t>
            </a:r>
            <a:r>
              <a:rPr lang="fr-FR" sz="16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DejaVu Sans"/>
              </a:rPr>
              <a:t>ntation?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Shape 22"/>
          <p:cNvSpPr/>
          <p:nvPr/>
        </p:nvSpPr>
        <p:spPr>
          <a:xfrm>
            <a:off x="0" y="0"/>
            <a:ext cx="9141480" cy="3632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5" name="Text 51"/>
          <p:cNvSpPr/>
          <p:nvPr/>
        </p:nvSpPr>
        <p:spPr>
          <a:xfrm>
            <a:off x="182880" y="0"/>
            <a:ext cx="8775720" cy="36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fr-FR" sz="1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DejaVu Sans"/>
              </a:rPr>
              <a:t>L’expérience - 2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Text 52"/>
          <p:cNvSpPr/>
          <p:nvPr/>
        </p:nvSpPr>
        <p:spPr>
          <a:xfrm>
            <a:off x="274320" y="457200"/>
            <a:ext cx="8592840" cy="54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fr-FR" sz="2000" b="1" u="none" strike="noStrike">
                <a:solidFill>
                  <a:srgbClr val="1e3a5f"/>
                </a:solidFill>
                <a:effectLst/>
                <a:uFillTx/>
                <a:latin typeface="Calibri"/>
                <a:ea typeface="DejaVu Sans"/>
              </a:rPr>
              <a:t>Premiers résultats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" name="Shape 23"/>
          <p:cNvSpPr/>
          <p:nvPr/>
        </p:nvSpPr>
        <p:spPr>
          <a:xfrm>
            <a:off x="274320" y="1023840"/>
            <a:ext cx="8595360" cy="360"/>
          </a:xfrm>
          <a:prstGeom prst="line">
            <a:avLst/>
          </a:prstGeom>
          <a:ln w="1270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" name="Text 53"/>
          <p:cNvSpPr/>
          <p:nvPr/>
        </p:nvSpPr>
        <p:spPr>
          <a:xfrm>
            <a:off x="274320" y="1122120"/>
            <a:ext cx="859284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fr-FR" sz="1100" b="1" u="none" strike="noStrike">
                <a:solidFill>
                  <a:srgbClr val="1e3a5f"/>
                </a:solidFill>
                <a:effectLst/>
                <a:uFillTx/>
                <a:latin typeface="Calibri"/>
                <a:ea typeface="DejaVu Sans"/>
              </a:rPr>
              <a:t>La simulation multi-agent et le comportement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" name="Text 54"/>
          <p:cNvSpPr/>
          <p:nvPr/>
        </p:nvSpPr>
        <p:spPr>
          <a:xfrm>
            <a:off x="299160" y="2521080"/>
            <a:ext cx="8844840" cy="100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lang="fr-FR" sz="16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DejaVu Sans"/>
              </a:rPr>
              <a:t>Est-ce que les attitudes avant la délibération sont liées a ceux d’après?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lang="fr-FR" sz="16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DejaVu Sans"/>
              </a:rPr>
              <a:t>Individus avec normes perçues et “self-control”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lang="fr-FR" sz="16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DejaVu Sans"/>
              </a:rPr>
              <a:t>Simulations et comparaison avec des modèles de régression simple?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lang="fr-FR" sz="16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DejaVu Sans"/>
              </a:rPr>
              <a:t>Simulations augmenté avec des dynamiques d’argumentation?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Shape 0"/>
          <p:cNvSpPr/>
          <p:nvPr/>
        </p:nvSpPr>
        <p:spPr>
          <a:xfrm>
            <a:off x="0" y="0"/>
            <a:ext cx="9141480" cy="3632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1" name="Text 1"/>
          <p:cNvSpPr/>
          <p:nvPr/>
        </p:nvSpPr>
        <p:spPr>
          <a:xfrm>
            <a:off x="182880" y="0"/>
            <a:ext cx="8775720" cy="36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fr-FR" sz="1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DejaVu Sans"/>
              </a:rPr>
              <a:t>BATCH LEVEL — H vs M COMPARISON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" name="Text 2"/>
          <p:cNvSpPr/>
          <p:nvPr/>
        </p:nvSpPr>
        <p:spPr>
          <a:xfrm>
            <a:off x="274320" y="457200"/>
            <a:ext cx="8592840" cy="54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fr-FR" sz="2000" b="1" u="none" strike="noStrike">
                <a:solidFill>
                  <a:srgbClr val="1e3a5f"/>
                </a:solidFill>
                <a:effectLst/>
                <a:uFillTx/>
                <a:latin typeface="Calibri"/>
                <a:ea typeface="DejaVu Sans"/>
              </a:rPr>
              <a:t>H4 — Debate Composition: Homogeneous vs Mixed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Shape 3"/>
          <p:cNvSpPr/>
          <p:nvPr/>
        </p:nvSpPr>
        <p:spPr>
          <a:xfrm>
            <a:off x="274320" y="1023840"/>
            <a:ext cx="8595360" cy="360"/>
          </a:xfrm>
          <a:prstGeom prst="line">
            <a:avLst/>
          </a:prstGeom>
          <a:ln w="1270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54" name="Chart 0"/>
          <p:cNvGraphicFramePr/>
          <p:nvPr/>
        </p:nvGraphicFramePr>
        <p:xfrm>
          <a:off x="274320" y="1143000"/>
          <a:ext cx="5483880" cy="2740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155" name="Shape 4"/>
          <p:cNvSpPr/>
          <p:nvPr/>
        </p:nvSpPr>
        <p:spPr>
          <a:xfrm>
            <a:off x="5943600" y="1143000"/>
            <a:ext cx="2923560" cy="2740680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" name="Text 5"/>
          <p:cNvSpPr/>
          <p:nvPr/>
        </p:nvSpPr>
        <p:spPr>
          <a:xfrm>
            <a:off x="6035040" y="1234440"/>
            <a:ext cx="2740680" cy="31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fr-FR" sz="1100" b="1" u="none" strike="noStrike">
                <a:solidFill>
                  <a:srgbClr val="1e3a5f"/>
                </a:solidFill>
                <a:effectLst/>
                <a:uFillTx/>
                <a:latin typeface="Calibri"/>
                <a:ea typeface="DejaVu Sans"/>
              </a:rPr>
              <a:t>Statistical Test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" name="Text 6"/>
          <p:cNvSpPr/>
          <p:nvPr/>
        </p:nvSpPr>
        <p:spPr>
          <a:xfrm>
            <a:off x="6035040" y="1645920"/>
            <a:ext cx="1277640" cy="34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fr-FR" sz="900" b="0" u="none" strike="noStrike">
                <a:solidFill>
                  <a:srgbClr val="666666"/>
                </a:solidFill>
                <a:effectLst/>
                <a:uFillTx/>
                <a:latin typeface="Calibri"/>
                <a:ea typeface="DejaVu Sans"/>
              </a:rPr>
              <a:t>Wilcoxon W: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" name="Text 7"/>
          <p:cNvSpPr/>
          <p:nvPr/>
        </p:nvSpPr>
        <p:spPr>
          <a:xfrm>
            <a:off x="7360920" y="1645920"/>
            <a:ext cx="1414800" cy="34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fr-FR" sz="900" b="1" u="none" strike="noStrike">
                <a:solidFill>
                  <a:srgbClr val="333333"/>
                </a:solidFill>
                <a:effectLst/>
                <a:uFillTx/>
                <a:latin typeface="Calibri"/>
                <a:ea typeface="DejaVu Sans"/>
              </a:rPr>
              <a:t>162,531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" name="Text 8"/>
          <p:cNvSpPr/>
          <p:nvPr/>
        </p:nvSpPr>
        <p:spPr>
          <a:xfrm>
            <a:off x="6035040" y="2030040"/>
            <a:ext cx="1277640" cy="34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fr-FR" sz="900" b="0" u="none" strike="noStrike">
                <a:solidFill>
                  <a:srgbClr val="666666"/>
                </a:solidFill>
                <a:effectLst/>
                <a:uFillTx/>
                <a:latin typeface="Calibri"/>
                <a:ea typeface="DejaVu Sans"/>
              </a:rPr>
              <a:t>p-value: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" name="Text 9"/>
          <p:cNvSpPr/>
          <p:nvPr/>
        </p:nvSpPr>
        <p:spPr>
          <a:xfrm>
            <a:off x="7360920" y="2030040"/>
            <a:ext cx="1414800" cy="34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fr-FR" sz="900" b="1" u="none" strike="noStrike">
                <a:solidFill>
                  <a:srgbClr val="333333"/>
                </a:solidFill>
                <a:effectLst/>
                <a:uFillTx/>
                <a:latin typeface="Calibri"/>
                <a:ea typeface="DejaVu Sans"/>
              </a:rPr>
              <a:t>6.35e-60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" name="Text 10"/>
          <p:cNvSpPr/>
          <p:nvPr/>
        </p:nvSpPr>
        <p:spPr>
          <a:xfrm>
            <a:off x="6035040" y="2414160"/>
            <a:ext cx="1277640" cy="34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fr-FR" sz="900" b="0" u="none" strike="noStrike">
                <a:solidFill>
                  <a:srgbClr val="666666"/>
                </a:solidFill>
                <a:effectLst/>
                <a:uFillTx/>
                <a:latin typeface="Calibri"/>
                <a:ea typeface="DejaVu Sans"/>
              </a:rPr>
              <a:t>H mean MAE: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" name="Text 11"/>
          <p:cNvSpPr/>
          <p:nvPr/>
        </p:nvSpPr>
        <p:spPr>
          <a:xfrm>
            <a:off x="7360920" y="2414160"/>
            <a:ext cx="1414800" cy="34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fr-FR" sz="900" b="1" u="none" strike="noStrike">
                <a:solidFill>
                  <a:srgbClr val="333333"/>
                </a:solidFill>
                <a:effectLst/>
                <a:uFillTx/>
                <a:latin typeface="Calibri"/>
                <a:ea typeface="DejaVu Sans"/>
              </a:rPr>
              <a:t>0.0769–0.0856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" name="Text 12"/>
          <p:cNvSpPr/>
          <p:nvPr/>
        </p:nvSpPr>
        <p:spPr>
          <a:xfrm>
            <a:off x="6035040" y="2797920"/>
            <a:ext cx="1277640" cy="34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fr-FR" sz="900" b="0" u="none" strike="noStrike">
                <a:solidFill>
                  <a:srgbClr val="666666"/>
                </a:solidFill>
                <a:effectLst/>
                <a:uFillTx/>
                <a:latin typeface="Calibri"/>
                <a:ea typeface="DejaVu Sans"/>
              </a:rPr>
              <a:t>M mean MAE: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" name="Text 13"/>
          <p:cNvSpPr/>
          <p:nvPr/>
        </p:nvSpPr>
        <p:spPr>
          <a:xfrm>
            <a:off x="7360920" y="2797920"/>
            <a:ext cx="1414800" cy="34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fr-FR" sz="900" b="1" u="none" strike="noStrike">
                <a:solidFill>
                  <a:srgbClr val="333333"/>
                </a:solidFill>
                <a:effectLst/>
                <a:uFillTx/>
                <a:latin typeface="Calibri"/>
                <a:ea typeface="DejaVu Sans"/>
              </a:rPr>
              <a:t>0.1109–0.1706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5" name="Text 14"/>
          <p:cNvSpPr/>
          <p:nvPr/>
        </p:nvSpPr>
        <p:spPr>
          <a:xfrm>
            <a:off x="6035040" y="3182040"/>
            <a:ext cx="1277640" cy="34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fr-FR" sz="900" b="0" u="none" strike="noStrike">
                <a:solidFill>
                  <a:srgbClr val="666666"/>
                </a:solidFill>
                <a:effectLst/>
                <a:uFillTx/>
                <a:latin typeface="Calibri"/>
                <a:ea typeface="DejaVu Sans"/>
              </a:rPr>
              <a:t>Interpretation: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" name="Text 15"/>
          <p:cNvSpPr/>
          <p:nvPr/>
        </p:nvSpPr>
        <p:spPr>
          <a:xfrm>
            <a:off x="7360920" y="3182040"/>
            <a:ext cx="1414800" cy="34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fr-FR" sz="900" b="1" u="none" strike="noStrike">
                <a:solidFill>
                  <a:srgbClr val="333333"/>
                </a:solidFill>
                <a:effectLst/>
                <a:uFillTx/>
                <a:latin typeface="Calibri"/>
                <a:ea typeface="DejaVu Sans"/>
              </a:rPr>
              <a:t>H debates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fr-FR" sz="900" b="1" u="none" strike="noStrike">
                <a:solidFill>
                  <a:srgbClr val="333333"/>
                </a:solidFill>
                <a:effectLst/>
                <a:uFillTx/>
                <a:latin typeface="Calibri"/>
                <a:ea typeface="DejaVu Sans"/>
              </a:rPr>
              <a:t>significantly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fr-FR" sz="900" b="1" u="none" strike="noStrike">
                <a:solidFill>
                  <a:srgbClr val="333333"/>
                </a:solidFill>
                <a:effectLst/>
                <a:uFillTx/>
                <a:latin typeface="Calibri"/>
                <a:ea typeface="DejaVu Sans"/>
              </a:rPr>
              <a:t>easier to predict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Text 16"/>
          <p:cNvSpPr/>
          <p:nvPr/>
        </p:nvSpPr>
        <p:spPr>
          <a:xfrm>
            <a:off x="274320" y="3977640"/>
            <a:ext cx="8592840" cy="77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fr-FR" sz="10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DejaVu Sans"/>
              </a:rPr>
              <a:t>Interpretation: Homogeneous debates are systematically easier to predict across all models (Wilcoxon p=6.35e-60). The consensus model benefits most relatively from homogeneous composition.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Shape 0"/>
          <p:cNvSpPr/>
          <p:nvPr/>
        </p:nvSpPr>
        <p:spPr>
          <a:xfrm>
            <a:off x="0" y="0"/>
            <a:ext cx="9141480" cy="3632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9" name="Text 1"/>
          <p:cNvSpPr/>
          <p:nvPr/>
        </p:nvSpPr>
        <p:spPr>
          <a:xfrm>
            <a:off x="182880" y="0"/>
            <a:ext cx="8775720" cy="36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fr-FR" sz="1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DejaVu Sans"/>
              </a:rPr>
              <a:t>BATCH LEVEL — CONVERGENCE DYNAMICS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0" name="Text 2"/>
          <p:cNvSpPr/>
          <p:nvPr/>
        </p:nvSpPr>
        <p:spPr>
          <a:xfrm>
            <a:off x="274320" y="457200"/>
            <a:ext cx="8592840" cy="54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fr-FR" sz="2000" b="1" u="none" strike="noStrike">
                <a:solidFill>
                  <a:srgbClr val="1e3a5f"/>
                </a:solidFill>
                <a:effectLst/>
                <a:uFillTx/>
                <a:latin typeface="Calibri"/>
                <a:ea typeface="DejaVu Sans"/>
              </a:rPr>
              <a:t>Convergence Analysis by Model &amp; Condition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1" name="Shape 3"/>
          <p:cNvSpPr/>
          <p:nvPr/>
        </p:nvSpPr>
        <p:spPr>
          <a:xfrm>
            <a:off x="274320" y="1023840"/>
            <a:ext cx="8595360" cy="360"/>
          </a:xfrm>
          <a:prstGeom prst="line">
            <a:avLst/>
          </a:prstGeom>
          <a:ln w="1270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72" name="Table 0"/>
          <p:cNvGraphicFramePr/>
          <p:nvPr/>
        </p:nvGraphicFramePr>
        <p:xfrm>
          <a:off x="274320" y="1143000"/>
          <a:ext cx="7680600" cy="2063880"/>
        </p:xfrm>
        <a:graphic>
          <a:graphicData uri="http://schemas.openxmlformats.org/drawingml/2006/table">
            <a:tbl>
              <a:tblPr/>
              <a:tblGrid>
                <a:gridCol w="1645920"/>
                <a:gridCol w="1280160"/>
                <a:gridCol w="1097280"/>
                <a:gridCol w="1005840"/>
                <a:gridCol w="1005840"/>
                <a:gridCol w="1645920"/>
              </a:tblGrid>
              <a:tr h="0"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fr-FR" sz="9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Model Type</a:t>
                      </a:r>
                      <a:endParaRPr lang="en-US" sz="9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Condition</a:t>
                      </a:r>
                      <a:endParaRPr lang="en-US" sz="9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Mean Cycles</a:t>
                      </a:r>
                      <a:endParaRPr lang="en-US" sz="9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SD Cycles</a:t>
                      </a:r>
                      <a:endParaRPr lang="en-US" sz="9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Min Cycles</a:t>
                      </a:r>
                      <a:endParaRPr lang="en-US" sz="9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Max Cycles</a:t>
                      </a:r>
                      <a:endParaRPr lang="en-US" sz="9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1e3a5f"/>
                    </a:solidFill>
                  </a:tcPr>
                </a:tc>
              </a:tr>
              <a:tr h="0"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0" u="none" strike="noStrike">
                          <a:solidFill>
                            <a:srgbClr val="333333"/>
                          </a:solidFill>
                          <a:effectLst/>
                          <a:uFillTx/>
                          <a:latin typeface="Calibri"/>
                        </a:rPr>
                        <a:t>bipolarization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0" u="none" strike="noStrike">
                          <a:solidFill>
                            <a:srgbClr val="333333"/>
                          </a:solidFill>
                          <a:effectLst/>
                          <a:uFillTx/>
                          <a:latin typeface="Calibri"/>
                        </a:rPr>
                        <a:t>heterogeneous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0" u="none" strike="noStrike">
                          <a:solidFill>
                            <a:srgbClr val="333333"/>
                          </a:solidFill>
                          <a:effectLst/>
                          <a:uFillTx/>
                          <a:latin typeface="Calibri"/>
                        </a:rPr>
                        <a:t>21.67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0" u="none" strike="noStrike">
                          <a:solidFill>
                            <a:srgbClr val="333333"/>
                          </a:solidFill>
                          <a:effectLst/>
                          <a:uFillTx/>
                          <a:latin typeface="Calibri"/>
                        </a:rPr>
                        <a:t>—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0" u="none" strike="noStrike">
                          <a:solidFill>
                            <a:srgbClr val="333333"/>
                          </a:solidFill>
                          <a:effectLst/>
                          <a:uFillTx/>
                          <a:latin typeface="Calibri"/>
                        </a:rPr>
                        <a:t>15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0" u="none" strike="noStrike">
                          <a:solidFill>
                            <a:srgbClr val="333333"/>
                          </a:solidFill>
                          <a:effectLst/>
                          <a:uFillTx/>
                          <a:latin typeface="Calibri"/>
                        </a:rPr>
                        <a:t>55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</a:tr>
              <a:tr h="0"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0" u="none" strike="noStrike">
                          <a:solidFill>
                            <a:srgbClr val="333333"/>
                          </a:solidFill>
                          <a:effectLst/>
                          <a:uFillTx/>
                          <a:latin typeface="Calibri"/>
                        </a:rPr>
                        <a:t>bipolarization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0" u="none" strike="noStrike">
                          <a:solidFill>
                            <a:srgbClr val="333333"/>
                          </a:solidFill>
                          <a:effectLst/>
                          <a:uFillTx/>
                          <a:latin typeface="Calibri"/>
                        </a:rPr>
                        <a:t>homogeneous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0" u="none" strike="noStrike">
                          <a:solidFill>
                            <a:srgbClr val="333333"/>
                          </a:solidFill>
                          <a:effectLst/>
                          <a:uFillTx/>
                          <a:latin typeface="Calibri"/>
                        </a:rPr>
                        <a:t>39.44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0" u="none" strike="noStrike">
                          <a:solidFill>
                            <a:srgbClr val="333333"/>
                          </a:solidFill>
                          <a:effectLst/>
                          <a:uFillTx/>
                          <a:latin typeface="Calibri"/>
                        </a:rPr>
                        <a:t>—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0" u="none" strike="noStrike">
                          <a:solidFill>
                            <a:srgbClr val="333333"/>
                          </a:solidFill>
                          <a:effectLst/>
                          <a:uFillTx/>
                          <a:latin typeface="Calibri"/>
                        </a:rPr>
                        <a:t>15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0" u="none" strike="noStrike">
                          <a:solidFill>
                            <a:srgbClr val="333333"/>
                          </a:solidFill>
                          <a:effectLst/>
                          <a:uFillTx/>
                          <a:latin typeface="Calibri"/>
                        </a:rPr>
                        <a:t>130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</a:tr>
              <a:tr h="0"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0" u="none" strike="noStrike">
                          <a:solidFill>
                            <a:srgbClr val="333333"/>
                          </a:solidFill>
                          <a:effectLst/>
                          <a:uFillTx/>
                          <a:latin typeface="Calibri"/>
                        </a:rPr>
                        <a:t>clustering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0" u="none" strike="noStrike">
                          <a:solidFill>
                            <a:srgbClr val="333333"/>
                          </a:solidFill>
                          <a:effectLst/>
                          <a:uFillTx/>
                          <a:latin typeface="Calibri"/>
                        </a:rPr>
                        <a:t>heterogeneous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0" u="none" strike="noStrike">
                          <a:solidFill>
                            <a:srgbClr val="333333"/>
                          </a:solidFill>
                          <a:effectLst/>
                          <a:uFillTx/>
                          <a:latin typeface="Calibri"/>
                        </a:rPr>
                        <a:t>29.60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0" u="none" strike="noStrike">
                          <a:solidFill>
                            <a:srgbClr val="333333"/>
                          </a:solidFill>
                          <a:effectLst/>
                          <a:uFillTx/>
                          <a:latin typeface="Calibri"/>
                        </a:rPr>
                        <a:t>—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0" u="none" strike="noStrike">
                          <a:solidFill>
                            <a:srgbClr val="333333"/>
                          </a:solidFill>
                          <a:effectLst/>
                          <a:uFillTx/>
                          <a:latin typeface="Calibri"/>
                        </a:rPr>
                        <a:t>15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0" u="none" strike="noStrike">
                          <a:solidFill>
                            <a:srgbClr val="333333"/>
                          </a:solidFill>
                          <a:effectLst/>
                          <a:uFillTx/>
                          <a:latin typeface="Calibri"/>
                        </a:rPr>
                        <a:t>105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</a:tr>
              <a:tr h="0"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0" u="none" strike="noStrike">
                          <a:solidFill>
                            <a:srgbClr val="333333"/>
                          </a:solidFill>
                          <a:effectLst/>
                          <a:uFillTx/>
                          <a:latin typeface="Calibri"/>
                        </a:rPr>
                        <a:t>clustering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0" u="none" strike="noStrike">
                          <a:solidFill>
                            <a:srgbClr val="333333"/>
                          </a:solidFill>
                          <a:effectLst/>
                          <a:uFillTx/>
                          <a:latin typeface="Calibri"/>
                        </a:rPr>
                        <a:t>homogeneous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0" u="none" strike="noStrike">
                          <a:solidFill>
                            <a:srgbClr val="333333"/>
                          </a:solidFill>
                          <a:effectLst/>
                          <a:uFillTx/>
                          <a:latin typeface="Calibri"/>
                        </a:rPr>
                        <a:t>28.88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0" u="none" strike="noStrike">
                          <a:solidFill>
                            <a:srgbClr val="333333"/>
                          </a:solidFill>
                          <a:effectLst/>
                          <a:uFillTx/>
                          <a:latin typeface="Calibri"/>
                        </a:rPr>
                        <a:t>—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0" u="none" strike="noStrike">
                          <a:solidFill>
                            <a:srgbClr val="333333"/>
                          </a:solidFill>
                          <a:effectLst/>
                          <a:uFillTx/>
                          <a:latin typeface="Calibri"/>
                        </a:rPr>
                        <a:t>15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0" u="none" strike="noStrike">
                          <a:solidFill>
                            <a:srgbClr val="333333"/>
                          </a:solidFill>
                          <a:effectLst/>
                          <a:uFillTx/>
                          <a:latin typeface="Calibri"/>
                        </a:rPr>
                        <a:t>100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</a:tr>
              <a:tr h="0"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0" u="none" strike="noStrike">
                          <a:solidFill>
                            <a:srgbClr val="333333"/>
                          </a:solidFill>
                          <a:effectLst/>
                          <a:uFillTx/>
                          <a:latin typeface="Calibri"/>
                        </a:rPr>
                        <a:t>consensus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0" u="none" strike="noStrike">
                          <a:solidFill>
                            <a:srgbClr val="333333"/>
                          </a:solidFill>
                          <a:effectLst/>
                          <a:uFillTx/>
                          <a:latin typeface="Calibri"/>
                        </a:rPr>
                        <a:t>heterogeneous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0" u="none" strike="noStrike">
                          <a:solidFill>
                            <a:srgbClr val="333333"/>
                          </a:solidFill>
                          <a:effectLst/>
                          <a:uFillTx/>
                          <a:latin typeface="Calibri"/>
                        </a:rPr>
                        <a:t>30.96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0" u="none" strike="noStrike">
                          <a:solidFill>
                            <a:srgbClr val="333333"/>
                          </a:solidFill>
                          <a:effectLst/>
                          <a:uFillTx/>
                          <a:latin typeface="Calibri"/>
                        </a:rPr>
                        <a:t>—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0" u="none" strike="noStrike">
                          <a:solidFill>
                            <a:srgbClr val="333333"/>
                          </a:solidFill>
                          <a:effectLst/>
                          <a:uFillTx/>
                          <a:latin typeface="Calibri"/>
                        </a:rPr>
                        <a:t>15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0" u="none" strike="noStrike">
                          <a:solidFill>
                            <a:srgbClr val="333333"/>
                          </a:solidFill>
                          <a:effectLst/>
                          <a:uFillTx/>
                          <a:latin typeface="Calibri"/>
                        </a:rPr>
                        <a:t>80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</a:tr>
              <a:tr h="0"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0" u="none" strike="noStrike">
                          <a:solidFill>
                            <a:srgbClr val="333333"/>
                          </a:solidFill>
                          <a:effectLst/>
                          <a:uFillTx/>
                          <a:latin typeface="Calibri"/>
                        </a:rPr>
                        <a:t>consensus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0" u="none" strike="noStrike">
                          <a:solidFill>
                            <a:srgbClr val="333333"/>
                          </a:solidFill>
                          <a:effectLst/>
                          <a:uFillTx/>
                          <a:latin typeface="Calibri"/>
                        </a:rPr>
                        <a:t>homogeneous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0" u="none" strike="noStrike">
                          <a:solidFill>
                            <a:srgbClr val="333333"/>
                          </a:solidFill>
                          <a:effectLst/>
                          <a:uFillTx/>
                          <a:latin typeface="Calibri"/>
                        </a:rPr>
                        <a:t>20.23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0" u="none" strike="noStrike">
                          <a:solidFill>
                            <a:srgbClr val="333333"/>
                          </a:solidFill>
                          <a:effectLst/>
                          <a:uFillTx/>
                          <a:latin typeface="Calibri"/>
                        </a:rPr>
                        <a:t>—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0" u="none" strike="noStrike">
                          <a:solidFill>
                            <a:srgbClr val="333333"/>
                          </a:solidFill>
                          <a:effectLst/>
                          <a:uFillTx/>
                          <a:latin typeface="Calibri"/>
                        </a:rPr>
                        <a:t>15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0" u="none" strike="noStrike">
                          <a:solidFill>
                            <a:srgbClr val="333333"/>
                          </a:solidFill>
                          <a:effectLst/>
                          <a:uFillTx/>
                          <a:latin typeface="Calibri"/>
                        </a:rPr>
                        <a:t>40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</a:tr>
              <a:tr h="0"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0" u="none" strike="noStrike">
                          <a:solidFill>
                            <a:srgbClr val="333333"/>
                          </a:solidFill>
                          <a:effectLst/>
                          <a:uFillTx/>
                          <a:latin typeface="Calibri"/>
                        </a:rPr>
                        <a:t>no_change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0" u="none" strike="noStrike">
                          <a:solidFill>
                            <a:srgbClr val="333333"/>
                          </a:solidFill>
                          <a:effectLst/>
                          <a:uFillTx/>
                          <a:latin typeface="Calibri"/>
                        </a:rPr>
                        <a:t>heterogeneous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0" u="none" strike="noStrike">
                          <a:solidFill>
                            <a:srgbClr val="333333"/>
                          </a:solidFill>
                          <a:effectLst/>
                          <a:uFillTx/>
                          <a:latin typeface="Calibri"/>
                        </a:rPr>
                        <a:t>15.00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0" u="none" strike="noStrike">
                          <a:solidFill>
                            <a:srgbClr val="333333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0" u="none" strike="noStrike">
                          <a:solidFill>
                            <a:srgbClr val="333333"/>
                          </a:solidFill>
                          <a:effectLst/>
                          <a:uFillTx/>
                          <a:latin typeface="Calibri"/>
                        </a:rPr>
                        <a:t>15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0" u="none" strike="noStrike">
                          <a:solidFill>
                            <a:srgbClr val="333333"/>
                          </a:solidFill>
                          <a:effectLst/>
                          <a:uFillTx/>
                          <a:latin typeface="Calibri"/>
                        </a:rPr>
                        <a:t>15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</a:tr>
              <a:tr h="0"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0" u="none" strike="noStrike">
                          <a:solidFill>
                            <a:srgbClr val="333333"/>
                          </a:solidFill>
                          <a:effectLst/>
                          <a:uFillTx/>
                          <a:latin typeface="Calibri"/>
                        </a:rPr>
                        <a:t>no_change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0" u="none" strike="noStrike">
                          <a:solidFill>
                            <a:srgbClr val="333333"/>
                          </a:solidFill>
                          <a:effectLst/>
                          <a:uFillTx/>
                          <a:latin typeface="Calibri"/>
                        </a:rPr>
                        <a:t>homogeneous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0" u="none" strike="noStrike">
                          <a:solidFill>
                            <a:srgbClr val="333333"/>
                          </a:solidFill>
                          <a:effectLst/>
                          <a:uFillTx/>
                          <a:latin typeface="Calibri"/>
                        </a:rPr>
                        <a:t>15.00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0" u="none" strike="noStrike">
                          <a:solidFill>
                            <a:srgbClr val="333333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0" u="none" strike="noStrike">
                          <a:solidFill>
                            <a:srgbClr val="333333"/>
                          </a:solidFill>
                          <a:effectLst/>
                          <a:uFillTx/>
                          <a:latin typeface="Calibri"/>
                        </a:rPr>
                        <a:t>15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0" u="none" strike="noStrike">
                          <a:solidFill>
                            <a:srgbClr val="333333"/>
                          </a:solidFill>
                          <a:effectLst/>
                          <a:uFillTx/>
                          <a:latin typeface="Calibri"/>
                        </a:rPr>
                        <a:t>15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173" name="Text 4"/>
          <p:cNvSpPr/>
          <p:nvPr/>
        </p:nvSpPr>
        <p:spPr>
          <a:xfrm>
            <a:off x="274320" y="3161520"/>
            <a:ext cx="859284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fr-FR" sz="900" b="0" i="1" u="none" strike="noStrike">
                <a:solidFill>
                  <a:srgbClr val="666666"/>
                </a:solidFill>
                <a:effectLst/>
                <a:uFillTx/>
                <a:latin typeface="Calibri"/>
                <a:ea typeface="DejaVu Sans"/>
              </a:rPr>
              <a:t>Note: normalised_convergence = convergence_cycle / 300 (max_cycles constant across all experiments).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4" name="Text 5"/>
          <p:cNvSpPr/>
          <p:nvPr/>
        </p:nvSpPr>
        <p:spPr>
          <a:xfrm>
            <a:off x="274320" y="3337560"/>
            <a:ext cx="859284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fr-FR" sz="1100" b="1" u="none" strike="noStrike">
                <a:solidFill>
                  <a:srgbClr val="1e3a5f"/>
                </a:solidFill>
                <a:effectLst/>
                <a:uFillTx/>
                <a:latin typeface="Calibri"/>
                <a:ea typeface="DejaVu Sans"/>
              </a:rPr>
              <a:t>Interpretation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5" name="Text 6"/>
          <p:cNvSpPr/>
          <p:nvPr/>
        </p:nvSpPr>
        <p:spPr>
          <a:xfrm>
            <a:off x="274320" y="3657600"/>
            <a:ext cx="8592840" cy="1049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fr-FR" sz="10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DejaVu Sans"/>
              </a:rPr>
              <a:t>Bipolarization converges fastest on heterogeneous debates (21.7 cycles) but slowest on homogeneous (39.4 cycles) — opposite to consensus. No-change always converges at cycle 15 (baseline). Clustering shows the most consistent convergence speed across conditions (~29 cycles). No speaking mode was run in this batch — all results reflect standard neighbor-based interaction.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Shape 0"/>
          <p:cNvSpPr/>
          <p:nvPr/>
        </p:nvSpPr>
        <p:spPr>
          <a:xfrm>
            <a:off x="0" y="0"/>
            <a:ext cx="9141480" cy="3632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7" name="Text 1"/>
          <p:cNvSpPr/>
          <p:nvPr/>
        </p:nvSpPr>
        <p:spPr>
          <a:xfrm>
            <a:off x="182880" y="0"/>
            <a:ext cx="8775720" cy="36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fr-FR" sz="1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DejaVu Sans"/>
              </a:rPr>
              <a:t>BATCH LEVEL — BASELINE COMPARISON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8" name="Text 2"/>
          <p:cNvSpPr/>
          <p:nvPr/>
        </p:nvSpPr>
        <p:spPr>
          <a:xfrm>
            <a:off x="274320" y="457200"/>
            <a:ext cx="8592840" cy="54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fr-FR" sz="2000" b="1" u="none" strike="noStrike">
                <a:solidFill>
                  <a:srgbClr val="1e3a5f"/>
                </a:solidFill>
                <a:effectLst/>
                <a:uFillTx/>
                <a:latin typeface="Calibri"/>
                <a:ea typeface="DejaVu Sans"/>
              </a:rPr>
              <a:t>No-Change Baseline Coverage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9" name="Shape 3"/>
          <p:cNvSpPr/>
          <p:nvPr/>
        </p:nvSpPr>
        <p:spPr>
          <a:xfrm>
            <a:off x="274320" y="1023840"/>
            <a:ext cx="8595360" cy="360"/>
          </a:xfrm>
          <a:prstGeom prst="line">
            <a:avLst/>
          </a:prstGeom>
          <a:ln w="1270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80" name="Table 0"/>
          <p:cNvGraphicFramePr/>
          <p:nvPr/>
        </p:nvGraphicFramePr>
        <p:xfrm>
          <a:off x="274320" y="1143000"/>
          <a:ext cx="5028840" cy="2751840"/>
        </p:xfrm>
        <a:graphic>
          <a:graphicData uri="http://schemas.openxmlformats.org/drawingml/2006/table">
            <a:tbl>
              <a:tblPr/>
              <a:tblGrid>
                <a:gridCol w="1005840"/>
                <a:gridCol w="1005840"/>
                <a:gridCol w="1188720"/>
                <a:gridCol w="1828800"/>
              </a:tblGrid>
              <a:tr h="0"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fr-FR" sz="9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Debate ID</a:t>
                      </a:r>
                      <a:endParaRPr lang="en-US" sz="9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Label</a:t>
                      </a:r>
                      <a:endParaRPr lang="en-US" sz="9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Composition</a:t>
                      </a:r>
                      <a:endParaRPr lang="en-US" sz="9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Baseline MAE</a:t>
                      </a:r>
                      <a:endParaRPr lang="en-US" sz="9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1e3a5f"/>
                    </a:solidFill>
                  </a:tcPr>
                </a:tc>
              </a:tr>
              <a:tr h="0"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0" u="none" strike="noStrike">
                          <a:solidFill>
                            <a:srgbClr val="333333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0" u="none" strike="noStrike">
                          <a:solidFill>
                            <a:srgbClr val="333333"/>
                          </a:solidFill>
                          <a:effectLst/>
                          <a:uFillTx/>
                          <a:latin typeface="Calibri"/>
                        </a:rPr>
                        <a:t>M1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0" u="none" strike="noStrike">
                          <a:solidFill>
                            <a:srgbClr val="333333"/>
                          </a:solidFill>
                          <a:effectLst/>
                          <a:uFillTx/>
                          <a:latin typeface="Calibri"/>
                        </a:rPr>
                        <a:t>M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0" u="none" strike="noStrike">
                          <a:solidFill>
                            <a:srgbClr val="333333"/>
                          </a:solidFill>
                          <a:effectLst/>
                          <a:uFillTx/>
                          <a:latin typeface="Calibri"/>
                        </a:rPr>
                        <a:t>0.0156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</a:tr>
              <a:tr h="0"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0" u="none" strike="noStrike">
                          <a:solidFill>
                            <a:srgbClr val="333333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0" u="none" strike="noStrike">
                          <a:solidFill>
                            <a:srgbClr val="333333"/>
                          </a:solidFill>
                          <a:effectLst/>
                          <a:uFillTx/>
                          <a:latin typeface="Calibri"/>
                        </a:rPr>
                        <a:t>M2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0" u="none" strike="noStrike">
                          <a:solidFill>
                            <a:srgbClr val="333333"/>
                          </a:solidFill>
                          <a:effectLst/>
                          <a:uFillTx/>
                          <a:latin typeface="Calibri"/>
                        </a:rPr>
                        <a:t>M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0" u="none" strike="noStrike">
                          <a:solidFill>
                            <a:srgbClr val="333333"/>
                          </a:solidFill>
                          <a:effectLst/>
                          <a:uFillTx/>
                          <a:latin typeface="Calibri"/>
                        </a:rPr>
                        <a:t>0.0454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</a:tr>
              <a:tr h="0"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0" u="none" strike="noStrike">
                          <a:solidFill>
                            <a:srgbClr val="333333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0" u="none" strike="noStrike">
                          <a:solidFill>
                            <a:srgbClr val="333333"/>
                          </a:solidFill>
                          <a:effectLst/>
                          <a:uFillTx/>
                          <a:latin typeface="Calibri"/>
                        </a:rPr>
                        <a:t>M4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0" u="none" strike="noStrike">
                          <a:solidFill>
                            <a:srgbClr val="333333"/>
                          </a:solidFill>
                          <a:effectLst/>
                          <a:uFillTx/>
                          <a:latin typeface="Calibri"/>
                        </a:rPr>
                        <a:t>M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0" u="none" strike="noStrike">
                          <a:solidFill>
                            <a:srgbClr val="333333"/>
                          </a:solidFill>
                          <a:effectLst/>
                          <a:uFillTx/>
                          <a:latin typeface="Calibri"/>
                        </a:rPr>
                        <a:t>0.0347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</a:tr>
              <a:tr h="0"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0" u="none" strike="noStrike">
                          <a:solidFill>
                            <a:srgbClr val="333333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0" u="none" strike="noStrike">
                          <a:solidFill>
                            <a:srgbClr val="333333"/>
                          </a:solidFill>
                          <a:effectLst/>
                          <a:uFillTx/>
                          <a:latin typeface="Calibri"/>
                        </a:rPr>
                        <a:t>M5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0" u="none" strike="noStrike">
                          <a:solidFill>
                            <a:srgbClr val="333333"/>
                          </a:solidFill>
                          <a:effectLst/>
                          <a:uFillTx/>
                          <a:latin typeface="Calibri"/>
                        </a:rPr>
                        <a:t>M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0" u="none" strike="noStrike">
                          <a:solidFill>
                            <a:srgbClr val="333333"/>
                          </a:solidFill>
                          <a:effectLst/>
                          <a:uFillTx/>
                          <a:latin typeface="Calibri"/>
                        </a:rPr>
                        <a:t>0.0471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</a:tr>
              <a:tr h="0"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0" u="none" strike="noStrike">
                          <a:solidFill>
                            <a:srgbClr val="333333"/>
                          </a:solidFill>
                          <a:effectLst/>
                          <a:uFillTx/>
                          <a:latin typeface="Calibri"/>
                        </a:rPr>
                        <a:t>11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0" u="none" strike="noStrike">
                          <a:solidFill>
                            <a:srgbClr val="333333"/>
                          </a:solidFill>
                          <a:effectLst/>
                          <a:uFillTx/>
                          <a:latin typeface="Calibri"/>
                        </a:rPr>
                        <a:t>M10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0" u="none" strike="noStrike">
                          <a:solidFill>
                            <a:srgbClr val="333333"/>
                          </a:solidFill>
                          <a:effectLst/>
                          <a:uFillTx/>
                          <a:latin typeface="Calibri"/>
                        </a:rPr>
                        <a:t>M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0" u="none" strike="noStrike">
                          <a:solidFill>
                            <a:srgbClr val="333333"/>
                          </a:solidFill>
                          <a:effectLst/>
                          <a:uFillTx/>
                          <a:latin typeface="Calibri"/>
                        </a:rPr>
                        <a:t>0.0477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</a:tr>
              <a:tr h="0"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0" u="none" strike="noStrike">
                          <a:solidFill>
                            <a:srgbClr val="333333"/>
                          </a:solidFill>
                          <a:effectLst/>
                          <a:uFillTx/>
                          <a:latin typeface="Calibri"/>
                        </a:rPr>
                        <a:t>14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0" u="none" strike="noStrike">
                          <a:solidFill>
                            <a:srgbClr val="333333"/>
                          </a:solidFill>
                          <a:effectLst/>
                          <a:uFillTx/>
                          <a:latin typeface="Calibri"/>
                        </a:rPr>
                        <a:t>M15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0" u="none" strike="noStrike">
                          <a:solidFill>
                            <a:srgbClr val="333333"/>
                          </a:solidFill>
                          <a:effectLst/>
                          <a:uFillTx/>
                          <a:latin typeface="Calibri"/>
                        </a:rPr>
                        <a:t>M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0" u="none" strike="noStrike">
                          <a:solidFill>
                            <a:srgbClr val="333333"/>
                          </a:solidFill>
                          <a:effectLst/>
                          <a:uFillTx/>
                          <a:latin typeface="Calibri"/>
                        </a:rPr>
                        <a:t>0.0421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</a:tr>
              <a:tr h="0"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0" u="none" strike="noStrike">
                          <a:solidFill>
                            <a:srgbClr val="333333"/>
                          </a:solidFill>
                          <a:effectLst/>
                          <a:uFillTx/>
                          <a:latin typeface="Calibri"/>
                        </a:rPr>
                        <a:t>19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0" u="none" strike="noStrike">
                          <a:solidFill>
                            <a:srgbClr val="333333"/>
                          </a:solidFill>
                          <a:effectLst/>
                          <a:uFillTx/>
                          <a:latin typeface="Calibri"/>
                        </a:rPr>
                        <a:t>M25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0" u="none" strike="noStrike">
                          <a:solidFill>
                            <a:srgbClr val="333333"/>
                          </a:solidFill>
                          <a:effectLst/>
                          <a:uFillTx/>
                          <a:latin typeface="Calibri"/>
                        </a:rPr>
                        <a:t>M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0" u="none" strike="noStrike">
                          <a:solidFill>
                            <a:srgbClr val="333333"/>
                          </a:solidFill>
                          <a:effectLst/>
                          <a:uFillTx/>
                          <a:latin typeface="Calibri"/>
                        </a:rPr>
                        <a:t>0.0457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</a:tr>
              <a:tr h="0"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0" u="none" strike="noStrike">
                          <a:solidFill>
                            <a:srgbClr val="333333"/>
                          </a:solidFill>
                          <a:effectLst/>
                          <a:uFillTx/>
                          <a:latin typeface="Calibri"/>
                        </a:rPr>
                        <a:t>20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0" u="none" strike="noStrike">
                          <a:solidFill>
                            <a:srgbClr val="333333"/>
                          </a:solidFill>
                          <a:effectLst/>
                          <a:uFillTx/>
                          <a:latin typeface="Calibri"/>
                        </a:rPr>
                        <a:t>M26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0" u="none" strike="noStrike">
                          <a:solidFill>
                            <a:srgbClr val="333333"/>
                          </a:solidFill>
                          <a:effectLst/>
                          <a:uFillTx/>
                          <a:latin typeface="Calibri"/>
                        </a:rPr>
                        <a:t>M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0" u="none" strike="noStrike">
                          <a:solidFill>
                            <a:srgbClr val="333333"/>
                          </a:solidFill>
                          <a:effectLst/>
                          <a:uFillTx/>
                          <a:latin typeface="Calibri"/>
                        </a:rPr>
                        <a:t>0.0318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</a:tr>
              <a:tr h="0"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0" u="none" strike="noStrike">
                          <a:solidFill>
                            <a:srgbClr val="333333"/>
                          </a:solidFill>
                          <a:effectLst/>
                          <a:uFillTx/>
                          <a:latin typeface="Calibri"/>
                        </a:rPr>
                        <a:t>29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0" u="none" strike="noStrike">
                          <a:solidFill>
                            <a:srgbClr val="333333"/>
                          </a:solidFill>
                          <a:effectLst/>
                          <a:uFillTx/>
                          <a:latin typeface="Calibri"/>
                        </a:rPr>
                        <a:t>H14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0" u="none" strike="noStrike">
                          <a:solidFill>
                            <a:srgbClr val="333333"/>
                          </a:solidFill>
                          <a:effectLst/>
                          <a:uFillTx/>
                          <a:latin typeface="Calibri"/>
                        </a:rPr>
                        <a:t>H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0" u="none" strike="noStrike">
                          <a:solidFill>
                            <a:srgbClr val="333333"/>
                          </a:solidFill>
                          <a:effectLst/>
                          <a:uFillTx/>
                          <a:latin typeface="Calibri"/>
                        </a:rPr>
                        <a:t>0.0466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</a:tr>
              <a:tr h="0"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0" u="none" strike="noStrike">
                          <a:solidFill>
                            <a:srgbClr val="333333"/>
                          </a:solidFill>
                          <a:effectLst/>
                          <a:uFillTx/>
                          <a:latin typeface="Calibri"/>
                        </a:rPr>
                        <a:t>31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0" u="none" strike="noStrike">
                          <a:solidFill>
                            <a:srgbClr val="333333"/>
                          </a:solidFill>
                          <a:effectLst/>
                          <a:uFillTx/>
                          <a:latin typeface="Calibri"/>
                        </a:rPr>
                        <a:t>M30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0" u="none" strike="noStrike">
                          <a:solidFill>
                            <a:srgbClr val="333333"/>
                          </a:solidFill>
                          <a:effectLst/>
                          <a:uFillTx/>
                          <a:latin typeface="Calibri"/>
                        </a:rPr>
                        <a:t>M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0" u="none" strike="noStrike">
                          <a:solidFill>
                            <a:srgbClr val="333333"/>
                          </a:solidFill>
                          <a:effectLst/>
                          <a:uFillTx/>
                          <a:latin typeface="Calibri"/>
                        </a:rPr>
                        <a:t>0.0235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</a:tr>
              <a:tr h="0"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0" u="none" strike="noStrike">
                          <a:solidFill>
                            <a:srgbClr val="333333"/>
                          </a:solidFill>
                          <a:effectLst/>
                          <a:uFillTx/>
                          <a:latin typeface="Calibri"/>
                        </a:rPr>
                        <a:t>37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0" u="none" strike="noStrike">
                          <a:solidFill>
                            <a:srgbClr val="333333"/>
                          </a:solidFill>
                          <a:effectLst/>
                          <a:uFillTx/>
                          <a:latin typeface="Calibri"/>
                        </a:rPr>
                        <a:t>M34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0" u="none" strike="noStrike">
                          <a:solidFill>
                            <a:srgbClr val="333333"/>
                          </a:solidFill>
                          <a:effectLst/>
                          <a:uFillTx/>
                          <a:latin typeface="Calibri"/>
                        </a:rPr>
                        <a:t>M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0" u="none" strike="noStrike">
                          <a:solidFill>
                            <a:srgbClr val="333333"/>
                          </a:solidFill>
                          <a:effectLst/>
                          <a:uFillTx/>
                          <a:latin typeface="Calibri"/>
                        </a:rPr>
                        <a:t>0.0320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181" name="Text 4"/>
          <p:cNvSpPr/>
          <p:nvPr/>
        </p:nvSpPr>
        <p:spPr>
          <a:xfrm>
            <a:off x="5577840" y="1143000"/>
            <a:ext cx="3289320" cy="136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fr-FR" sz="10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DejaVu Sans"/>
              </a:rPr>
              <a:t>No-change baseline mean MAE: 0.0375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fr-FR" sz="10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DejaVu Sans"/>
              </a:rPr>
              <a:t>Note: GA sampling means only 11 debates covered.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fr-FR" sz="10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DejaVu Sans"/>
              </a:rPr>
              <a:t>Full comparison requires exhaustive no-change run.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2" name="Shape 5"/>
          <p:cNvSpPr/>
          <p:nvPr/>
        </p:nvSpPr>
        <p:spPr>
          <a:xfrm>
            <a:off x="5577840" y="2651760"/>
            <a:ext cx="3289320" cy="1369080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3" name="Text 6"/>
          <p:cNvSpPr/>
          <p:nvPr/>
        </p:nvSpPr>
        <p:spPr>
          <a:xfrm>
            <a:off x="5669280" y="2743200"/>
            <a:ext cx="3106440" cy="36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fr-FR" sz="1000" b="1" u="none" strike="noStrike">
                <a:solidFill>
                  <a:srgbClr val="1e3a5f"/>
                </a:solidFill>
                <a:effectLst/>
                <a:uFillTx/>
                <a:latin typeface="Calibri"/>
                <a:ea typeface="DejaVu Sans"/>
              </a:rPr>
              <a:t>ABM vs Baseline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fr-FR" sz="1000" b="1" u="none" strike="noStrike">
                <a:solidFill>
                  <a:srgbClr val="1e3a5f"/>
                </a:solidFill>
                <a:effectLst/>
                <a:uFillTx/>
                <a:latin typeface="Calibri"/>
                <a:ea typeface="DejaVu Sans"/>
              </a:rPr>
              <a:t>(overlapping debates only)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4" name="Text 7"/>
          <p:cNvSpPr/>
          <p:nvPr/>
        </p:nvSpPr>
        <p:spPr>
          <a:xfrm>
            <a:off x="5669280" y="3127320"/>
            <a:ext cx="3106440" cy="91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fr-FR" sz="9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DejaVu Sans"/>
              </a:rPr>
              <a:t>Clustering mean MAE: 0.096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fr-FR" sz="9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DejaVu Sans"/>
              </a:rPr>
              <a:t>Consensus mean MAE: 0.129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fr-FR" sz="9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DejaVu Sans"/>
              </a:rPr>
              <a:t>Bipolarization mean MAE: 0.136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fr-FR" sz="9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DejaVu Sans"/>
              </a:rPr>
              <a:t>Baseline mean MAE: 0.038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fr-FR" sz="9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DejaVu Sans"/>
              </a:rPr>
              <a:t>→ No model beats baseline on average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5" name="Text 8"/>
          <p:cNvSpPr/>
          <p:nvPr/>
        </p:nvSpPr>
        <p:spPr>
          <a:xfrm>
            <a:off x="274320" y="4114800"/>
            <a:ext cx="8592840" cy="80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fr-FR" sz="10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DejaVu Sans"/>
              </a:rPr>
              <a:t>Interpretation: The no-change baseline (MAE=0.038) outperforms all social influence models on average. This is an important negative result — adding social dynamics does not improve prediction on these data without further calibration.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Shape 0"/>
          <p:cNvSpPr/>
          <p:nvPr/>
        </p:nvSpPr>
        <p:spPr>
          <a:xfrm>
            <a:off x="0" y="0"/>
            <a:ext cx="9141480" cy="3632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7" name="Text 1"/>
          <p:cNvSpPr/>
          <p:nvPr/>
        </p:nvSpPr>
        <p:spPr>
          <a:xfrm>
            <a:off x="182880" y="0"/>
            <a:ext cx="8775720" cy="36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fr-FR" sz="1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DejaVu Sans"/>
              </a:rPr>
              <a:t>BATCH LEVEL — PARAMETER SENSITIVITY (RQ1)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" name="Text 2"/>
          <p:cNvSpPr/>
          <p:nvPr/>
        </p:nvSpPr>
        <p:spPr>
          <a:xfrm>
            <a:off x="274320" y="457200"/>
            <a:ext cx="8592840" cy="54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fr-FR" sz="2000" b="1" u="none" strike="noStrike">
                <a:solidFill>
                  <a:srgbClr val="1e3a5f"/>
                </a:solidFill>
                <a:effectLst/>
                <a:uFillTx/>
                <a:latin typeface="Calibri"/>
                <a:ea typeface="DejaVu Sans"/>
              </a:rPr>
              <a:t>Parameter Correlations with MAE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9" name="Shape 3"/>
          <p:cNvSpPr/>
          <p:nvPr/>
        </p:nvSpPr>
        <p:spPr>
          <a:xfrm>
            <a:off x="274320" y="1023840"/>
            <a:ext cx="8595360" cy="360"/>
          </a:xfrm>
          <a:prstGeom prst="line">
            <a:avLst/>
          </a:prstGeom>
          <a:ln w="1270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90" name="Table 0"/>
          <p:cNvGraphicFramePr/>
          <p:nvPr/>
        </p:nvGraphicFramePr>
        <p:xfrm>
          <a:off x="274320" y="1143000"/>
          <a:ext cx="8229240" cy="1284120"/>
        </p:xfrm>
        <a:graphic>
          <a:graphicData uri="http://schemas.openxmlformats.org/drawingml/2006/table">
            <a:tbl>
              <a:tblPr/>
              <a:tblGrid>
                <a:gridCol w="1463040"/>
                <a:gridCol w="914400"/>
                <a:gridCol w="1463040"/>
                <a:gridCol w="1463040"/>
                <a:gridCol w="1463040"/>
                <a:gridCol w="1463040"/>
              </a:tblGrid>
              <a:tr h="0"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fr-FR" sz="9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Model Type</a:t>
                      </a:r>
                      <a:endParaRPr lang="en-US" sz="9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Use Distinct</a:t>
                      </a:r>
                      <a:endParaRPr lang="en-US" sz="9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r(convergence_rate)</a:t>
                      </a:r>
                      <a:endParaRPr lang="en-US" sz="9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r(confidence_threshold)</a:t>
                      </a:r>
                      <a:endParaRPr lang="en-US" sz="9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r(repulsion_strength)</a:t>
                      </a:r>
                      <a:endParaRPr lang="en-US" sz="9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r(repulsion_threshold)</a:t>
                      </a:r>
                      <a:endParaRPr lang="en-US" sz="9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1e3a5f"/>
                    </a:solidFill>
                  </a:tcPr>
                </a:tc>
              </a:tr>
              <a:tr h="0"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0" u="none" strike="noStrike">
                          <a:solidFill>
                            <a:srgbClr val="333333"/>
                          </a:solidFill>
                          <a:effectLst/>
                          <a:uFillTx/>
                          <a:latin typeface="Calibri"/>
                        </a:rPr>
                        <a:t>bipolarization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0" u="none" strike="noStrike">
                          <a:solidFill>
                            <a:srgbClr val="333333"/>
                          </a:solidFill>
                          <a:effectLst/>
                          <a:uFillTx/>
                          <a:latin typeface="Calibri"/>
                        </a:rPr>
                        <a:t>false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0" u="none" strike="noStrike">
                          <a:solidFill>
                            <a:srgbClr val="333333"/>
                          </a:solidFill>
                          <a:effectLst/>
                          <a:uFillTx/>
                          <a:latin typeface="Calibri"/>
                        </a:rPr>
                        <a:t>0.030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0" u="none" strike="noStrike">
                          <a:solidFill>
                            <a:srgbClr val="333333"/>
                          </a:solidFill>
                          <a:effectLst/>
                          <a:uFillTx/>
                          <a:latin typeface="Calibri"/>
                        </a:rPr>
                        <a:t>—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0" u="none" strike="noStrike">
                          <a:solidFill>
                            <a:srgbClr val="333333"/>
                          </a:solidFill>
                          <a:effectLst/>
                          <a:uFillTx/>
                          <a:latin typeface="Calibri"/>
                        </a:rPr>
                        <a:t>-0.522 ***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0" u="none" strike="noStrike">
                          <a:solidFill>
                            <a:srgbClr val="333333"/>
                          </a:solidFill>
                          <a:effectLst/>
                          <a:uFillTx/>
                          <a:latin typeface="Calibri"/>
                        </a:rPr>
                        <a:t>-0.522 ***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</a:tr>
              <a:tr h="0"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0" u="none" strike="noStrike">
                          <a:solidFill>
                            <a:srgbClr val="333333"/>
                          </a:solidFill>
                          <a:effectLst/>
                          <a:uFillTx/>
                          <a:latin typeface="Calibri"/>
                        </a:rPr>
                        <a:t>clustering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0" u="none" strike="noStrike">
                          <a:solidFill>
                            <a:srgbClr val="333333"/>
                          </a:solidFill>
                          <a:effectLst/>
                          <a:uFillTx/>
                          <a:latin typeface="Calibri"/>
                        </a:rPr>
                        <a:t>false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0" u="none" strike="noStrike">
                          <a:solidFill>
                            <a:srgbClr val="333333"/>
                          </a:solidFill>
                          <a:effectLst/>
                          <a:uFillTx/>
                          <a:latin typeface="Calibri"/>
                        </a:rPr>
                        <a:t>-0.089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0" u="none" strike="noStrike">
                          <a:solidFill>
                            <a:srgbClr val="333333"/>
                          </a:solidFill>
                          <a:effectLst/>
                          <a:uFillTx/>
                          <a:latin typeface="Calibri"/>
                        </a:rPr>
                        <a:t>—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0" u="none" strike="noStrike">
                          <a:solidFill>
                            <a:srgbClr val="333333"/>
                          </a:solidFill>
                          <a:effectLst/>
                          <a:uFillTx/>
                          <a:latin typeface="Calibri"/>
                        </a:rPr>
                        <a:t>N/A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0" u="none" strike="noStrike">
                          <a:solidFill>
                            <a:srgbClr val="333333"/>
                          </a:solidFill>
                          <a:effectLst/>
                          <a:uFillTx/>
                          <a:latin typeface="Calibri"/>
                        </a:rPr>
                        <a:t>N/A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</a:tr>
              <a:tr h="0"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0" u="none" strike="noStrike">
                          <a:solidFill>
                            <a:srgbClr val="333333"/>
                          </a:solidFill>
                          <a:effectLst/>
                          <a:uFillTx/>
                          <a:latin typeface="Calibri"/>
                        </a:rPr>
                        <a:t>consensus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0" u="none" strike="noStrike">
                          <a:solidFill>
                            <a:srgbClr val="333333"/>
                          </a:solidFill>
                          <a:effectLst/>
                          <a:uFillTx/>
                          <a:latin typeface="Calibri"/>
                        </a:rPr>
                        <a:t>false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0" u="none" strike="noStrike">
                          <a:solidFill>
                            <a:srgbClr val="333333"/>
                          </a:solidFill>
                          <a:effectLst/>
                          <a:uFillTx/>
                          <a:latin typeface="Calibri"/>
                        </a:rPr>
                        <a:t>0.314 ***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0" u="none" strike="noStrike">
                          <a:solidFill>
                            <a:srgbClr val="333333"/>
                          </a:solidFill>
                          <a:effectLst/>
                          <a:uFillTx/>
                          <a:latin typeface="Calibri"/>
                        </a:rPr>
                        <a:t>N/A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0" u="none" strike="noStrike">
                          <a:solidFill>
                            <a:srgbClr val="333333"/>
                          </a:solidFill>
                          <a:effectLst/>
                          <a:uFillTx/>
                          <a:latin typeface="Calibri"/>
                        </a:rPr>
                        <a:t>N/A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0" u="none" strike="noStrike">
                          <a:solidFill>
                            <a:srgbClr val="333333"/>
                          </a:solidFill>
                          <a:effectLst/>
                          <a:uFillTx/>
                          <a:latin typeface="Calibri"/>
                        </a:rPr>
                        <a:t>N/A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</a:tr>
              <a:tr h="0"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0" u="none" strike="noStrike">
                          <a:solidFill>
                            <a:srgbClr val="333333"/>
                          </a:solidFill>
                          <a:effectLst/>
                          <a:uFillTx/>
                          <a:latin typeface="Calibri"/>
                        </a:rPr>
                        <a:t>no_change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0" u="none" strike="noStrike">
                          <a:solidFill>
                            <a:srgbClr val="333333"/>
                          </a:solidFill>
                          <a:effectLst/>
                          <a:uFillTx/>
                          <a:latin typeface="Calibri"/>
                        </a:rPr>
                        <a:t>false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0" u="none" strike="noStrike">
                          <a:solidFill>
                            <a:srgbClr val="333333"/>
                          </a:solidFill>
                          <a:effectLst/>
                          <a:uFillTx/>
                          <a:latin typeface="Calibri"/>
                        </a:rPr>
                        <a:t>0.000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0" u="none" strike="noStrike">
                          <a:solidFill>
                            <a:srgbClr val="333333"/>
                          </a:solidFill>
                          <a:effectLst/>
                          <a:uFillTx/>
                          <a:latin typeface="Calibri"/>
                        </a:rPr>
                        <a:t>N/A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0" u="none" strike="noStrike">
                          <a:solidFill>
                            <a:srgbClr val="333333"/>
                          </a:solidFill>
                          <a:effectLst/>
                          <a:uFillTx/>
                          <a:latin typeface="Calibri"/>
                        </a:rPr>
                        <a:t>N/A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0" u="none" strike="noStrike">
                          <a:solidFill>
                            <a:srgbClr val="333333"/>
                          </a:solidFill>
                          <a:effectLst/>
                          <a:uFillTx/>
                          <a:latin typeface="Calibri"/>
                        </a:rPr>
                        <a:t>N/A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191" name="Text 4"/>
          <p:cNvSpPr/>
          <p:nvPr/>
        </p:nvSpPr>
        <p:spPr>
          <a:xfrm>
            <a:off x="274320" y="2331720"/>
            <a:ext cx="859284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fr-FR" sz="900" b="0" i="1" u="none" strike="noStrike">
                <a:solidFill>
                  <a:srgbClr val="666666"/>
                </a:solidFill>
                <a:effectLst/>
                <a:uFillTx/>
                <a:latin typeface="Calibri"/>
                <a:ea typeface="DejaVu Sans"/>
              </a:rPr>
              <a:t>Note: *** p&lt;0.001 (approximate). N/A = parameter not varied or not applicable for this model.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2" name="Text 5"/>
          <p:cNvSpPr/>
          <p:nvPr/>
        </p:nvSpPr>
        <p:spPr>
          <a:xfrm>
            <a:off x="274320" y="2697480"/>
            <a:ext cx="859284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fr-FR" sz="1100" b="1" u="none" strike="noStrike">
                <a:solidFill>
                  <a:srgbClr val="1e3a5f"/>
                </a:solidFill>
                <a:effectLst/>
                <a:uFillTx/>
                <a:latin typeface="Calibri"/>
                <a:ea typeface="DejaVu Sans"/>
              </a:rPr>
              <a:t>Best Parameter Sets Per Model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93" name="Table 1"/>
          <p:cNvGraphicFramePr/>
          <p:nvPr/>
        </p:nvGraphicFramePr>
        <p:xfrm>
          <a:off x="274320" y="3017520"/>
          <a:ext cx="7680600" cy="1284120"/>
        </p:xfrm>
        <a:graphic>
          <a:graphicData uri="http://schemas.openxmlformats.org/drawingml/2006/table">
            <a:tbl>
              <a:tblPr/>
              <a:tblGrid>
                <a:gridCol w="1371600"/>
                <a:gridCol w="822960"/>
                <a:gridCol w="914400"/>
                <a:gridCol w="1005840"/>
                <a:gridCol w="914400"/>
                <a:gridCol w="731520"/>
                <a:gridCol w="640080"/>
                <a:gridCol w="1280160"/>
              </a:tblGrid>
              <a:tr h="0"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fr-FR" sz="9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Model Type</a:t>
                      </a:r>
                      <a:endParaRPr lang="en-US" sz="9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conv_rate</a:t>
                      </a:r>
                      <a:endParaRPr lang="en-US" sz="9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conf_thresh</a:t>
                      </a:r>
                      <a:endParaRPr lang="en-US" sz="9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repulsion_thresh</a:t>
                      </a:r>
                      <a:endParaRPr lang="en-US" sz="9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repulsion_str</a:t>
                      </a:r>
                      <a:endParaRPr lang="en-US" sz="9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Best MAE</a:t>
                      </a:r>
                      <a:endParaRPr lang="en-US" sz="9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Debate</a:t>
                      </a:r>
                      <a:endParaRPr lang="en-US" sz="9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Condition</a:t>
                      </a:r>
                      <a:endParaRPr lang="en-US" sz="9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1e3a5f"/>
                    </a:solidFill>
                  </a:tcPr>
                </a:tc>
              </a:tr>
              <a:tr h="0"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0" u="none" strike="noStrike">
                          <a:solidFill>
                            <a:srgbClr val="333333"/>
                          </a:solidFill>
                          <a:effectLst/>
                          <a:uFillTx/>
                          <a:latin typeface="Calibri"/>
                        </a:rPr>
                        <a:t>bipolarization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0" u="none" strike="noStrike">
                          <a:solidFill>
                            <a:srgbClr val="333333"/>
                          </a:solidFill>
                          <a:effectLst/>
                          <a:uFillTx/>
                          <a:latin typeface="Calibri"/>
                        </a:rPr>
                        <a:t>0.1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0" u="none" strike="noStrike">
                          <a:solidFill>
                            <a:srgbClr val="333333"/>
                          </a:solidFill>
                          <a:effectLst/>
                          <a:uFillTx/>
                          <a:latin typeface="Calibri"/>
                        </a:rPr>
                        <a:t>0.5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0" u="none" strike="noStrike">
                          <a:solidFill>
                            <a:srgbClr val="333333"/>
                          </a:solidFill>
                          <a:effectLst/>
                          <a:uFillTx/>
                          <a:latin typeface="Calibri"/>
                        </a:rPr>
                        <a:t>0.6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0" u="none" strike="noStrike">
                          <a:solidFill>
                            <a:srgbClr val="333333"/>
                          </a:solidFill>
                          <a:effectLst/>
                          <a:uFillTx/>
                          <a:latin typeface="Calibri"/>
                        </a:rPr>
                        <a:t>0.1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0" u="none" strike="noStrike">
                          <a:solidFill>
                            <a:srgbClr val="333333"/>
                          </a:solidFill>
                          <a:effectLst/>
                          <a:uFillTx/>
                          <a:latin typeface="Calibri"/>
                        </a:rPr>
                        <a:t>0.0201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0" u="none" strike="noStrike">
                          <a:solidFill>
                            <a:srgbClr val="333333"/>
                          </a:solidFill>
                          <a:effectLst/>
                          <a:uFillTx/>
                          <a:latin typeface="Calibri"/>
                        </a:rPr>
                        <a:t>M26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0" u="none" strike="noStrike">
                          <a:solidFill>
                            <a:srgbClr val="333333"/>
                          </a:solidFill>
                          <a:effectLst/>
                          <a:uFillTx/>
                          <a:latin typeface="Calibri"/>
                        </a:rPr>
                        <a:t>heterogeneous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</a:tr>
              <a:tr h="0"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0" u="none" strike="noStrike">
                          <a:solidFill>
                            <a:srgbClr val="333333"/>
                          </a:solidFill>
                          <a:effectLst/>
                          <a:uFillTx/>
                          <a:latin typeface="Calibri"/>
                        </a:rPr>
                        <a:t>clustering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0" u="none" strike="noStrike">
                          <a:solidFill>
                            <a:srgbClr val="333333"/>
                          </a:solidFill>
                          <a:effectLst/>
                          <a:uFillTx/>
                          <a:latin typeface="Calibri"/>
                        </a:rPr>
                        <a:t>0.1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0" u="none" strike="noStrike">
                          <a:solidFill>
                            <a:srgbClr val="333333"/>
                          </a:solidFill>
                          <a:effectLst/>
                          <a:uFillTx/>
                          <a:latin typeface="Calibri"/>
                        </a:rPr>
                        <a:t>0.5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0" u="none" strike="noStrike">
                          <a:solidFill>
                            <a:srgbClr val="333333"/>
                          </a:solidFill>
                          <a:effectLst/>
                          <a:uFillTx/>
                          <a:latin typeface="Calibri"/>
                        </a:rPr>
                        <a:t>—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0" u="none" strike="noStrike">
                          <a:solidFill>
                            <a:srgbClr val="333333"/>
                          </a:solidFill>
                          <a:effectLst/>
                          <a:uFillTx/>
                          <a:latin typeface="Calibri"/>
                        </a:rPr>
                        <a:t>—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0" u="none" strike="noStrike">
                          <a:solidFill>
                            <a:srgbClr val="333333"/>
                          </a:solidFill>
                          <a:effectLst/>
                          <a:uFillTx/>
                          <a:latin typeface="Calibri"/>
                        </a:rPr>
                        <a:t>0.0162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0" u="none" strike="noStrike">
                          <a:solidFill>
                            <a:srgbClr val="333333"/>
                          </a:solidFill>
                          <a:effectLst/>
                          <a:uFillTx/>
                          <a:latin typeface="Calibri"/>
                        </a:rPr>
                        <a:t>M26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0" u="none" strike="noStrike">
                          <a:solidFill>
                            <a:srgbClr val="333333"/>
                          </a:solidFill>
                          <a:effectLst/>
                          <a:uFillTx/>
                          <a:latin typeface="Calibri"/>
                        </a:rPr>
                        <a:t>heterogeneous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</a:tr>
              <a:tr h="0"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0" u="none" strike="noStrike">
                          <a:solidFill>
                            <a:srgbClr val="333333"/>
                          </a:solidFill>
                          <a:effectLst/>
                          <a:uFillTx/>
                          <a:latin typeface="Calibri"/>
                        </a:rPr>
                        <a:t>consensus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0" u="none" strike="noStrike">
                          <a:solidFill>
                            <a:srgbClr val="333333"/>
                          </a:solidFill>
                          <a:effectLst/>
                          <a:uFillTx/>
                          <a:latin typeface="Calibri"/>
                        </a:rPr>
                        <a:t>0.3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0" u="none" strike="noStrike">
                          <a:solidFill>
                            <a:srgbClr val="333333"/>
                          </a:solidFill>
                          <a:effectLst/>
                          <a:uFillTx/>
                          <a:latin typeface="Calibri"/>
                        </a:rPr>
                        <a:t>—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0" u="none" strike="noStrike">
                          <a:solidFill>
                            <a:srgbClr val="333333"/>
                          </a:solidFill>
                          <a:effectLst/>
                          <a:uFillTx/>
                          <a:latin typeface="Calibri"/>
                        </a:rPr>
                        <a:t>—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0" u="none" strike="noStrike">
                          <a:solidFill>
                            <a:srgbClr val="333333"/>
                          </a:solidFill>
                          <a:effectLst/>
                          <a:uFillTx/>
                          <a:latin typeface="Calibri"/>
                        </a:rPr>
                        <a:t>—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0" u="none" strike="noStrike">
                          <a:solidFill>
                            <a:srgbClr val="333333"/>
                          </a:solidFill>
                          <a:effectLst/>
                          <a:uFillTx/>
                          <a:latin typeface="Calibri"/>
                        </a:rPr>
                        <a:t>0.0364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0" u="none" strike="noStrike">
                          <a:solidFill>
                            <a:srgbClr val="333333"/>
                          </a:solidFill>
                          <a:effectLst/>
                          <a:uFillTx/>
                          <a:latin typeface="Calibri"/>
                        </a:rPr>
                        <a:t>H15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0" u="none" strike="noStrike">
                          <a:solidFill>
                            <a:srgbClr val="333333"/>
                          </a:solidFill>
                          <a:effectLst/>
                          <a:uFillTx/>
                          <a:latin typeface="Calibri"/>
                        </a:rPr>
                        <a:t>homogeneous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</a:tr>
              <a:tr h="0"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0" u="none" strike="noStrike">
                          <a:solidFill>
                            <a:srgbClr val="333333"/>
                          </a:solidFill>
                          <a:effectLst/>
                          <a:uFillTx/>
                          <a:latin typeface="Calibri"/>
                        </a:rPr>
                        <a:t>no_change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0" u="none" strike="noStrike">
                          <a:solidFill>
                            <a:srgbClr val="333333"/>
                          </a:solidFill>
                          <a:effectLst/>
                          <a:uFillTx/>
                          <a:latin typeface="Calibri"/>
                        </a:rPr>
                        <a:t>—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0" u="none" strike="noStrike">
                          <a:solidFill>
                            <a:srgbClr val="333333"/>
                          </a:solidFill>
                          <a:effectLst/>
                          <a:uFillTx/>
                          <a:latin typeface="Calibri"/>
                        </a:rPr>
                        <a:t>—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0" u="none" strike="noStrike">
                          <a:solidFill>
                            <a:srgbClr val="333333"/>
                          </a:solidFill>
                          <a:effectLst/>
                          <a:uFillTx/>
                          <a:latin typeface="Calibri"/>
                        </a:rPr>
                        <a:t>—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0" u="none" strike="noStrike">
                          <a:solidFill>
                            <a:srgbClr val="333333"/>
                          </a:solidFill>
                          <a:effectLst/>
                          <a:uFillTx/>
                          <a:latin typeface="Calibri"/>
                        </a:rPr>
                        <a:t>—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0" u="none" strike="noStrike">
                          <a:solidFill>
                            <a:srgbClr val="333333"/>
                          </a:solidFill>
                          <a:effectLst/>
                          <a:uFillTx/>
                          <a:latin typeface="Calibri"/>
                        </a:rPr>
                        <a:t>0.0156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0" u="none" strike="noStrike">
                          <a:solidFill>
                            <a:srgbClr val="333333"/>
                          </a:solidFill>
                          <a:effectLst/>
                          <a:uFillTx/>
                          <a:latin typeface="Calibri"/>
                        </a:rPr>
                        <a:t>M1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0" u="none" strike="noStrike">
                          <a:solidFill>
                            <a:srgbClr val="333333"/>
                          </a:solidFill>
                          <a:effectLst/>
                          <a:uFillTx/>
                          <a:latin typeface="Calibri"/>
                        </a:rPr>
                        <a:t>heterogeneous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194" name="Text 6"/>
          <p:cNvSpPr/>
          <p:nvPr/>
        </p:nvSpPr>
        <p:spPr>
          <a:xfrm>
            <a:off x="274320" y="4160520"/>
            <a:ext cx="8592840" cy="77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fr-FR" sz="10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DejaVu Sans"/>
              </a:rPr>
              <a:t>Interpretation: Convergence rate is the key parameter for consensus (r=0.314 — higher rate = worse MAE). For bipolarization, repulsion threshold drives predictions most strongly (r=-0.522). Clustering shows weak parameter sensitivity in this batch.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Shape 0"/>
          <p:cNvSpPr/>
          <p:nvPr/>
        </p:nvSpPr>
        <p:spPr>
          <a:xfrm>
            <a:off x="0" y="0"/>
            <a:ext cx="9141480" cy="3632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6" name="Text 1"/>
          <p:cNvSpPr/>
          <p:nvPr/>
        </p:nvSpPr>
        <p:spPr>
          <a:xfrm>
            <a:off x="182880" y="0"/>
            <a:ext cx="8775720" cy="36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fr-FR" sz="1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DejaVu Sans"/>
              </a:rPr>
              <a:t>BATCH LEVEL — DEBATE-LEVEL INSIGHTS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7" name="Text 2"/>
          <p:cNvSpPr/>
          <p:nvPr/>
        </p:nvSpPr>
        <p:spPr>
          <a:xfrm>
            <a:off x="274320" y="457200"/>
            <a:ext cx="8592840" cy="54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fr-FR" sz="2000" b="1" u="none" strike="noStrike">
                <a:solidFill>
                  <a:srgbClr val="1e3a5f"/>
                </a:solidFill>
                <a:effectLst/>
                <a:uFillTx/>
                <a:latin typeface="Calibri"/>
                <a:ea typeface="DejaVu Sans"/>
              </a:rPr>
              <a:t>Hardest &amp; Easiest Debates to Predict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8" name="Shape 3"/>
          <p:cNvSpPr/>
          <p:nvPr/>
        </p:nvSpPr>
        <p:spPr>
          <a:xfrm>
            <a:off x="274320" y="1023840"/>
            <a:ext cx="8595360" cy="360"/>
          </a:xfrm>
          <a:prstGeom prst="line">
            <a:avLst/>
          </a:prstGeom>
          <a:ln w="1270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9" name="Text 4"/>
          <p:cNvSpPr/>
          <p:nvPr/>
        </p:nvSpPr>
        <p:spPr>
          <a:xfrm>
            <a:off x="274320" y="1143000"/>
            <a:ext cx="411228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fr-FR" sz="1100" b="1" u="none" strike="noStrike">
                <a:solidFill>
                  <a:srgbClr val="1a7a4a"/>
                </a:solidFill>
                <a:effectLst/>
                <a:uFillTx/>
                <a:latin typeface="Calibri"/>
                <a:ea typeface="DejaVu Sans"/>
              </a:rPr>
              <a:t>Top 5 Easiest Debates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00" name="Table 0"/>
          <p:cNvGraphicFramePr/>
          <p:nvPr/>
        </p:nvGraphicFramePr>
        <p:xfrm>
          <a:off x="274320" y="1463040"/>
          <a:ext cx="4114440" cy="1375920"/>
        </p:xfrm>
        <a:graphic>
          <a:graphicData uri="http://schemas.openxmlformats.org/drawingml/2006/table">
            <a:tbl>
              <a:tblPr/>
              <a:tblGrid>
                <a:gridCol w="914400"/>
                <a:gridCol w="1371600"/>
                <a:gridCol w="914400"/>
                <a:gridCol w="914400"/>
              </a:tblGrid>
              <a:tr h="0"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fr-FR" sz="9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Label</a:t>
                      </a:r>
                      <a:endParaRPr lang="en-US" sz="9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Condition</a:t>
                      </a:r>
                      <a:endParaRPr lang="en-US" sz="9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Mean MAE</a:t>
                      </a:r>
                      <a:endParaRPr lang="en-US" sz="9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Min MAE</a:t>
                      </a:r>
                      <a:endParaRPr lang="en-US" sz="9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1e3a5f"/>
                    </a:solidFill>
                  </a:tcPr>
                </a:tc>
              </a:tr>
              <a:tr h="0"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0" u="none" strike="noStrike">
                          <a:solidFill>
                            <a:srgbClr val="333333"/>
                          </a:solidFill>
                          <a:effectLst/>
                          <a:uFillTx/>
                          <a:latin typeface="Calibri"/>
                        </a:rPr>
                        <a:t>H15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0" u="none" strike="noStrike">
                          <a:solidFill>
                            <a:srgbClr val="333333"/>
                          </a:solidFill>
                          <a:effectLst/>
                          <a:uFillTx/>
                          <a:latin typeface="Calibri"/>
                        </a:rPr>
                        <a:t>homogeneous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0" u="none" strike="noStrike">
                          <a:solidFill>
                            <a:srgbClr val="333333"/>
                          </a:solidFill>
                          <a:effectLst/>
                          <a:uFillTx/>
                          <a:latin typeface="Calibri"/>
                        </a:rPr>
                        <a:t>0.0387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0" u="none" strike="noStrike">
                          <a:solidFill>
                            <a:srgbClr val="333333"/>
                          </a:solidFill>
                          <a:effectLst/>
                          <a:uFillTx/>
                          <a:latin typeface="Calibri"/>
                        </a:rPr>
                        <a:t>0.0364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</a:tr>
              <a:tr h="0"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0" u="none" strike="noStrike">
                          <a:solidFill>
                            <a:srgbClr val="333333"/>
                          </a:solidFill>
                          <a:effectLst/>
                          <a:uFillTx/>
                          <a:latin typeface="Calibri"/>
                        </a:rPr>
                        <a:t>H14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0" u="none" strike="noStrike">
                          <a:solidFill>
                            <a:srgbClr val="333333"/>
                          </a:solidFill>
                          <a:effectLst/>
                          <a:uFillTx/>
                          <a:latin typeface="Calibri"/>
                        </a:rPr>
                        <a:t>homogeneous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0" u="none" strike="noStrike">
                          <a:solidFill>
                            <a:srgbClr val="333333"/>
                          </a:solidFill>
                          <a:effectLst/>
                          <a:uFillTx/>
                          <a:latin typeface="Calibri"/>
                        </a:rPr>
                        <a:t>0.0575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0" u="none" strike="noStrike">
                          <a:solidFill>
                            <a:srgbClr val="333333"/>
                          </a:solidFill>
                          <a:effectLst/>
                          <a:uFillTx/>
                          <a:latin typeface="Calibri"/>
                        </a:rPr>
                        <a:t>0.0466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</a:tr>
              <a:tr h="0"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0" u="none" strike="noStrike">
                          <a:solidFill>
                            <a:srgbClr val="333333"/>
                          </a:solidFill>
                          <a:effectLst/>
                          <a:uFillTx/>
                          <a:latin typeface="Calibri"/>
                        </a:rPr>
                        <a:t>H20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0" u="none" strike="noStrike">
                          <a:solidFill>
                            <a:srgbClr val="333333"/>
                          </a:solidFill>
                          <a:effectLst/>
                          <a:uFillTx/>
                          <a:latin typeface="Calibri"/>
                        </a:rPr>
                        <a:t>homogeneous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0" u="none" strike="noStrike">
                          <a:solidFill>
                            <a:srgbClr val="333333"/>
                          </a:solidFill>
                          <a:effectLst/>
                          <a:uFillTx/>
                          <a:latin typeface="Calibri"/>
                        </a:rPr>
                        <a:t>0.0663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0" u="none" strike="noStrike">
                          <a:solidFill>
                            <a:srgbClr val="333333"/>
                          </a:solidFill>
                          <a:effectLst/>
                          <a:uFillTx/>
                          <a:latin typeface="Calibri"/>
                        </a:rPr>
                        <a:t>0.0558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</a:tr>
              <a:tr h="0"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0" u="none" strike="noStrike">
                          <a:solidFill>
                            <a:srgbClr val="333333"/>
                          </a:solidFill>
                          <a:effectLst/>
                          <a:uFillTx/>
                          <a:latin typeface="Calibri"/>
                        </a:rPr>
                        <a:t>H11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0" u="none" strike="noStrike">
                          <a:solidFill>
                            <a:srgbClr val="333333"/>
                          </a:solidFill>
                          <a:effectLst/>
                          <a:uFillTx/>
                          <a:latin typeface="Calibri"/>
                        </a:rPr>
                        <a:t>homogeneous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0" u="none" strike="noStrike">
                          <a:solidFill>
                            <a:srgbClr val="333333"/>
                          </a:solidFill>
                          <a:effectLst/>
                          <a:uFillTx/>
                          <a:latin typeface="Calibri"/>
                        </a:rPr>
                        <a:t>0.0708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0" u="none" strike="noStrike">
                          <a:solidFill>
                            <a:srgbClr val="333333"/>
                          </a:solidFill>
                          <a:effectLst/>
                          <a:uFillTx/>
                          <a:latin typeface="Calibri"/>
                        </a:rPr>
                        <a:t>0.0480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</a:tr>
              <a:tr h="0"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0" u="none" strike="noStrike">
                          <a:solidFill>
                            <a:srgbClr val="333333"/>
                          </a:solidFill>
                          <a:effectLst/>
                          <a:uFillTx/>
                          <a:latin typeface="Calibri"/>
                        </a:rPr>
                        <a:t>M30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0" u="none" strike="noStrike">
                          <a:solidFill>
                            <a:srgbClr val="333333"/>
                          </a:solidFill>
                          <a:effectLst/>
                          <a:uFillTx/>
                          <a:latin typeface="Calibri"/>
                        </a:rPr>
                        <a:t>heterogeneous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0" u="none" strike="noStrike">
                          <a:solidFill>
                            <a:srgbClr val="333333"/>
                          </a:solidFill>
                          <a:effectLst/>
                          <a:uFillTx/>
                          <a:latin typeface="Calibri"/>
                        </a:rPr>
                        <a:t>0.0722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0" u="none" strike="noStrike">
                          <a:solidFill>
                            <a:srgbClr val="333333"/>
                          </a:solidFill>
                          <a:effectLst/>
                          <a:uFillTx/>
                          <a:latin typeface="Calibri"/>
                        </a:rPr>
                        <a:t>0.0235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201" name="Text 5"/>
          <p:cNvSpPr/>
          <p:nvPr/>
        </p:nvSpPr>
        <p:spPr>
          <a:xfrm>
            <a:off x="4663440" y="1143000"/>
            <a:ext cx="411228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fr-FR" sz="1100" b="1" u="none" strike="noStrike">
                <a:solidFill>
                  <a:srgbClr val="c0392b"/>
                </a:solidFill>
                <a:effectLst/>
                <a:uFillTx/>
                <a:latin typeface="Calibri"/>
                <a:ea typeface="DejaVu Sans"/>
              </a:rPr>
              <a:t>Top 5 Hardest Debates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02" name="Table 1"/>
          <p:cNvGraphicFramePr/>
          <p:nvPr/>
        </p:nvGraphicFramePr>
        <p:xfrm>
          <a:off x="4663440" y="1463040"/>
          <a:ext cx="4114440" cy="1375920"/>
        </p:xfrm>
        <a:graphic>
          <a:graphicData uri="http://schemas.openxmlformats.org/drawingml/2006/table">
            <a:tbl>
              <a:tblPr/>
              <a:tblGrid>
                <a:gridCol w="914400"/>
                <a:gridCol w="1371600"/>
                <a:gridCol w="914400"/>
                <a:gridCol w="914400"/>
              </a:tblGrid>
              <a:tr h="0"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fr-FR" sz="9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Label</a:t>
                      </a:r>
                      <a:endParaRPr lang="en-US" sz="9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Condition</a:t>
                      </a:r>
                      <a:endParaRPr lang="en-US" sz="9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Mean MAE</a:t>
                      </a:r>
                      <a:endParaRPr lang="en-US" sz="9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Min MAE</a:t>
                      </a:r>
                      <a:endParaRPr lang="en-US" sz="9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1e3a5f"/>
                    </a:solidFill>
                  </a:tcPr>
                </a:tc>
              </a:tr>
              <a:tr h="0"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0" u="none" strike="noStrike">
                          <a:solidFill>
                            <a:srgbClr val="333333"/>
                          </a:solidFill>
                          <a:effectLst/>
                          <a:uFillTx/>
                          <a:latin typeface="Calibri"/>
                        </a:rPr>
                        <a:t>M13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0" u="none" strike="noStrike">
                          <a:solidFill>
                            <a:srgbClr val="333333"/>
                          </a:solidFill>
                          <a:effectLst/>
                          <a:uFillTx/>
                          <a:latin typeface="Calibri"/>
                        </a:rPr>
                        <a:t>heterogeneous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0" u="none" strike="noStrike">
                          <a:solidFill>
                            <a:srgbClr val="333333"/>
                          </a:solidFill>
                          <a:effectLst/>
                          <a:uFillTx/>
                          <a:latin typeface="Calibri"/>
                        </a:rPr>
                        <a:t>0.2012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0" u="none" strike="noStrike">
                          <a:solidFill>
                            <a:srgbClr val="333333"/>
                          </a:solidFill>
                          <a:effectLst/>
                          <a:uFillTx/>
                          <a:latin typeface="Calibri"/>
                        </a:rPr>
                        <a:t>0.1595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</a:tr>
              <a:tr h="0"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0" u="none" strike="noStrike">
                          <a:solidFill>
                            <a:srgbClr val="333333"/>
                          </a:solidFill>
                          <a:effectLst/>
                          <a:uFillTx/>
                          <a:latin typeface="Calibri"/>
                        </a:rPr>
                        <a:t>M5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0" u="none" strike="noStrike">
                          <a:solidFill>
                            <a:srgbClr val="333333"/>
                          </a:solidFill>
                          <a:effectLst/>
                          <a:uFillTx/>
                          <a:latin typeface="Calibri"/>
                        </a:rPr>
                        <a:t>heterogeneous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0" u="none" strike="noStrike">
                          <a:solidFill>
                            <a:srgbClr val="333333"/>
                          </a:solidFill>
                          <a:effectLst/>
                          <a:uFillTx/>
                          <a:latin typeface="Calibri"/>
                        </a:rPr>
                        <a:t>0.1906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0" u="none" strike="noStrike">
                          <a:solidFill>
                            <a:srgbClr val="333333"/>
                          </a:solidFill>
                          <a:effectLst/>
                          <a:uFillTx/>
                          <a:latin typeface="Calibri"/>
                        </a:rPr>
                        <a:t>0.0471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</a:tr>
              <a:tr h="0"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0" u="none" strike="noStrike">
                          <a:solidFill>
                            <a:srgbClr val="333333"/>
                          </a:solidFill>
                          <a:effectLst/>
                          <a:uFillTx/>
                          <a:latin typeface="Calibri"/>
                        </a:rPr>
                        <a:t>M20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0" u="none" strike="noStrike">
                          <a:solidFill>
                            <a:srgbClr val="333333"/>
                          </a:solidFill>
                          <a:effectLst/>
                          <a:uFillTx/>
                          <a:latin typeface="Calibri"/>
                        </a:rPr>
                        <a:t>heterogeneous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0" u="none" strike="noStrike">
                          <a:solidFill>
                            <a:srgbClr val="333333"/>
                          </a:solidFill>
                          <a:effectLst/>
                          <a:uFillTx/>
                          <a:latin typeface="Calibri"/>
                        </a:rPr>
                        <a:t>0.1571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0" u="none" strike="noStrike">
                          <a:solidFill>
                            <a:srgbClr val="333333"/>
                          </a:solidFill>
                          <a:effectLst/>
                          <a:uFillTx/>
                          <a:latin typeface="Calibri"/>
                        </a:rPr>
                        <a:t>0.1564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</a:tr>
              <a:tr h="0"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0" u="none" strike="noStrike">
                          <a:solidFill>
                            <a:srgbClr val="333333"/>
                          </a:solidFill>
                          <a:effectLst/>
                          <a:uFillTx/>
                          <a:latin typeface="Calibri"/>
                        </a:rPr>
                        <a:t>M6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0" u="none" strike="noStrike">
                          <a:solidFill>
                            <a:srgbClr val="333333"/>
                          </a:solidFill>
                          <a:effectLst/>
                          <a:uFillTx/>
                          <a:latin typeface="Calibri"/>
                        </a:rPr>
                        <a:t>heterogeneous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0" u="none" strike="noStrike">
                          <a:solidFill>
                            <a:srgbClr val="333333"/>
                          </a:solidFill>
                          <a:effectLst/>
                          <a:uFillTx/>
                          <a:latin typeface="Calibri"/>
                        </a:rPr>
                        <a:t>0.1524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0" u="none" strike="noStrike">
                          <a:solidFill>
                            <a:srgbClr val="333333"/>
                          </a:solidFill>
                          <a:effectLst/>
                          <a:uFillTx/>
                          <a:latin typeface="Calibri"/>
                        </a:rPr>
                        <a:t>0.1384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</a:tr>
              <a:tr h="0"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0" u="none" strike="noStrike">
                          <a:solidFill>
                            <a:srgbClr val="333333"/>
                          </a:solidFill>
                          <a:effectLst/>
                          <a:uFillTx/>
                          <a:latin typeface="Calibri"/>
                        </a:rPr>
                        <a:t>M16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0" u="none" strike="noStrike">
                          <a:solidFill>
                            <a:srgbClr val="333333"/>
                          </a:solidFill>
                          <a:effectLst/>
                          <a:uFillTx/>
                          <a:latin typeface="Calibri"/>
                        </a:rPr>
                        <a:t>heterogeneous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0" u="none" strike="noStrike">
                          <a:solidFill>
                            <a:srgbClr val="333333"/>
                          </a:solidFill>
                          <a:effectLst/>
                          <a:uFillTx/>
                          <a:latin typeface="Calibri"/>
                        </a:rPr>
                        <a:t>0.1488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0" u="none" strike="noStrike">
                          <a:solidFill>
                            <a:srgbClr val="333333"/>
                          </a:solidFill>
                          <a:effectLst/>
                          <a:uFillTx/>
                          <a:latin typeface="Calibri"/>
                        </a:rPr>
                        <a:t>0.1427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203" name="Text 6"/>
          <p:cNvSpPr/>
          <p:nvPr/>
        </p:nvSpPr>
        <p:spPr>
          <a:xfrm>
            <a:off x="274320" y="3063240"/>
            <a:ext cx="859284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fr-FR" sz="1100" b="1" u="none" strike="noStrike">
                <a:solidFill>
                  <a:srgbClr val="1e3a5f"/>
                </a:solidFill>
                <a:effectLst/>
                <a:uFillTx/>
                <a:latin typeface="Calibri"/>
                <a:ea typeface="DejaVu Sans"/>
              </a:rPr>
              <a:t>Interpretation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4" name="Text 7"/>
          <p:cNvSpPr/>
          <p:nvPr/>
        </p:nvSpPr>
        <p:spPr>
          <a:xfrm>
            <a:off x="274320" y="3383280"/>
            <a:ext cx="8592840" cy="100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fr-FR" sz="10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DejaVu Sans"/>
              </a:rPr>
              <a:t>All top 5 easiest debates are homogeneous (H-prefix), all top 5 hardest are heterogeneous (M-prefix). This is a clean pattern supporting H4. Notably, M30 is an exception — a heterogeneous debate with low mean MAE (0.072), worth investigating. M13 has the worst mean MAE (0.201) but M5 has a very low min MAE (0.047), suggesting that with the right parameters M5 can be predicted well — but M13 cannot.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Shape 0"/>
          <p:cNvSpPr/>
          <p:nvPr/>
        </p:nvSpPr>
        <p:spPr>
          <a:xfrm>
            <a:off x="0" y="0"/>
            <a:ext cx="9141480" cy="3632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6" name="Text 1"/>
          <p:cNvSpPr/>
          <p:nvPr/>
        </p:nvSpPr>
        <p:spPr>
          <a:xfrm>
            <a:off x="182880" y="0"/>
            <a:ext cx="8775720" cy="36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fr-FR" sz="1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DejaVu Sans"/>
              </a:rPr>
              <a:t>AGENT LEVEL — OLS REGRESSION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7" name="Text 2"/>
          <p:cNvSpPr/>
          <p:nvPr/>
        </p:nvSpPr>
        <p:spPr>
          <a:xfrm>
            <a:off x="274320" y="457200"/>
            <a:ext cx="8592840" cy="54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fr-FR" sz="2000" b="1" u="none" strike="noStrike">
                <a:solidFill>
                  <a:srgbClr val="1e3a5f"/>
                </a:solidFill>
                <a:effectLst/>
                <a:uFillTx/>
                <a:latin typeface="Calibri"/>
                <a:ea typeface="DejaVu Sans"/>
              </a:rPr>
              <a:t>H1 — OLS: Pre-Deliberation Attitudes Predict Post-Deliberation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8" name="Shape 3"/>
          <p:cNvSpPr/>
          <p:nvPr/>
        </p:nvSpPr>
        <p:spPr>
          <a:xfrm>
            <a:off x="274320" y="1023840"/>
            <a:ext cx="8595360" cy="360"/>
          </a:xfrm>
          <a:prstGeom prst="line">
            <a:avLst/>
          </a:prstGeom>
          <a:ln w="1270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9" name="Text 4"/>
          <p:cNvSpPr/>
          <p:nvPr/>
        </p:nvSpPr>
        <p:spPr>
          <a:xfrm>
            <a:off x="274320" y="1143000"/>
            <a:ext cx="859284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fr-FR" sz="1000" b="0" i="1" u="none" strike="noStrike">
                <a:solidFill>
                  <a:srgbClr val="666666"/>
                </a:solidFill>
                <a:effectLst/>
                <a:uFillTx/>
                <a:latin typeface="Calibri"/>
                <a:ea typeface="DejaVu Sans"/>
              </a:rPr>
              <a:t>lm(final_attitude ~ initial_opinion, data = df_ag)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10" name="Table 0"/>
          <p:cNvGraphicFramePr/>
          <p:nvPr/>
        </p:nvGraphicFramePr>
        <p:xfrm>
          <a:off x="274320" y="1463040"/>
          <a:ext cx="5943240" cy="687960"/>
        </p:xfrm>
        <a:graphic>
          <a:graphicData uri="http://schemas.openxmlformats.org/drawingml/2006/table">
            <a:tbl>
              <a:tblPr/>
              <a:tblGrid>
                <a:gridCol w="1828800"/>
                <a:gridCol w="1097280"/>
                <a:gridCol w="914400"/>
                <a:gridCol w="1371600"/>
                <a:gridCol w="731520"/>
              </a:tblGrid>
              <a:tr h="0"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fr-FR" sz="9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Term</a:t>
                      </a:r>
                      <a:endParaRPr lang="en-US" sz="9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Estimate</a:t>
                      </a:r>
                      <a:endParaRPr lang="en-US" sz="9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R²</a:t>
                      </a:r>
                      <a:endParaRPr lang="en-US" sz="9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p-value</a:t>
                      </a:r>
                      <a:endParaRPr lang="en-US" sz="9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SE</a:t>
                      </a:r>
                      <a:endParaRPr lang="en-US" sz="9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1e3a5f"/>
                    </a:solidFill>
                  </a:tcPr>
                </a:tc>
              </a:tr>
              <a:tr h="0"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0" u="none" strike="noStrike">
                          <a:solidFill>
                            <a:srgbClr val="333333"/>
                          </a:solidFill>
                          <a:effectLst/>
                          <a:uFillTx/>
                          <a:latin typeface="Calibri"/>
                        </a:rPr>
                        <a:t>Intercept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0" u="none" strike="noStrike">
                          <a:solidFill>
                            <a:srgbClr val="333333"/>
                          </a:solidFill>
                          <a:effectLst/>
                          <a:uFillTx/>
                          <a:latin typeface="Calibri"/>
                        </a:rPr>
                        <a:t>0.0185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0" u="none" strike="noStrike">
                          <a:solidFill>
                            <a:srgbClr val="333333"/>
                          </a:solidFill>
                          <a:effectLst/>
                          <a:uFillTx/>
                          <a:latin typeface="Calibri"/>
                        </a:rPr>
                        <a:t>—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0" u="none" strike="noStrike">
                          <a:solidFill>
                            <a:srgbClr val="333333"/>
                          </a:solidFill>
                          <a:effectLst/>
                          <a:uFillTx/>
                          <a:latin typeface="Calibri"/>
                        </a:rPr>
                        <a:t>&lt; 2e-16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0" u="none" strike="noStrike">
                          <a:solidFill>
                            <a:srgbClr val="333333"/>
                          </a:solidFill>
                          <a:effectLst/>
                          <a:uFillTx/>
                          <a:latin typeface="Calibri"/>
                        </a:rPr>
                        <a:t>—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</a:tr>
              <a:tr h="0"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0" u="none" strike="noStrike">
                          <a:solidFill>
                            <a:srgbClr val="333333"/>
                          </a:solidFill>
                          <a:effectLst/>
                          <a:uFillTx/>
                          <a:latin typeface="Calibri"/>
                        </a:rPr>
                        <a:t>initial_opinion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0" u="none" strike="noStrike">
                          <a:solidFill>
                            <a:srgbClr val="333333"/>
                          </a:solidFill>
                          <a:effectLst/>
                          <a:uFillTx/>
                          <a:latin typeface="Calibri"/>
                        </a:rPr>
                        <a:t>1.0031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0" u="none" strike="noStrike">
                          <a:solidFill>
                            <a:srgbClr val="333333"/>
                          </a:solidFill>
                          <a:effectLst/>
                          <a:uFillTx/>
                          <a:latin typeface="Calibri"/>
                        </a:rPr>
                        <a:t>0.9263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0" u="none" strike="noStrike">
                          <a:solidFill>
                            <a:srgbClr val="333333"/>
                          </a:solidFill>
                          <a:effectLst/>
                          <a:uFillTx/>
                          <a:latin typeface="Calibri"/>
                        </a:rPr>
                        <a:t>&lt; 2e-16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0" u="none" strike="noStrike">
                          <a:solidFill>
                            <a:srgbClr val="333333"/>
                          </a:solidFill>
                          <a:effectLst/>
                          <a:uFillTx/>
                          <a:latin typeface="Calibri"/>
                        </a:rPr>
                        <a:t>0.0029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211" name="Shape 5"/>
          <p:cNvSpPr/>
          <p:nvPr/>
        </p:nvSpPr>
        <p:spPr>
          <a:xfrm>
            <a:off x="6492240" y="1463040"/>
            <a:ext cx="2374920" cy="1003320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2" name="Text 6"/>
          <p:cNvSpPr/>
          <p:nvPr/>
        </p:nvSpPr>
        <p:spPr>
          <a:xfrm>
            <a:off x="6583680" y="1554480"/>
            <a:ext cx="2192040" cy="72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lang="fr-FR" sz="1100" b="1" u="none" strike="noStrike">
                <a:solidFill>
                  <a:srgbClr val="1e3a5f"/>
                </a:solidFill>
                <a:effectLst/>
                <a:uFillTx/>
                <a:latin typeface="Calibri"/>
                <a:ea typeface="DejaVu Sans"/>
              </a:rPr>
              <a:t>OLS Mean MAE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lang="fr-FR" sz="1100" b="1" u="none" strike="noStrike">
                <a:solidFill>
                  <a:srgbClr val="1e3a5f"/>
                </a:solidFill>
                <a:effectLst/>
                <a:uFillTx/>
                <a:latin typeface="Calibri"/>
                <a:ea typeface="DejaVu Sans"/>
              </a:rPr>
              <a:t>across debates: 0.0371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3" name="Text 7"/>
          <p:cNvSpPr/>
          <p:nvPr/>
        </p:nvSpPr>
        <p:spPr>
          <a:xfrm>
            <a:off x="274320" y="2606040"/>
            <a:ext cx="859284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fr-FR" sz="1100" b="1" u="none" strike="noStrike">
                <a:solidFill>
                  <a:srgbClr val="1e3a5f"/>
                </a:solidFill>
                <a:effectLst/>
                <a:uFillTx/>
                <a:latin typeface="Calibri"/>
                <a:ea typeface="DejaVu Sans"/>
              </a:rPr>
              <a:t>Interpretation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4" name="Text 8"/>
          <p:cNvSpPr/>
          <p:nvPr/>
        </p:nvSpPr>
        <p:spPr>
          <a:xfrm>
            <a:off x="274320" y="2926080"/>
            <a:ext cx="8592840" cy="100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fr-FR" sz="10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DejaVu Sans"/>
              </a:rPr>
              <a:t>Pre-deliberation attitudes (initial_opinion) are an extremely strong predictor of post-deliberation attitudes (R²=0.926, p&lt;2e-16). The slope of ~1.0 indicates near-perfect correspondence — agents barely change their opinions relative to their starting point. This strongly supports H1. The OLS mean MAE (0.037) is competitive with the best ABM runs, setting a high bar for the ABM comparison (H3/H5).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5" name="Text 9"/>
          <p:cNvSpPr/>
          <p:nvPr/>
        </p:nvSpPr>
        <p:spPr>
          <a:xfrm>
            <a:off x="274320" y="4069080"/>
            <a:ext cx="8592840" cy="36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fr-FR" sz="900" b="0" i="1" u="none" strike="noStrike">
                <a:solidFill>
                  <a:srgbClr val="666666"/>
                </a:solidFill>
                <a:effectLst/>
                <a:uFillTx/>
                <a:latin typeface="Calibri"/>
                <a:ea typeface="DejaVu Sans"/>
              </a:rPr>
              <a:t>Note: R²=0.926 means initial opinion explains 92.6% of variance in final attitude — attitudes are highly stable across deliberation.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Shape 0"/>
          <p:cNvSpPr/>
          <p:nvPr/>
        </p:nvSpPr>
        <p:spPr>
          <a:xfrm>
            <a:off x="0" y="0"/>
            <a:ext cx="9141480" cy="3632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7" name="Text 1"/>
          <p:cNvSpPr/>
          <p:nvPr/>
        </p:nvSpPr>
        <p:spPr>
          <a:xfrm>
            <a:off x="182880" y="0"/>
            <a:ext cx="8775720" cy="36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fr-FR" sz="1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DejaVu Sans"/>
              </a:rPr>
              <a:t>AGENT LEVEL — BASELINE COMPARISON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8" name="Text 2"/>
          <p:cNvSpPr/>
          <p:nvPr/>
        </p:nvSpPr>
        <p:spPr>
          <a:xfrm>
            <a:off x="274320" y="457200"/>
            <a:ext cx="8592840" cy="54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fr-FR" sz="2000" b="1" u="none" strike="noStrike">
                <a:solidFill>
                  <a:srgbClr val="1e3a5f"/>
                </a:solidFill>
                <a:effectLst/>
                <a:uFillTx/>
                <a:latin typeface="Calibri"/>
                <a:ea typeface="DejaVu Sans"/>
              </a:rPr>
              <a:t>H3/H5 — ABM vs OLS Regression Comparison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9" name="Shape 3"/>
          <p:cNvSpPr/>
          <p:nvPr/>
        </p:nvSpPr>
        <p:spPr>
          <a:xfrm>
            <a:off x="274320" y="1023840"/>
            <a:ext cx="8595360" cy="360"/>
          </a:xfrm>
          <a:prstGeom prst="line">
            <a:avLst/>
          </a:prstGeom>
          <a:ln w="1270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0" name="Text 4"/>
          <p:cNvSpPr/>
          <p:nvPr/>
        </p:nvSpPr>
        <p:spPr>
          <a:xfrm>
            <a:off x="274320" y="1143000"/>
            <a:ext cx="859284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fr-FR" sz="900" b="0" i="1" u="none" strike="noStrike">
                <a:solidFill>
                  <a:srgbClr val="666666"/>
                </a:solidFill>
                <a:effectLst/>
                <a:uFillTx/>
                <a:latin typeface="Calibri"/>
                <a:ea typeface="DejaVu Sans"/>
              </a:rPr>
              <a:t>comparison_ols: mean MAE by model vs OLS MAE (delta = abm_mae - ols_mae, negative = ABM better)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21" name="Table 0"/>
          <p:cNvGraphicFramePr/>
          <p:nvPr/>
        </p:nvGraphicFramePr>
        <p:xfrm>
          <a:off x="274320" y="1463040"/>
          <a:ext cx="7680600" cy="1284120"/>
        </p:xfrm>
        <a:graphic>
          <a:graphicData uri="http://schemas.openxmlformats.org/drawingml/2006/table">
            <a:tbl>
              <a:tblPr/>
              <a:tblGrid>
                <a:gridCol w="1371600"/>
                <a:gridCol w="1097280"/>
                <a:gridCol w="1097280"/>
                <a:gridCol w="914400"/>
                <a:gridCol w="1097280"/>
                <a:gridCol w="1005840"/>
                <a:gridCol w="1097280"/>
              </a:tblGrid>
              <a:tr h="0"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fr-FR" sz="9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Model Type</a:t>
                      </a:r>
                      <a:endParaRPr lang="en-US" sz="9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ABM Mean MAE</a:t>
                      </a:r>
                      <a:endParaRPr lang="en-US" sz="9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OLS Mean MAE</a:t>
                      </a:r>
                      <a:endParaRPr lang="en-US" sz="9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Delta MAE</a:t>
                      </a:r>
                      <a:endParaRPr lang="en-US" sz="9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Wilcoxon W</a:t>
                      </a:r>
                      <a:endParaRPr lang="en-US" sz="9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p-value</a:t>
                      </a:r>
                      <a:endParaRPr lang="en-US" sz="9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ABM Better?</a:t>
                      </a:r>
                      <a:endParaRPr lang="en-US" sz="9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1e3a5f"/>
                    </a:solidFill>
                  </a:tcPr>
                </a:tc>
              </a:tr>
              <a:tr h="0"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0" u="none" strike="noStrike">
                          <a:solidFill>
                            <a:srgbClr val="333333"/>
                          </a:solidFill>
                          <a:effectLst/>
                          <a:uFillTx/>
                          <a:latin typeface="Calibri"/>
                        </a:rPr>
                        <a:t>bipolarization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0" u="none" strike="noStrike">
                          <a:solidFill>
                            <a:srgbClr val="333333"/>
                          </a:solidFill>
                          <a:effectLst/>
                          <a:uFillTx/>
                          <a:latin typeface="Calibri"/>
                        </a:rPr>
                        <a:t>0.1355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0" u="none" strike="noStrike">
                          <a:solidFill>
                            <a:srgbClr val="333333"/>
                          </a:solidFill>
                          <a:effectLst/>
                          <a:uFillTx/>
                          <a:latin typeface="Calibri"/>
                        </a:rPr>
                        <a:t>0.0381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0" u="none" strike="noStrike">
                          <a:solidFill>
                            <a:srgbClr val="333333"/>
                          </a:solidFill>
                          <a:effectLst/>
                          <a:uFillTx/>
                          <a:latin typeface="Calibri"/>
                        </a:rPr>
                        <a:t>+0.0974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0" u="none" strike="noStrike">
                          <a:solidFill>
                            <a:srgbClr val="333333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0" u="none" strike="noStrike">
                          <a:solidFill>
                            <a:srgbClr val="333333"/>
                          </a:solidFill>
                          <a:effectLst/>
                          <a:uFillTx/>
                          <a:latin typeface="Calibri"/>
                        </a:rPr>
                        <a:t>0.0001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0" u="none" strike="noStrike">
                          <a:solidFill>
                            <a:srgbClr val="333333"/>
                          </a:solidFill>
                          <a:effectLst/>
                          <a:uFillTx/>
                          <a:latin typeface="Calibri"/>
                        </a:rPr>
                        <a:t>No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</a:tr>
              <a:tr h="0"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0" u="none" strike="noStrike">
                          <a:solidFill>
                            <a:srgbClr val="333333"/>
                          </a:solidFill>
                          <a:effectLst/>
                          <a:uFillTx/>
                          <a:latin typeface="Calibri"/>
                        </a:rPr>
                        <a:t>clustering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0" u="none" strike="noStrike">
                          <a:solidFill>
                            <a:srgbClr val="333333"/>
                          </a:solidFill>
                          <a:effectLst/>
                          <a:uFillTx/>
                          <a:latin typeface="Calibri"/>
                        </a:rPr>
                        <a:t>0.0959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0" u="none" strike="noStrike">
                          <a:solidFill>
                            <a:srgbClr val="333333"/>
                          </a:solidFill>
                          <a:effectLst/>
                          <a:uFillTx/>
                          <a:latin typeface="Calibri"/>
                        </a:rPr>
                        <a:t>0.0368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0" u="none" strike="noStrike">
                          <a:solidFill>
                            <a:srgbClr val="333333"/>
                          </a:solidFill>
                          <a:effectLst/>
                          <a:uFillTx/>
                          <a:latin typeface="Calibri"/>
                        </a:rPr>
                        <a:t>+0.0591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0" u="none" strike="noStrike">
                          <a:solidFill>
                            <a:srgbClr val="333333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0" u="none" strike="noStrike">
                          <a:solidFill>
                            <a:srgbClr val="333333"/>
                          </a:solidFill>
                          <a:effectLst/>
                          <a:uFillTx/>
                          <a:latin typeface="Calibri"/>
                        </a:rPr>
                        <a:t>0.0002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0" u="none" strike="noStrike">
                          <a:solidFill>
                            <a:srgbClr val="333333"/>
                          </a:solidFill>
                          <a:effectLst/>
                          <a:uFillTx/>
                          <a:latin typeface="Calibri"/>
                        </a:rPr>
                        <a:t>No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</a:tr>
              <a:tr h="0"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0" u="none" strike="noStrike">
                          <a:solidFill>
                            <a:srgbClr val="333333"/>
                          </a:solidFill>
                          <a:effectLst/>
                          <a:uFillTx/>
                          <a:latin typeface="Calibri"/>
                        </a:rPr>
                        <a:t>consensus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0" u="none" strike="noStrike">
                          <a:solidFill>
                            <a:srgbClr val="333333"/>
                          </a:solidFill>
                          <a:effectLst/>
                          <a:uFillTx/>
                          <a:latin typeface="Calibri"/>
                        </a:rPr>
                        <a:t>0.1291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0" u="none" strike="noStrike">
                          <a:solidFill>
                            <a:srgbClr val="333333"/>
                          </a:solidFill>
                          <a:effectLst/>
                          <a:uFillTx/>
                          <a:latin typeface="Calibri"/>
                        </a:rPr>
                        <a:t>0.0374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0" u="none" strike="noStrike">
                          <a:solidFill>
                            <a:srgbClr val="333333"/>
                          </a:solidFill>
                          <a:effectLst/>
                          <a:uFillTx/>
                          <a:latin typeface="Calibri"/>
                        </a:rPr>
                        <a:t>+0.0917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0" u="none" strike="noStrike">
                          <a:solidFill>
                            <a:srgbClr val="333333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0" u="none" strike="noStrike">
                          <a:solidFill>
                            <a:srgbClr val="333333"/>
                          </a:solidFill>
                          <a:effectLst/>
                          <a:uFillTx/>
                          <a:latin typeface="Calibri"/>
                        </a:rPr>
                        <a:t>&lt; 0.0001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0" u="none" strike="noStrike">
                          <a:solidFill>
                            <a:srgbClr val="333333"/>
                          </a:solidFill>
                          <a:effectLst/>
                          <a:uFillTx/>
                          <a:latin typeface="Calibri"/>
                        </a:rPr>
                        <a:t>No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</a:tr>
              <a:tr h="0"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0" u="none" strike="noStrike">
                          <a:solidFill>
                            <a:srgbClr val="333333"/>
                          </a:solidFill>
                          <a:effectLst/>
                          <a:uFillTx/>
                          <a:latin typeface="Calibri"/>
                        </a:rPr>
                        <a:t>no_change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0" u="none" strike="noStrike">
                          <a:solidFill>
                            <a:srgbClr val="333333"/>
                          </a:solidFill>
                          <a:effectLst/>
                          <a:uFillTx/>
                          <a:latin typeface="Calibri"/>
                        </a:rPr>
                        <a:t>0.0375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0" u="none" strike="noStrike">
                          <a:solidFill>
                            <a:srgbClr val="333333"/>
                          </a:solidFill>
                          <a:effectLst/>
                          <a:uFillTx/>
                          <a:latin typeface="Calibri"/>
                        </a:rPr>
                        <a:t>0.0338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0" u="none" strike="noStrike">
                          <a:solidFill>
                            <a:srgbClr val="333333"/>
                          </a:solidFill>
                          <a:effectLst/>
                          <a:uFillTx/>
                          <a:latin typeface="Calibri"/>
                        </a:rPr>
                        <a:t>+0.0036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0" u="none" strike="noStrike">
                          <a:solidFill>
                            <a:srgbClr val="333333"/>
                          </a:solidFill>
                          <a:effectLst/>
                          <a:uFillTx/>
                          <a:latin typeface="Calibri"/>
                        </a:rPr>
                        <a:t>17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0" u="none" strike="noStrike">
                          <a:solidFill>
                            <a:srgbClr val="333333"/>
                          </a:solidFill>
                          <a:effectLst/>
                          <a:uFillTx/>
                          <a:latin typeface="Calibri"/>
                        </a:rPr>
                        <a:t>0.1748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0" u="none" strike="noStrike">
                          <a:solidFill>
                            <a:srgbClr val="333333"/>
                          </a:solidFill>
                          <a:effectLst/>
                          <a:uFillTx/>
                          <a:latin typeface="Calibri"/>
                        </a:rPr>
                        <a:t>No (ns)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222" name="Text 5"/>
          <p:cNvSpPr/>
          <p:nvPr/>
        </p:nvSpPr>
        <p:spPr>
          <a:xfrm>
            <a:off x="274320" y="2668320"/>
            <a:ext cx="859284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fr-FR" sz="1100" b="1" u="none" strike="noStrike">
                <a:solidFill>
                  <a:srgbClr val="1e3a5f"/>
                </a:solidFill>
                <a:effectLst/>
                <a:uFillTx/>
                <a:latin typeface="Calibri"/>
                <a:ea typeface="DejaVu Sans"/>
              </a:rPr>
              <a:t>Interpretation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3" name="Text 6"/>
          <p:cNvSpPr/>
          <p:nvPr/>
        </p:nvSpPr>
        <p:spPr>
          <a:xfrm>
            <a:off x="274320" y="2880360"/>
            <a:ext cx="8592840" cy="132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fr-FR" sz="10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DejaVu Sans"/>
              </a:rPr>
              <a:t>All social influence ABMs perform significantly worse than OLS regression (p&lt;0.001 for all, Wilcoxon paired test). The no-change model is not significantly different from OLS (p=0.175) — suggesting that predicting 'no change' is approximately as good as a regression model. This is a critical negative result for H3 and H5 — the ABMs do not improve upon simple regression. Possible explanations: (1) attitudes are too stable (R²=0.926) for social influence to add signal, (2) model needs better calibration, (3) dynamics may differ per debate type.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Shape 0"/>
          <p:cNvSpPr/>
          <p:nvPr/>
        </p:nvSpPr>
        <p:spPr>
          <a:xfrm>
            <a:off x="0" y="0"/>
            <a:ext cx="9141480" cy="3632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5" name="Text 1"/>
          <p:cNvSpPr/>
          <p:nvPr/>
        </p:nvSpPr>
        <p:spPr>
          <a:xfrm>
            <a:off x="182880" y="0"/>
            <a:ext cx="8775720" cy="36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fr-FR" sz="1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DejaVu Sans"/>
              </a:rPr>
              <a:t>AGENT LEVEL — OLS REGRESSION (MERGED WITH EMPIRICAL DATA)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6" name="Text 2"/>
          <p:cNvSpPr/>
          <p:nvPr/>
        </p:nvSpPr>
        <p:spPr>
          <a:xfrm>
            <a:off x="274320" y="457200"/>
            <a:ext cx="8592840" cy="54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fr-FR" sz="2000" b="1" u="none" strike="noStrike">
                <a:solidFill>
                  <a:srgbClr val="1e3a5f"/>
                </a:solidFill>
                <a:effectLst/>
                <a:uFillTx/>
                <a:latin typeface="Calibri"/>
                <a:ea typeface="DejaVu Sans"/>
              </a:rPr>
              <a:t>H2 — Social Norms &amp; Self-Control → Opinion Change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7" name="Shape 3"/>
          <p:cNvSpPr/>
          <p:nvPr/>
        </p:nvSpPr>
        <p:spPr>
          <a:xfrm>
            <a:off x="274320" y="1023840"/>
            <a:ext cx="8595360" cy="360"/>
          </a:xfrm>
          <a:prstGeom prst="line">
            <a:avLst/>
          </a:prstGeom>
          <a:ln w="1270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8" name="Text 4"/>
          <p:cNvSpPr/>
          <p:nvPr/>
        </p:nvSpPr>
        <p:spPr>
          <a:xfrm>
            <a:off x="274320" y="1143000"/>
            <a:ext cx="859284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fr-FR" sz="1000" b="0" i="1" u="none" strike="noStrike">
                <a:solidFill>
                  <a:srgbClr val="666666"/>
                </a:solidFill>
                <a:effectLst/>
                <a:uFillTx/>
                <a:latin typeface="Calibri"/>
                <a:ea typeface="DejaVu Sans"/>
              </a:rPr>
              <a:t>lm(abs(opinion_change) ~ perceived_norms + self_control, data = df_merged)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29" name="Table 0"/>
          <p:cNvGraphicFramePr/>
          <p:nvPr/>
        </p:nvGraphicFramePr>
        <p:xfrm>
          <a:off x="274320" y="1463040"/>
          <a:ext cx="6857640" cy="917280"/>
        </p:xfrm>
        <a:graphic>
          <a:graphicData uri="http://schemas.openxmlformats.org/drawingml/2006/table">
            <a:tbl>
              <a:tblPr/>
              <a:tblGrid>
                <a:gridCol w="1645920"/>
                <a:gridCol w="1097280"/>
                <a:gridCol w="1005840"/>
                <a:gridCol w="1005840"/>
                <a:gridCol w="2103120"/>
              </a:tblGrid>
              <a:tr h="0"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fr-FR" sz="9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Term</a:t>
                      </a:r>
                      <a:endParaRPr lang="en-US" sz="9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Coefficient</a:t>
                      </a:r>
                      <a:endParaRPr lang="en-US" sz="9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Individual r</a:t>
                      </a:r>
                      <a:endParaRPr lang="en-US" sz="9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Individual r²</a:t>
                      </a:r>
                      <a:endParaRPr lang="en-US" sz="9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p-value</a:t>
                      </a:r>
                      <a:endParaRPr lang="en-US" sz="9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1e3a5f"/>
                    </a:solidFill>
                  </a:tcPr>
                </a:tc>
              </a:tr>
              <a:tr h="0"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0" u="none" strike="noStrike">
                          <a:solidFill>
                            <a:srgbClr val="333333"/>
                          </a:solidFill>
                          <a:effectLst/>
                          <a:uFillTx/>
                          <a:latin typeface="Calibri"/>
                        </a:rPr>
                        <a:t>Intercept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0" u="none" strike="noStrike">
                          <a:solidFill>
                            <a:srgbClr val="333333"/>
                          </a:solidFill>
                          <a:effectLst/>
                          <a:uFillTx/>
                          <a:latin typeface="Calibri"/>
                        </a:rPr>
                        <a:t>0.1477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0" u="none" strike="noStrike">
                          <a:solidFill>
                            <a:srgbClr val="333333"/>
                          </a:solidFill>
                          <a:effectLst/>
                          <a:uFillTx/>
                          <a:latin typeface="Calibri"/>
                        </a:rPr>
                        <a:t>—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0" u="none" strike="noStrike">
                          <a:solidFill>
                            <a:srgbClr val="333333"/>
                          </a:solidFill>
                          <a:effectLst/>
                          <a:uFillTx/>
                          <a:latin typeface="Calibri"/>
                        </a:rPr>
                        <a:t>—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0" u="none" strike="noStrike">
                          <a:solidFill>
                            <a:srgbClr val="333333"/>
                          </a:solidFill>
                          <a:effectLst/>
                          <a:uFillTx/>
                          <a:latin typeface="Calibri"/>
                        </a:rPr>
                        <a:t>—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</a:tr>
              <a:tr h="0"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0" u="none" strike="noStrike">
                          <a:solidFill>
                            <a:srgbClr val="333333"/>
                          </a:solidFill>
                          <a:effectLst/>
                          <a:uFillTx/>
                          <a:latin typeface="Calibri"/>
                        </a:rPr>
                        <a:t>perceived_norms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0" u="none" strike="noStrike">
                          <a:solidFill>
                            <a:srgbClr val="333333"/>
                          </a:solidFill>
                          <a:effectLst/>
                          <a:uFillTx/>
                          <a:latin typeface="Calibri"/>
                        </a:rPr>
                        <a:t>-0.0027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0" u="none" strike="noStrike">
                          <a:solidFill>
                            <a:srgbClr val="333333"/>
                          </a:solidFill>
                          <a:effectLst/>
                          <a:uFillTx/>
                          <a:latin typeface="Calibri"/>
                        </a:rPr>
                        <a:t>-0.0557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0" u="none" strike="noStrike">
                          <a:solidFill>
                            <a:srgbClr val="333333"/>
                          </a:solidFill>
                          <a:effectLst/>
                          <a:uFillTx/>
                          <a:latin typeface="Calibri"/>
                        </a:rPr>
                        <a:t>0.0031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0" u="none" strike="noStrike">
                          <a:solidFill>
                            <a:srgbClr val="333333"/>
                          </a:solidFill>
                          <a:effectLst/>
                          <a:uFillTx/>
                          <a:latin typeface="Calibri"/>
                        </a:rPr>
                        <a:t>5.87e-08 ***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</a:tr>
              <a:tr h="0"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0" u="none" strike="noStrike">
                          <a:solidFill>
                            <a:srgbClr val="333333"/>
                          </a:solidFill>
                          <a:effectLst/>
                          <a:uFillTx/>
                          <a:latin typeface="Calibri"/>
                        </a:rPr>
                        <a:t>self_control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0" u="none" strike="noStrike">
                          <a:solidFill>
                            <a:srgbClr val="333333"/>
                          </a:solidFill>
                          <a:effectLst/>
                          <a:uFillTx/>
                          <a:latin typeface="Calibri"/>
                        </a:rPr>
                        <a:t>0.0001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0" u="none" strike="noStrike">
                          <a:solidFill>
                            <a:srgbClr val="333333"/>
                          </a:solidFill>
                          <a:effectLst/>
                          <a:uFillTx/>
                          <a:latin typeface="Calibri"/>
                        </a:rPr>
                        <a:t>~0.000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0" u="none" strike="noStrike">
                          <a:solidFill>
                            <a:srgbClr val="333333"/>
                          </a:solidFill>
                          <a:effectLst/>
                          <a:uFillTx/>
                          <a:latin typeface="Calibri"/>
                        </a:rPr>
                        <a:t>0.0000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0" u="none" strike="noStrike">
                          <a:solidFill>
                            <a:srgbClr val="333333"/>
                          </a:solidFill>
                          <a:effectLst/>
                          <a:uFillTx/>
                          <a:latin typeface="Calibri"/>
                        </a:rPr>
                        <a:t>0.791 (ns)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230" name="Shape 5"/>
          <p:cNvSpPr/>
          <p:nvPr/>
        </p:nvSpPr>
        <p:spPr>
          <a:xfrm>
            <a:off x="7315200" y="1463040"/>
            <a:ext cx="1551960" cy="1003320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1" name="Text 6"/>
          <p:cNvSpPr/>
          <p:nvPr/>
        </p:nvSpPr>
        <p:spPr>
          <a:xfrm>
            <a:off x="7360920" y="1554480"/>
            <a:ext cx="1460520" cy="72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lang="fr-FR" sz="1100" b="1" u="none" strike="noStrike">
                <a:solidFill>
                  <a:srgbClr val="1e3a5f"/>
                </a:solidFill>
                <a:effectLst/>
                <a:uFillTx/>
                <a:latin typeface="Calibri"/>
                <a:ea typeface="DejaVu Sans"/>
              </a:rPr>
              <a:t>Multiple R²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lang="fr-FR" sz="1100" b="1" u="none" strike="noStrike">
                <a:solidFill>
                  <a:srgbClr val="1e3a5f"/>
                </a:solidFill>
                <a:effectLst/>
                <a:uFillTx/>
                <a:latin typeface="Calibri"/>
                <a:ea typeface="DejaVu Sans"/>
              </a:rPr>
              <a:t>0.0031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2" name="Text 7"/>
          <p:cNvSpPr/>
          <p:nvPr/>
        </p:nvSpPr>
        <p:spPr>
          <a:xfrm>
            <a:off x="274320" y="2514600"/>
            <a:ext cx="8592840" cy="31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fr-FR" sz="900" b="0" i="1" u="none" strike="noStrike">
                <a:solidFill>
                  <a:srgbClr val="666666"/>
                </a:solidFill>
                <a:effectLst/>
                <a:uFillTx/>
                <a:latin typeface="Calibri"/>
                <a:ea typeface="DejaVu Sans"/>
              </a:rPr>
              <a:t>Note: Merged rows = 9,555. df_merged = merge(df_ag, df_orig, by='agent_id') including perceived_norms and self_control from empirical data.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3" name="Text 8"/>
          <p:cNvSpPr/>
          <p:nvPr/>
        </p:nvSpPr>
        <p:spPr>
          <a:xfrm>
            <a:off x="274320" y="2880360"/>
            <a:ext cx="859284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fr-FR" sz="1100" b="1" u="none" strike="noStrike">
                <a:solidFill>
                  <a:srgbClr val="1e3a5f"/>
                </a:solidFill>
                <a:effectLst/>
                <a:uFillTx/>
                <a:latin typeface="Calibri"/>
                <a:ea typeface="DejaVu Sans"/>
              </a:rPr>
              <a:t>Interpretation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4" name="Text 9"/>
          <p:cNvSpPr/>
          <p:nvPr/>
        </p:nvSpPr>
        <p:spPr>
          <a:xfrm>
            <a:off x="274320" y="3200400"/>
            <a:ext cx="8592840" cy="141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fr-FR" sz="10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DejaVu Sans"/>
              </a:rPr>
              <a:t>Perceived norms is a significant but very weak predictor of opinion change (r²=0.003, p&lt;0.001) — its direction is negative (higher norms → slightly less simulated change), which is unexpected for H2. Self-control is non-significant (p=0.791). The multiple R² of 0.003 means norms and self-control together explain less than 0.3% of variance in simulated opinion change. This provides very weak support for H2 — the moderation analysis with initial_opinion as moderator (full model) showed R²=0.10 suggesting the interaction terms are doing most of the work.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Shape 0"/>
          <p:cNvSpPr/>
          <p:nvPr/>
        </p:nvSpPr>
        <p:spPr>
          <a:xfrm>
            <a:off x="0" y="0"/>
            <a:ext cx="9141480" cy="3632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6" name="Text 1"/>
          <p:cNvSpPr/>
          <p:nvPr/>
        </p:nvSpPr>
        <p:spPr>
          <a:xfrm>
            <a:off x="182880" y="0"/>
            <a:ext cx="8775720" cy="36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fr-FR" sz="1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DejaVu Sans"/>
              </a:rPr>
              <a:t>AGENT LEVEL — PRO/ANTI COMPARISON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7" name="Text 2"/>
          <p:cNvSpPr/>
          <p:nvPr/>
        </p:nvSpPr>
        <p:spPr>
          <a:xfrm>
            <a:off x="274320" y="457200"/>
            <a:ext cx="8592840" cy="54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fr-FR" sz="2000" b="1" u="none" strike="noStrike">
                <a:solidFill>
                  <a:srgbClr val="1e3a5f"/>
                </a:solidFill>
                <a:effectLst/>
                <a:uFillTx/>
                <a:latin typeface="Calibri"/>
                <a:ea typeface="DejaVu Sans"/>
              </a:rPr>
              <a:t>Pro vs Anti Agents: Simulated vs Empirical Change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8" name="Shape 3"/>
          <p:cNvSpPr/>
          <p:nvPr/>
        </p:nvSpPr>
        <p:spPr>
          <a:xfrm>
            <a:off x="274320" y="1023840"/>
            <a:ext cx="8595360" cy="360"/>
          </a:xfrm>
          <a:prstGeom prst="line">
            <a:avLst/>
          </a:prstGeom>
          <a:ln w="1270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9" name="Text 4"/>
          <p:cNvSpPr/>
          <p:nvPr/>
        </p:nvSpPr>
        <p:spPr>
          <a:xfrm>
            <a:off x="274320" y="1143000"/>
            <a:ext cx="411228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fr-FR" sz="1100" b="1" u="none" strike="noStrike">
                <a:solidFill>
                  <a:srgbClr val="1a7a4a"/>
                </a:solidFill>
                <a:effectLst/>
                <a:uFillTx/>
                <a:latin typeface="Calibri"/>
                <a:ea typeface="DejaVu Sans"/>
              </a:rPr>
              <a:t>Pro agents (pro_reduction=1)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40" name="Table 0"/>
          <p:cNvGraphicFramePr/>
          <p:nvPr/>
        </p:nvGraphicFramePr>
        <p:xfrm>
          <a:off x="274320" y="1463040"/>
          <a:ext cx="4114440" cy="1284120"/>
        </p:xfrm>
        <a:graphic>
          <a:graphicData uri="http://schemas.openxmlformats.org/drawingml/2006/table">
            <a:tbl>
              <a:tblPr/>
              <a:tblGrid>
                <a:gridCol w="1463040"/>
                <a:gridCol w="1371600"/>
                <a:gridCol w="1280160"/>
              </a:tblGrid>
              <a:tr h="0"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fr-FR" sz="9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Model</a:t>
                      </a:r>
                      <a:endParaRPr lang="en-US" sz="9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Simulated |change|</a:t>
                      </a:r>
                      <a:endParaRPr lang="en-US" sz="9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Empirical |change|</a:t>
                      </a:r>
                      <a:endParaRPr lang="en-US" sz="9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1e3a5f"/>
                    </a:solidFill>
                  </a:tcPr>
                </a:tc>
              </a:tr>
              <a:tr h="0"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0" u="none" strike="noStrike">
                          <a:solidFill>
                            <a:srgbClr val="333333"/>
                          </a:solidFill>
                          <a:effectLst/>
                          <a:uFillTx/>
                          <a:latin typeface="Calibri"/>
                        </a:rPr>
                        <a:t>bipolarization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0" u="none" strike="noStrike">
                          <a:solidFill>
                            <a:srgbClr val="333333"/>
                          </a:solidFill>
                          <a:effectLst/>
                          <a:uFillTx/>
                          <a:latin typeface="Calibri"/>
                        </a:rPr>
                        <a:t>0.1734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0" u="none" strike="noStrike">
                          <a:solidFill>
                            <a:srgbClr val="333333"/>
                          </a:solidFill>
                          <a:effectLst/>
                          <a:uFillTx/>
                          <a:latin typeface="Calibri"/>
                        </a:rPr>
                        <a:t>0.0389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</a:tr>
              <a:tr h="0"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0" u="none" strike="noStrike">
                          <a:solidFill>
                            <a:srgbClr val="333333"/>
                          </a:solidFill>
                          <a:effectLst/>
                          <a:uFillTx/>
                          <a:latin typeface="Calibri"/>
                        </a:rPr>
                        <a:t>clustering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0" u="none" strike="noStrike">
                          <a:solidFill>
                            <a:srgbClr val="333333"/>
                          </a:solidFill>
                          <a:effectLst/>
                          <a:uFillTx/>
                          <a:latin typeface="Calibri"/>
                        </a:rPr>
                        <a:t>0.1183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0" u="none" strike="noStrike">
                          <a:solidFill>
                            <a:srgbClr val="333333"/>
                          </a:solidFill>
                          <a:effectLst/>
                          <a:uFillTx/>
                          <a:latin typeface="Calibri"/>
                        </a:rPr>
                        <a:t>0.0395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</a:tr>
              <a:tr h="0"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0" u="none" strike="noStrike">
                          <a:solidFill>
                            <a:srgbClr val="333333"/>
                          </a:solidFill>
                          <a:effectLst/>
                          <a:uFillTx/>
                          <a:latin typeface="Calibri"/>
                        </a:rPr>
                        <a:t>consensus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0" u="none" strike="noStrike">
                          <a:solidFill>
                            <a:srgbClr val="333333"/>
                          </a:solidFill>
                          <a:effectLst/>
                          <a:uFillTx/>
                          <a:latin typeface="Calibri"/>
                        </a:rPr>
                        <a:t>0.1638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0" u="none" strike="noStrike">
                          <a:solidFill>
                            <a:srgbClr val="333333"/>
                          </a:solidFill>
                          <a:effectLst/>
                          <a:uFillTx/>
                          <a:latin typeface="Calibri"/>
                        </a:rPr>
                        <a:t>0.0339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</a:tr>
              <a:tr h="0"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0" u="none" strike="noStrike">
                          <a:solidFill>
                            <a:srgbClr val="333333"/>
                          </a:solidFill>
                          <a:effectLst/>
                          <a:uFillTx/>
                          <a:latin typeface="Calibri"/>
                        </a:rPr>
                        <a:t>no_change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0" u="none" strike="noStrike">
                          <a:solidFill>
                            <a:srgbClr val="333333"/>
                          </a:solidFill>
                          <a:effectLst/>
                          <a:uFillTx/>
                          <a:latin typeface="Calibri"/>
                        </a:rPr>
                        <a:t>0.0000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0" u="none" strike="noStrike">
                          <a:solidFill>
                            <a:srgbClr val="333333"/>
                          </a:solidFill>
                          <a:effectLst/>
                          <a:uFillTx/>
                          <a:latin typeface="Calibri"/>
                        </a:rPr>
                        <a:t>0.0301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241" name="Text 5"/>
          <p:cNvSpPr/>
          <p:nvPr/>
        </p:nvSpPr>
        <p:spPr>
          <a:xfrm>
            <a:off x="4754880" y="1143000"/>
            <a:ext cx="411228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fr-FR" sz="1100" b="1" u="none" strike="noStrike">
                <a:solidFill>
                  <a:srgbClr val="c0392b"/>
                </a:solidFill>
                <a:effectLst/>
                <a:uFillTx/>
                <a:latin typeface="Calibri"/>
                <a:ea typeface="DejaVu Sans"/>
              </a:rPr>
              <a:t>Anti agents (pro_reduction=0)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42" name="Table 1"/>
          <p:cNvGraphicFramePr/>
          <p:nvPr/>
        </p:nvGraphicFramePr>
        <p:xfrm>
          <a:off x="4754880" y="1463040"/>
          <a:ext cx="4114440" cy="1284120"/>
        </p:xfrm>
        <a:graphic>
          <a:graphicData uri="http://schemas.openxmlformats.org/drawingml/2006/table">
            <a:tbl>
              <a:tblPr/>
              <a:tblGrid>
                <a:gridCol w="1463040"/>
                <a:gridCol w="1371600"/>
                <a:gridCol w="1280160"/>
              </a:tblGrid>
              <a:tr h="0"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fr-FR" sz="9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Model</a:t>
                      </a:r>
                      <a:endParaRPr lang="en-US" sz="9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Simulated |change|</a:t>
                      </a:r>
                      <a:endParaRPr lang="en-US" sz="9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Empirical |change|</a:t>
                      </a:r>
                      <a:endParaRPr lang="en-US" sz="9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1e3a5f"/>
                    </a:solidFill>
                  </a:tcPr>
                </a:tc>
              </a:tr>
              <a:tr h="0"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0" u="none" strike="noStrike">
                          <a:solidFill>
                            <a:srgbClr val="333333"/>
                          </a:solidFill>
                          <a:effectLst/>
                          <a:uFillTx/>
                          <a:latin typeface="Calibri"/>
                        </a:rPr>
                        <a:t>bipolarization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0" u="none" strike="noStrike">
                          <a:solidFill>
                            <a:srgbClr val="333333"/>
                          </a:solidFill>
                          <a:effectLst/>
                          <a:uFillTx/>
                          <a:latin typeface="Calibri"/>
                        </a:rPr>
                        <a:t>0.1378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0" u="none" strike="noStrike">
                          <a:solidFill>
                            <a:srgbClr val="333333"/>
                          </a:solidFill>
                          <a:effectLst/>
                          <a:uFillTx/>
                          <a:latin typeface="Calibri"/>
                        </a:rPr>
                        <a:t>0.0454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</a:tr>
              <a:tr h="0"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0" u="none" strike="noStrike">
                          <a:solidFill>
                            <a:srgbClr val="333333"/>
                          </a:solidFill>
                          <a:effectLst/>
                          <a:uFillTx/>
                          <a:latin typeface="Calibri"/>
                        </a:rPr>
                        <a:t>clustering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0" u="none" strike="noStrike">
                          <a:solidFill>
                            <a:srgbClr val="333333"/>
                          </a:solidFill>
                          <a:effectLst/>
                          <a:uFillTx/>
                          <a:latin typeface="Calibri"/>
                        </a:rPr>
                        <a:t>0.0854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0" u="none" strike="noStrike">
                          <a:solidFill>
                            <a:srgbClr val="333333"/>
                          </a:solidFill>
                          <a:effectLst/>
                          <a:uFillTx/>
                          <a:latin typeface="Calibri"/>
                        </a:rPr>
                        <a:t>0.0430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</a:tr>
              <a:tr h="0"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0" u="none" strike="noStrike">
                          <a:solidFill>
                            <a:srgbClr val="333333"/>
                          </a:solidFill>
                          <a:effectLst/>
                          <a:uFillTx/>
                          <a:latin typeface="Calibri"/>
                        </a:rPr>
                        <a:t>consensus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0" u="none" strike="noStrike">
                          <a:solidFill>
                            <a:srgbClr val="333333"/>
                          </a:solidFill>
                          <a:effectLst/>
                          <a:uFillTx/>
                          <a:latin typeface="Calibri"/>
                        </a:rPr>
                        <a:t>0.1045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0" u="none" strike="noStrike">
                          <a:solidFill>
                            <a:srgbClr val="333333"/>
                          </a:solidFill>
                          <a:effectLst/>
                          <a:uFillTx/>
                          <a:latin typeface="Calibri"/>
                        </a:rPr>
                        <a:t>0.0436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</a:tr>
              <a:tr h="0"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0" u="none" strike="noStrike">
                          <a:solidFill>
                            <a:srgbClr val="333333"/>
                          </a:solidFill>
                          <a:effectLst/>
                          <a:uFillTx/>
                          <a:latin typeface="Calibri"/>
                        </a:rPr>
                        <a:t>no_change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0" u="none" strike="noStrike">
                          <a:solidFill>
                            <a:srgbClr val="333333"/>
                          </a:solidFill>
                          <a:effectLst/>
                          <a:uFillTx/>
                          <a:latin typeface="Calibri"/>
                        </a:rPr>
                        <a:t>0.0000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0" u="none" strike="noStrike">
                          <a:solidFill>
                            <a:srgbClr val="333333"/>
                          </a:solidFill>
                          <a:effectLst/>
                          <a:uFillTx/>
                          <a:latin typeface="Calibri"/>
                        </a:rPr>
                        <a:t>0.0432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243" name="Text 6"/>
          <p:cNvSpPr/>
          <p:nvPr/>
        </p:nvSpPr>
        <p:spPr>
          <a:xfrm>
            <a:off x="274320" y="2743200"/>
            <a:ext cx="859284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fr-FR" sz="1100" b="1" u="none" strike="noStrike">
                <a:solidFill>
                  <a:srgbClr val="1e3a5f"/>
                </a:solidFill>
                <a:effectLst/>
                <a:uFillTx/>
                <a:latin typeface="Calibri"/>
                <a:ea typeface="DejaVu Sans"/>
              </a:rPr>
              <a:t>Interpretation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4" name="Text 7"/>
          <p:cNvSpPr/>
          <p:nvPr/>
        </p:nvSpPr>
        <p:spPr>
          <a:xfrm>
            <a:off x="274320" y="3063240"/>
            <a:ext cx="8592840" cy="123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fr-FR" sz="10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DejaVu Sans"/>
              </a:rPr>
              <a:t>All social influence models massively overestimate opinion change compared to empirical data. Pro agents: simulated change is 4-5x the empirical change (e.g. consensus: 0.164 simulated vs 0.034 empirical). Anti agents: smaller overestimation but still 2-3x. No-change correctly predicts zero simulated change. This confirms that real deliberation produces much smaller attitude shifts than the models generate — the key challenge for calibration is dampening the dynamics.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Shape 0"/>
          <p:cNvSpPr/>
          <p:nvPr/>
        </p:nvSpPr>
        <p:spPr>
          <a:xfrm>
            <a:off x="0" y="0"/>
            <a:ext cx="9141480" cy="3632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6" name="Text 1"/>
          <p:cNvSpPr/>
          <p:nvPr/>
        </p:nvSpPr>
        <p:spPr>
          <a:xfrm>
            <a:off x="182880" y="0"/>
            <a:ext cx="8775720" cy="36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fr-FR" sz="1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DejaVu Sans"/>
              </a:rPr>
              <a:t>AGENT LEVEL — OPINION POSITION ANALYSIS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7" name="Text 2"/>
          <p:cNvSpPr/>
          <p:nvPr/>
        </p:nvSpPr>
        <p:spPr>
          <a:xfrm>
            <a:off x="274320" y="457200"/>
            <a:ext cx="8592840" cy="54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fr-FR" sz="2000" b="1" u="none" strike="noStrike">
                <a:solidFill>
                  <a:srgbClr val="1e3a5f"/>
                </a:solidFill>
                <a:effectLst/>
                <a:uFillTx/>
                <a:latin typeface="Calibri"/>
                <a:ea typeface="DejaVu Sans"/>
              </a:rPr>
              <a:t>Prediction Error by Initial Opinion Position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8" name="Shape 3"/>
          <p:cNvSpPr/>
          <p:nvPr/>
        </p:nvSpPr>
        <p:spPr>
          <a:xfrm>
            <a:off x="274320" y="1023840"/>
            <a:ext cx="8595360" cy="360"/>
          </a:xfrm>
          <a:prstGeom prst="line">
            <a:avLst/>
          </a:prstGeom>
          <a:ln w="1270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9" name="Text 4"/>
          <p:cNvSpPr/>
          <p:nvPr/>
        </p:nvSpPr>
        <p:spPr>
          <a:xfrm>
            <a:off x="274320" y="1143000"/>
            <a:ext cx="859284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fr-FR" sz="1000" b="0" i="1" u="none" strike="noStrike">
                <a:solidFill>
                  <a:srgbClr val="666666"/>
                </a:solidFill>
                <a:effectLst/>
                <a:uFillTx/>
                <a:latin typeface="Calibri"/>
                <a:ea typeface="DejaVu Sans"/>
              </a:rPr>
              <a:t>cut(initial_opinion, breaks=c(0,0.33,0.67,1), labels=c('Anti','Moderate','Pro'))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50" name="Chart 0"/>
          <p:cNvGraphicFramePr/>
          <p:nvPr/>
        </p:nvGraphicFramePr>
        <p:xfrm>
          <a:off x="274320" y="1463040"/>
          <a:ext cx="8592840" cy="24663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251" name="Text 5"/>
          <p:cNvSpPr/>
          <p:nvPr/>
        </p:nvSpPr>
        <p:spPr>
          <a:xfrm>
            <a:off x="274320" y="4041720"/>
            <a:ext cx="8592840" cy="82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fr-FR" sz="10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DejaVu Sans"/>
              </a:rPr>
              <a:t>Interpretation: Moderate agents have the lowest prediction error across all models. Pro agents are hardest to predict for consensus (MAE=0.218) and clustering (0.155). Anti agents are hardest for bipolarization (MAE=0.212). This mirrors prior findings: moderately opinionated agents are more predictable.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  <a:miter/>
        </a:ln>
        <a:ln w="25400" cap="flat" cmpd="sng" algn="ctr">
          <a:prstDash val="solid"/>
          <a:miter/>
        </a:ln>
        <a:ln w="3810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  <a:miter/>
        </a:ln>
        <a:ln w="25400" cap="flat" cmpd="sng" algn="ctr">
          <a:prstDash val="solid"/>
          <a:miter/>
        </a:ln>
        <a:ln w="3810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5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44</TotalTime>
  <Application>LibreOffice/25.8.5.2$Linux_X86_64 LibreOffice_project/580$Build-2</Application>
  <AppVersion>15.0000</AppVersion>
  <Words>0</Words>
  <Paragraphs>0</Paragraphs>
  <Company>PptxGenJS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2026-03-19T12:59:51Z</dcterms:created>
  <dc:creator>PptxGenJS</dc:creator>
  <dc:description/>
  <dc:language>en-US</dc:language>
  <cp:lastModifiedBy/>
  <dcterms:modified xsi:type="dcterms:W3CDTF">2026-04-07T09:48:37Z</dcterms:modified>
  <cp:revision>11</cp:revision>
  <dc:subject>PptxGenJS Presentation</dc:subject>
  <dc:title>ABM Results – Based on R Script Output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14</vt:i4>
  </property>
  <property fmtid="{D5CDD505-2E9C-101B-9397-08002B2CF9AE}" pid="3" name="PresentationFormat">
    <vt:lpwstr>On-screen Show (16:9)</vt:lpwstr>
  </property>
  <property fmtid="{D5CDD505-2E9C-101B-9397-08002B2CF9AE}" pid="4" name="Slides">
    <vt:i4>14</vt:i4>
  </property>
</Properties>
</file>