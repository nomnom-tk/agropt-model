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25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image4.gif" ContentType="image/gif"/>
  <Override PartName="/ppt/media/image6.gif" ContentType="image/gif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14510BE-1C1F-487A-BB42-2F2A91DDAB4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440" cy="308232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440" cy="359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78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fr-FR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4E85BF9-5361-4B0F-92CC-557CD0180951}" type="slidenum"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440" cy="308232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440" cy="359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78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fr-FR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2F04F00-CC6F-452E-88BB-A89759914650}" type="slidenum"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440" cy="308232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440" cy="359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78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fr-FR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3CC6DB-D830-4045-A98C-A4DA590FCE44}" type="slidenum"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440" cy="308232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440" cy="359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78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fr-FR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8CBBC51-3437-4BC0-9387-AE5D4F3EA472}" type="slidenum"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440" cy="308232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440" cy="359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78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fr-FR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BF7D2F8-F029-456A-BC44-000499C8AA4B}" type="slidenum"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440" cy="308232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440" cy="359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78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fr-FR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7E95D05-A56B-4BC2-AF9E-FA6817B2FDF7}" type="slidenum"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440" cy="30823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440" cy="359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78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fr-FR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6DBE123-5099-40EF-B5A6-77B724F29556}" type="slidenum"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440" cy="308232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440" cy="359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78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fr-FR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F4B3A18-A444-44CF-9F62-46C18AAEEA72}" type="slidenum"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440" cy="308232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440" cy="359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78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fr-FR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B020D7D-D222-4A35-8D01-0952B8BF5681}" type="slidenum"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440" cy="308232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440" cy="359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678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fr-FR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AF2ED22-A9ED-43D4-BDA3-7F8BB7273117}" type="slidenum"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440" cy="308232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440" cy="359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678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fr-FR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A4A3DB5-E64F-421F-9754-BC4F58AB04A6}" type="slidenum"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440" cy="308232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440" cy="359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678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fr-FR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F78B7D-F428-4366-B671-D270F7D20C0B}" type="slidenum"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440" cy="308232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440" cy="359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678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fr-FR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FAC222B-0112-48E5-A083-75D0A7FCF838}" type="slidenum"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440" cy="308232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440" cy="359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678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fr-FR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C49B74D-E1B6-4FE2-89BC-933360607F28}" type="slidenum"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440" cy="308232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440" cy="359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678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fr-FR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9192A49-9DEF-4F0C-891A-2A61E823D241}" type="slidenum"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440" cy="308232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440" cy="359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678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fr-FR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0DACE89-132E-4EA9-8ECF-4A62C07C8DC0}" type="slidenum"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440" cy="308232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440" cy="359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678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fr-FR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4EE2F67-E9E8-4C85-BA1A-B314494F66B2}" type="slidenum"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440" cy="308232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440" cy="359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678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fr-FR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C1F6FBF-21F8-4EBE-ACD8-59DD9936C32E}" type="slidenum"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44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44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Default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44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44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gif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gif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gif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hyperlink" Target="https://www.allaboutai.com/fr-fr/glossaire-ai/simulation-multi-agent/" TargetMode="External"/><Relationship Id="rId2" Type="http://schemas.openxmlformats.org/officeDocument/2006/relationships/hyperlink" Target="https://www.dicopart.fr/mini-publics-deliberatifs-2022" TargetMode="External"/><Relationship Id="rId3" Type="http://schemas.openxmlformats.org/officeDocument/2006/relationships/hyperlink" Target="https://www.allocine.fr/film/fichefilm_gen_cfilm=123530.html" TargetMode="External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0"/>
          <p:cNvSpPr/>
          <p:nvPr/>
        </p:nvSpPr>
        <p:spPr>
          <a:xfrm>
            <a:off x="720000" y="1296000"/>
            <a:ext cx="8045640" cy="182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fr-FR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Modélisation des dynamiques d’opinion dans la réduction de la consommation de viande: une approche par simulation multi-agents utilisant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fr-FR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des données de délibération citoyenne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"/>
          <p:cNvSpPr/>
          <p:nvPr/>
        </p:nvSpPr>
        <p:spPr>
          <a:xfrm>
            <a:off x="914400" y="3291840"/>
            <a:ext cx="7311240" cy="9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fr-FR" sz="140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DejaVu Sans"/>
              </a:rPr>
              <a:t>Journées Scientifiques du départment Sciences de la Vie et Santé 2026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"/>
          <p:cNvSpPr/>
          <p:nvPr/>
        </p:nvSpPr>
        <p:spPr>
          <a:xfrm>
            <a:off x="914400" y="4029120"/>
            <a:ext cx="731124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fr-FR" sz="900" b="0" u="none" strike="noStrike">
                <a:solidFill>
                  <a:srgbClr val="aaaaaa"/>
                </a:solidFill>
                <a:effectLst/>
                <a:uFillTx/>
                <a:latin typeface="Calibri"/>
                <a:ea typeface="DejaVu Sans"/>
              </a:rPr>
              <a:t>Gregor Stolte, Nicolas Darcel, Patrick Taillandier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0"/>
          <p:cNvSpPr/>
          <p:nvPr/>
        </p:nvSpPr>
        <p:spPr>
          <a:xfrm>
            <a:off x="0" y="0"/>
            <a:ext cx="9140040" cy="361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4" name="Text 1"/>
          <p:cNvSpPr/>
          <p:nvPr/>
        </p:nvSpPr>
        <p:spPr>
          <a:xfrm>
            <a:off x="182880" y="0"/>
            <a:ext cx="877428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Agenda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1"/>
          <p:cNvSpPr>
            <a:spLocks noGrp="1"/>
          </p:cNvSpPr>
          <p:nvPr>
            <p:ph/>
          </p:nvPr>
        </p:nvSpPr>
        <p:spPr>
          <a:xfrm>
            <a:off x="457200" y="843480"/>
            <a:ext cx="822708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Notre problème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Les dynamiques d’opinion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L’expérience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Résultats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Prochaines étapes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1"/>
          <p:cNvSpPr/>
          <p:nvPr/>
        </p:nvSpPr>
        <p:spPr>
          <a:xfrm>
            <a:off x="0" y="0"/>
            <a:ext cx="9140040" cy="361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7" name="Text 3"/>
          <p:cNvSpPr/>
          <p:nvPr/>
        </p:nvSpPr>
        <p:spPr>
          <a:xfrm>
            <a:off x="182880" y="0"/>
            <a:ext cx="877428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Notre Problème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7"/>
          <p:cNvSpPr/>
          <p:nvPr/>
        </p:nvSpPr>
        <p:spPr>
          <a:xfrm>
            <a:off x="274320" y="457200"/>
            <a:ext cx="859140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20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DejaVu Sans"/>
              </a:rPr>
              <a:t>Transition vers les régimes durables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"/>
          <p:cNvSpPr/>
          <p:nvPr/>
        </p:nvSpPr>
        <p:spPr>
          <a:xfrm>
            <a:off x="274320" y="1023840"/>
            <a:ext cx="8595360" cy="360"/>
          </a:xfrm>
          <a:prstGeom prst="line">
            <a:avLst/>
          </a:prstGeom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0" name="Text 18"/>
          <p:cNvSpPr/>
          <p:nvPr/>
        </p:nvSpPr>
        <p:spPr>
          <a:xfrm>
            <a:off x="274320" y="1122120"/>
            <a:ext cx="859140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11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DejaVu Sans"/>
              </a:rPr>
              <a:t>Réduction des émissions liée à la production alimentaire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9"/>
          <p:cNvSpPr/>
          <p:nvPr/>
        </p:nvSpPr>
        <p:spPr>
          <a:xfrm>
            <a:off x="288000" y="2307600"/>
            <a:ext cx="8591400" cy="10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0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Les choix alimentaires ont un impact sur la santé (Springmann et al., 2016), la planète (Springmann et al., 2016), et l’environnement (Garnett, 2008)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0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Plan National Intégré Énergie-Climat Francais 2021-2030 (European Commission, 2024)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0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Paris Agreement (OECD, 2025)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0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Réduction</a:t>
            </a:r>
            <a:r>
              <a:rPr lang="fr-FR" sz="10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 de consommation et un </a:t>
            </a:r>
            <a:r>
              <a:rPr lang="fr-FR" sz="1000" b="1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changement</a:t>
            </a:r>
            <a:r>
              <a:rPr lang="fr-FR" sz="10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 de régime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0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Changement comportemental à base d’opinions et d’attitudes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0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Est-ce qu’on s’influence? (Cruwys et al., 2015)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0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Observation (choix des autres, visuel)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0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Imitation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0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Répulsion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0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Nudge – Schäufele-Elbers et al., 2025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0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Normes sociales – Pollicino et al., 2025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5859000" y="2285640"/>
            <a:ext cx="2285640" cy="2286000"/>
          </a:xfrm>
          <a:custGeom>
            <a:avLst/>
            <a:gdLst>
              <a:gd name="textAreaLeft" fmla="*/ 0 w 2285640"/>
              <a:gd name="textAreaRight" fmla="*/ 2286000 w 2285640"/>
              <a:gd name="textAreaTop" fmla="*/ 0 h 2286000"/>
              <a:gd name="textAreaBottom" fmla="*/ 2286360 h 2286000"/>
            </a:gdLst>
            <a:ahLst/>
            <a:cxnLst/>
            <a:rect l="textAreaLeft" t="textAreaTop" r="textAreaRight" b="textAreaBottom"/>
            <a:pathLst>
              <a:path w="6350" h="6351">
                <a:moveTo>
                  <a:pt x="6350" y="5338"/>
                </a:moveTo>
                <a:cubicBezTo>
                  <a:pt x="6343" y="5508"/>
                  <a:pt x="6294" y="5674"/>
                  <a:pt x="6209" y="5822"/>
                </a:cubicBezTo>
                <a:cubicBezTo>
                  <a:pt x="6116" y="5983"/>
                  <a:pt x="5983" y="6116"/>
                  <a:pt x="5822" y="6209"/>
                </a:cubicBezTo>
                <a:cubicBezTo>
                  <a:pt x="5661" y="6302"/>
                  <a:pt x="5478" y="6351"/>
                  <a:pt x="5293" y="6351"/>
                </a:cubicBezTo>
                <a:lnTo>
                  <a:pt x="5292" y="6351"/>
                </a:lnTo>
                <a:lnTo>
                  <a:pt x="1059" y="6351"/>
                </a:lnTo>
                <a:cubicBezTo>
                  <a:pt x="873" y="6351"/>
                  <a:pt x="690" y="6302"/>
                  <a:pt x="529" y="6209"/>
                </a:cubicBezTo>
                <a:cubicBezTo>
                  <a:pt x="368" y="6116"/>
                  <a:pt x="235" y="5983"/>
                  <a:pt x="142" y="5822"/>
                </a:cubicBezTo>
                <a:cubicBezTo>
                  <a:pt x="49" y="5661"/>
                  <a:pt x="0" y="5478"/>
                  <a:pt x="0" y="5293"/>
                </a:cubicBezTo>
                <a:lnTo>
                  <a:pt x="0" y="5292"/>
                </a:lnTo>
                <a:lnTo>
                  <a:pt x="0" y="1059"/>
                </a:lnTo>
                <a:cubicBezTo>
                  <a:pt x="0" y="873"/>
                  <a:pt x="49" y="690"/>
                  <a:pt x="142" y="529"/>
                </a:cubicBezTo>
                <a:cubicBezTo>
                  <a:pt x="235" y="368"/>
                  <a:pt x="368" y="235"/>
                  <a:pt x="529" y="142"/>
                </a:cubicBezTo>
                <a:cubicBezTo>
                  <a:pt x="690" y="49"/>
                  <a:pt x="873" y="0"/>
                  <a:pt x="1059" y="0"/>
                </a:cubicBezTo>
                <a:lnTo>
                  <a:pt x="5293" y="0"/>
                </a:lnTo>
                <a:cubicBezTo>
                  <a:pt x="5478" y="0"/>
                  <a:pt x="5661" y="49"/>
                  <a:pt x="5822" y="142"/>
                </a:cubicBezTo>
                <a:cubicBezTo>
                  <a:pt x="5983" y="235"/>
                  <a:pt x="6116" y="368"/>
                  <a:pt x="6209" y="529"/>
                </a:cubicBezTo>
                <a:cubicBezTo>
                  <a:pt x="6294" y="677"/>
                  <a:pt x="6343" y="843"/>
                  <a:pt x="6350" y="1013"/>
                </a:cubicBezTo>
                <a:lnTo>
                  <a:pt x="6350" y="5338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8"/>
          <p:cNvSpPr/>
          <p:nvPr/>
        </p:nvSpPr>
        <p:spPr>
          <a:xfrm>
            <a:off x="0" y="0"/>
            <a:ext cx="9140040" cy="361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4" name="Text 40"/>
          <p:cNvSpPr/>
          <p:nvPr/>
        </p:nvSpPr>
        <p:spPr>
          <a:xfrm>
            <a:off x="182880" y="0"/>
            <a:ext cx="877428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Les dynamiques d’opinion - 1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41"/>
          <p:cNvSpPr/>
          <p:nvPr/>
        </p:nvSpPr>
        <p:spPr>
          <a:xfrm>
            <a:off x="274320" y="457200"/>
            <a:ext cx="859140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20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DejaVu Sans"/>
              </a:rPr>
              <a:t>Caractériser l’influence sociale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8"/>
          <p:cNvSpPr/>
          <p:nvPr/>
        </p:nvSpPr>
        <p:spPr>
          <a:xfrm>
            <a:off x="274320" y="1023840"/>
            <a:ext cx="8595360" cy="360"/>
          </a:xfrm>
          <a:prstGeom prst="line">
            <a:avLst/>
          </a:prstGeom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7" name="Text 42"/>
          <p:cNvSpPr/>
          <p:nvPr/>
        </p:nvSpPr>
        <p:spPr>
          <a:xfrm>
            <a:off x="274320" y="1122120"/>
            <a:ext cx="859140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11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DejaVu Sans"/>
              </a:rPr>
              <a:t>Trois exemples de modèles d’influence social (Flache et al., 2017)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" name=""/>
          <p:cNvPicPr/>
          <p:nvPr/>
        </p:nvPicPr>
        <p:blipFill>
          <a:blip r:embed="rId1"/>
          <a:srcRect l="0" t="10360" r="72823" b="0"/>
          <a:stretch/>
        </p:blipFill>
        <p:spPr>
          <a:xfrm>
            <a:off x="900000" y="1567080"/>
            <a:ext cx="1605960" cy="31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Text 43"/>
          <p:cNvSpPr/>
          <p:nvPr/>
        </p:nvSpPr>
        <p:spPr>
          <a:xfrm>
            <a:off x="3934800" y="2520000"/>
            <a:ext cx="4271400" cy="10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6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Tout le monde est connecté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6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Chaque individu s’influence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6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Réduction de différence d’opinion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6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Long-terme : consensus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2"/>
          <p:cNvSpPr/>
          <p:nvPr/>
        </p:nvSpPr>
        <p:spPr>
          <a:xfrm>
            <a:off x="0" y="0"/>
            <a:ext cx="9140040" cy="361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1" name="Text 31"/>
          <p:cNvSpPr/>
          <p:nvPr/>
        </p:nvSpPr>
        <p:spPr>
          <a:xfrm>
            <a:off x="182880" y="0"/>
            <a:ext cx="877428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Les dynamiques d’opinion - 2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32"/>
          <p:cNvSpPr/>
          <p:nvPr/>
        </p:nvSpPr>
        <p:spPr>
          <a:xfrm>
            <a:off x="274320" y="457200"/>
            <a:ext cx="859140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20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DejaVu Sans"/>
              </a:rPr>
              <a:t>Caractériser l’influence sociale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3"/>
          <p:cNvSpPr/>
          <p:nvPr/>
        </p:nvSpPr>
        <p:spPr>
          <a:xfrm>
            <a:off x="274320" y="1023840"/>
            <a:ext cx="8595360" cy="360"/>
          </a:xfrm>
          <a:prstGeom prst="line">
            <a:avLst/>
          </a:prstGeom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4" name="Text 33"/>
          <p:cNvSpPr/>
          <p:nvPr/>
        </p:nvSpPr>
        <p:spPr>
          <a:xfrm>
            <a:off x="274320" y="1122120"/>
            <a:ext cx="859140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11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DejaVu Sans"/>
              </a:rPr>
              <a:t>Trois exemples de modèles d’influence social (Flache et al., 2017)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"/>
          <p:cNvPicPr/>
          <p:nvPr/>
        </p:nvPicPr>
        <p:blipFill>
          <a:blip r:embed="rId1"/>
          <a:srcRect l="33370" t="11885" r="36216" b="0"/>
          <a:stretch/>
        </p:blipFill>
        <p:spPr>
          <a:xfrm>
            <a:off x="720000" y="1619280"/>
            <a:ext cx="1798200" cy="305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ext 25"/>
          <p:cNvSpPr/>
          <p:nvPr/>
        </p:nvSpPr>
        <p:spPr>
          <a:xfrm>
            <a:off x="3970800" y="2658240"/>
            <a:ext cx="4271400" cy="10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6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Tout le monde est connecté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6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Attraction: seul les individus assez similaire s’influence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6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Réduction de différence d’opinion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6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Long-terme : fragmentation (potentiel)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4"/>
          <p:cNvSpPr/>
          <p:nvPr/>
        </p:nvSpPr>
        <p:spPr>
          <a:xfrm>
            <a:off x="0" y="0"/>
            <a:ext cx="9140040" cy="361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8" name="Text 34"/>
          <p:cNvSpPr/>
          <p:nvPr/>
        </p:nvSpPr>
        <p:spPr>
          <a:xfrm>
            <a:off x="182880" y="0"/>
            <a:ext cx="877428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Les dynamiques d’opinion - 3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35"/>
          <p:cNvSpPr/>
          <p:nvPr/>
        </p:nvSpPr>
        <p:spPr>
          <a:xfrm>
            <a:off x="274320" y="457200"/>
            <a:ext cx="859140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20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DejaVu Sans"/>
              </a:rPr>
              <a:t>Caractériser l’influence sociale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5"/>
          <p:cNvSpPr/>
          <p:nvPr/>
        </p:nvSpPr>
        <p:spPr>
          <a:xfrm>
            <a:off x="274320" y="1023840"/>
            <a:ext cx="8595360" cy="360"/>
          </a:xfrm>
          <a:prstGeom prst="line">
            <a:avLst/>
          </a:prstGeom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1" name="Text 36"/>
          <p:cNvSpPr/>
          <p:nvPr/>
        </p:nvSpPr>
        <p:spPr>
          <a:xfrm>
            <a:off x="274320" y="1122120"/>
            <a:ext cx="859140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11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DejaVu Sans"/>
              </a:rPr>
              <a:t>Trois exemples de modèles d’influence social (Flache et al., 2017)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"/>
          <p:cNvPicPr/>
          <p:nvPr/>
        </p:nvPicPr>
        <p:blipFill>
          <a:blip r:embed="rId1"/>
          <a:srcRect l="72619" t="11878" r="0" b="0"/>
          <a:stretch/>
        </p:blipFill>
        <p:spPr>
          <a:xfrm>
            <a:off x="900000" y="1584000"/>
            <a:ext cx="1618200" cy="305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Text 26"/>
          <p:cNvSpPr/>
          <p:nvPr/>
        </p:nvSpPr>
        <p:spPr>
          <a:xfrm>
            <a:off x="3971160" y="2766600"/>
            <a:ext cx="4271400" cy="10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6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Tout le monde est connecté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6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Attraction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6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 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6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Répulsion : les individus pas assez similaire se repousse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6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Réduction/Augmentation de différence d’opinion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6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Long-terme : fragmentation/bi-polarization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0"/>
          <p:cNvSpPr/>
          <p:nvPr/>
        </p:nvSpPr>
        <p:spPr>
          <a:xfrm>
            <a:off x="0" y="0"/>
            <a:ext cx="9140040" cy="361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5" name="Text 28"/>
          <p:cNvSpPr/>
          <p:nvPr/>
        </p:nvSpPr>
        <p:spPr>
          <a:xfrm>
            <a:off x="182880" y="0"/>
            <a:ext cx="877428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Les dynamiques d’opinion - 4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9"/>
          <p:cNvSpPr/>
          <p:nvPr/>
        </p:nvSpPr>
        <p:spPr>
          <a:xfrm>
            <a:off x="274320" y="457200"/>
            <a:ext cx="859140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20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DejaVu Sans"/>
              </a:rPr>
              <a:t>Caractériser l’influence sociale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1"/>
          <p:cNvSpPr/>
          <p:nvPr/>
        </p:nvSpPr>
        <p:spPr>
          <a:xfrm>
            <a:off x="274320" y="1023840"/>
            <a:ext cx="8595360" cy="360"/>
          </a:xfrm>
          <a:prstGeom prst="line">
            <a:avLst/>
          </a:prstGeom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8" name="Text 30"/>
          <p:cNvSpPr/>
          <p:nvPr/>
        </p:nvSpPr>
        <p:spPr>
          <a:xfrm>
            <a:off x="274320" y="1122120"/>
            <a:ext cx="859140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11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DejaVu Sans"/>
              </a:rPr>
              <a:t>Trois exemples de modèles d’influence social (Flache et al., 2017)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"/>
          <p:cNvPicPr/>
          <p:nvPr/>
        </p:nvPicPr>
        <p:blipFill>
          <a:blip r:embed="rId1"/>
          <a:stretch/>
        </p:blipFill>
        <p:spPr>
          <a:xfrm>
            <a:off x="1595880" y="1394280"/>
            <a:ext cx="5926320" cy="3471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6"/>
          <p:cNvSpPr/>
          <p:nvPr/>
        </p:nvSpPr>
        <p:spPr>
          <a:xfrm>
            <a:off x="0" y="0"/>
            <a:ext cx="9140040" cy="361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1" name="Text 20"/>
          <p:cNvSpPr/>
          <p:nvPr/>
        </p:nvSpPr>
        <p:spPr>
          <a:xfrm>
            <a:off x="182880" y="0"/>
            <a:ext cx="877428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Les dynamiques d’opinion - 5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38"/>
          <p:cNvSpPr/>
          <p:nvPr/>
        </p:nvSpPr>
        <p:spPr>
          <a:xfrm>
            <a:off x="274320" y="457200"/>
            <a:ext cx="859140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20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DejaVu Sans"/>
              </a:rPr>
              <a:t>La Délibération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7"/>
          <p:cNvSpPr/>
          <p:nvPr/>
        </p:nvSpPr>
        <p:spPr>
          <a:xfrm>
            <a:off x="274320" y="1023840"/>
            <a:ext cx="8595360" cy="360"/>
          </a:xfrm>
          <a:prstGeom prst="line">
            <a:avLst/>
          </a:prstGeom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4" name="Text 39"/>
          <p:cNvSpPr/>
          <p:nvPr/>
        </p:nvSpPr>
        <p:spPr>
          <a:xfrm>
            <a:off x="274320" y="1122120"/>
            <a:ext cx="859140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11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DejaVu Sans"/>
              </a:rPr>
              <a:t>Le contexte de changement d’attitudes et de consommation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7"/>
          <p:cNvSpPr/>
          <p:nvPr/>
        </p:nvSpPr>
        <p:spPr>
          <a:xfrm>
            <a:off x="4907160" y="2808360"/>
            <a:ext cx="4271400" cy="10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6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Mini-publics : experts = individus (Dahl., 1989)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6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Participation citoyenne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6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Convention Citoyenne pour le Climat, 2021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6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“View from manywhere” (Niemeyer et al., 2024)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6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Normes sociales et nudges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"/>
          <p:cNvPicPr/>
          <p:nvPr/>
        </p:nvPicPr>
        <p:blipFill>
          <a:blip r:embed="rId1"/>
          <a:stretch/>
        </p:blipFill>
        <p:spPr>
          <a:xfrm>
            <a:off x="228600" y="1714680"/>
            <a:ext cx="4549320" cy="308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Text 21"/>
          <p:cNvSpPr/>
          <p:nvPr/>
        </p:nvSpPr>
        <p:spPr>
          <a:xfrm>
            <a:off x="166680" y="4741560"/>
            <a:ext cx="463320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9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DejaVu Sans"/>
              </a:rPr>
              <a:t>Conseil municipal, la Haye, construction de maison de guilde, 1636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6"/>
          <p:cNvSpPr/>
          <p:nvPr/>
        </p:nvSpPr>
        <p:spPr>
          <a:xfrm>
            <a:off x="0" y="0"/>
            <a:ext cx="9140040" cy="361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9" name="Text 22"/>
          <p:cNvSpPr/>
          <p:nvPr/>
        </p:nvSpPr>
        <p:spPr>
          <a:xfrm>
            <a:off x="182880" y="0"/>
            <a:ext cx="877428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Les dynamiques d’opinion - 5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3"/>
          <p:cNvSpPr/>
          <p:nvPr/>
        </p:nvSpPr>
        <p:spPr>
          <a:xfrm>
            <a:off x="274320" y="457200"/>
            <a:ext cx="859140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20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DejaVu Sans"/>
              </a:rPr>
              <a:t>C’est quoi la simulation multi-agent 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7"/>
          <p:cNvSpPr/>
          <p:nvPr/>
        </p:nvSpPr>
        <p:spPr>
          <a:xfrm>
            <a:off x="274320" y="1023840"/>
            <a:ext cx="8595360" cy="360"/>
          </a:xfrm>
          <a:prstGeom prst="line">
            <a:avLst/>
          </a:prstGeom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2" name="Text 24"/>
          <p:cNvSpPr/>
          <p:nvPr/>
        </p:nvSpPr>
        <p:spPr>
          <a:xfrm>
            <a:off x="274320" y="1122120"/>
            <a:ext cx="859140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11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DejaVu Sans"/>
              </a:rPr>
              <a:t>Pourquoi modéliser les comportements de la vie réel ?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"/>
          <p:cNvPicPr/>
          <p:nvPr/>
        </p:nvPicPr>
        <p:blipFill>
          <a:blip r:embed="rId1"/>
          <a:srcRect l="0" t="24567" r="0" b="18072"/>
          <a:stretch/>
        </p:blipFill>
        <p:spPr>
          <a:xfrm>
            <a:off x="1371600" y="2153160"/>
            <a:ext cx="6580800" cy="159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Text 59"/>
          <p:cNvSpPr/>
          <p:nvPr/>
        </p:nvSpPr>
        <p:spPr>
          <a:xfrm>
            <a:off x="1371600" y="3621600"/>
            <a:ext cx="1599480" cy="456480"/>
          </a:xfrm>
          <a:prstGeom prst="rect">
            <a:avLst/>
          </a:prstGeom>
          <a:noFill/>
          <a:ln w="0">
            <a:solidFill>
              <a:srgbClr val="ff000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Agents: Individus Concerné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58"/>
          <p:cNvSpPr/>
          <p:nvPr/>
        </p:nvSpPr>
        <p:spPr>
          <a:xfrm>
            <a:off x="2237400" y="1740600"/>
            <a:ext cx="1828080" cy="508680"/>
          </a:xfrm>
          <a:prstGeom prst="rect">
            <a:avLst/>
          </a:prstGeom>
          <a:noFill/>
          <a:ln w="0">
            <a:solidFill>
              <a:srgbClr val="ff000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fr-FR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Environnement: Crous, Cantine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62"/>
          <p:cNvSpPr/>
          <p:nvPr/>
        </p:nvSpPr>
        <p:spPr>
          <a:xfrm>
            <a:off x="3393000" y="3634200"/>
            <a:ext cx="1406880" cy="485280"/>
          </a:xfrm>
          <a:prstGeom prst="rect">
            <a:avLst/>
          </a:prstGeom>
          <a:noFill/>
          <a:ln w="0">
            <a:solidFill>
              <a:srgbClr val="ff000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Règles de communication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64"/>
          <p:cNvSpPr/>
          <p:nvPr/>
        </p:nvSpPr>
        <p:spPr>
          <a:xfrm>
            <a:off x="4163400" y="1740600"/>
            <a:ext cx="2236680" cy="496080"/>
          </a:xfrm>
          <a:prstGeom prst="rect">
            <a:avLst/>
          </a:prstGeom>
          <a:noFill/>
          <a:ln w="0">
            <a:solidFill>
              <a:srgbClr val="ff000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fr-FR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Algorithmes déterminant les actions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65"/>
          <p:cNvSpPr/>
          <p:nvPr/>
        </p:nvSpPr>
        <p:spPr>
          <a:xfrm>
            <a:off x="5450400" y="3657600"/>
            <a:ext cx="1864080" cy="456480"/>
          </a:xfrm>
          <a:prstGeom prst="rect">
            <a:avLst/>
          </a:prstGeom>
          <a:noFill/>
          <a:ln w="0">
            <a:solidFill>
              <a:srgbClr val="ff000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Pas de temps/événements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66"/>
          <p:cNvSpPr/>
          <p:nvPr/>
        </p:nvSpPr>
        <p:spPr>
          <a:xfrm>
            <a:off x="6508800" y="1704600"/>
            <a:ext cx="1599480" cy="544680"/>
          </a:xfrm>
          <a:prstGeom prst="rect">
            <a:avLst/>
          </a:prstGeom>
          <a:noFill/>
          <a:ln w="0">
            <a:solidFill>
              <a:srgbClr val="ff000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fr-FR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Définition de comportement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28"/>
          <p:cNvSpPr/>
          <p:nvPr/>
        </p:nvSpPr>
        <p:spPr>
          <a:xfrm>
            <a:off x="0" y="0"/>
            <a:ext cx="9140040" cy="361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1" name="Text 67"/>
          <p:cNvSpPr/>
          <p:nvPr/>
        </p:nvSpPr>
        <p:spPr>
          <a:xfrm>
            <a:off x="182880" y="0"/>
            <a:ext cx="877428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L’expérience - 1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68"/>
          <p:cNvSpPr/>
          <p:nvPr/>
        </p:nvSpPr>
        <p:spPr>
          <a:xfrm>
            <a:off x="274320" y="457200"/>
            <a:ext cx="859140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20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DejaVu Sans"/>
              </a:rPr>
              <a:t>Notre expérience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29"/>
          <p:cNvSpPr/>
          <p:nvPr/>
        </p:nvSpPr>
        <p:spPr>
          <a:xfrm>
            <a:off x="274320" y="1023840"/>
            <a:ext cx="8595360" cy="360"/>
          </a:xfrm>
          <a:prstGeom prst="line">
            <a:avLst/>
          </a:prstGeom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44" name=""/>
          <p:cNvPicPr/>
          <p:nvPr/>
        </p:nvPicPr>
        <p:blipFill>
          <a:blip r:embed="rId1"/>
          <a:stretch/>
        </p:blipFill>
        <p:spPr>
          <a:xfrm>
            <a:off x="1479600" y="1371600"/>
            <a:ext cx="6095520" cy="3199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9"/>
          <p:cNvSpPr/>
          <p:nvPr/>
        </p:nvSpPr>
        <p:spPr>
          <a:xfrm>
            <a:off x="0" y="0"/>
            <a:ext cx="9140040" cy="361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6" name="Text 37"/>
          <p:cNvSpPr/>
          <p:nvPr/>
        </p:nvSpPr>
        <p:spPr>
          <a:xfrm>
            <a:off x="182880" y="0"/>
            <a:ext cx="877428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L’expérience - 2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44"/>
          <p:cNvSpPr/>
          <p:nvPr/>
        </p:nvSpPr>
        <p:spPr>
          <a:xfrm>
            <a:off x="274320" y="457200"/>
            <a:ext cx="859140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20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DejaVu Sans"/>
              </a:rPr>
              <a:t>Notre expérience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9"/>
          <p:cNvSpPr/>
          <p:nvPr/>
        </p:nvSpPr>
        <p:spPr>
          <a:xfrm>
            <a:off x="274320" y="1023840"/>
            <a:ext cx="8595360" cy="360"/>
          </a:xfrm>
          <a:prstGeom prst="line">
            <a:avLst/>
          </a:prstGeom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9" name="Text 45"/>
          <p:cNvSpPr/>
          <p:nvPr/>
        </p:nvSpPr>
        <p:spPr>
          <a:xfrm>
            <a:off x="274320" y="1122120"/>
            <a:ext cx="859140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11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DejaVu Sans"/>
              </a:rPr>
              <a:t>La simulation multi-agent et le comportement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46"/>
          <p:cNvSpPr/>
          <p:nvPr/>
        </p:nvSpPr>
        <p:spPr>
          <a:xfrm>
            <a:off x="5771160" y="2592360"/>
            <a:ext cx="3143160" cy="10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fr-FR" sz="16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Dheilly et al. (soumis a Communications Sustainability)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6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Mini-publiques → Débats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" name=""/>
          <p:cNvPicPr/>
          <p:nvPr/>
        </p:nvPicPr>
        <p:blipFill>
          <a:blip r:embed="rId1"/>
          <a:stretch/>
        </p:blipFill>
        <p:spPr>
          <a:xfrm>
            <a:off x="302400" y="1600200"/>
            <a:ext cx="5265720" cy="2818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20"/>
          <p:cNvSpPr/>
          <p:nvPr/>
        </p:nvSpPr>
        <p:spPr>
          <a:xfrm>
            <a:off x="0" y="0"/>
            <a:ext cx="9140040" cy="361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3" name="Text 47"/>
          <p:cNvSpPr/>
          <p:nvPr/>
        </p:nvSpPr>
        <p:spPr>
          <a:xfrm>
            <a:off x="182880" y="0"/>
            <a:ext cx="877428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L’expérience - 3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48"/>
          <p:cNvSpPr/>
          <p:nvPr/>
        </p:nvSpPr>
        <p:spPr>
          <a:xfrm>
            <a:off x="274320" y="457200"/>
            <a:ext cx="859140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20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DejaVu Sans"/>
              </a:rPr>
              <a:t>Nos hypothèses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21"/>
          <p:cNvSpPr/>
          <p:nvPr/>
        </p:nvSpPr>
        <p:spPr>
          <a:xfrm>
            <a:off x="274320" y="1023840"/>
            <a:ext cx="8595360" cy="360"/>
          </a:xfrm>
          <a:prstGeom prst="line">
            <a:avLst/>
          </a:prstGeom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6" name="Text 49"/>
          <p:cNvSpPr/>
          <p:nvPr/>
        </p:nvSpPr>
        <p:spPr>
          <a:xfrm>
            <a:off x="274320" y="1122120"/>
            <a:ext cx="859140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11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DejaVu Sans"/>
              </a:rPr>
              <a:t>La simulation multi-agent et le comportement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50"/>
          <p:cNvSpPr/>
          <p:nvPr/>
        </p:nvSpPr>
        <p:spPr>
          <a:xfrm>
            <a:off x="299160" y="2521080"/>
            <a:ext cx="8843400" cy="10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6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Est-ce que les attitudes avant la délibération sont liées à celles d’après?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6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Les individus avec normes perçues et “self-control”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6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Simulations et comparaison avec des modèles de régression simple?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6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Simulations augmenté avec des dynamiques d’argumentation?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3"/>
          <p:cNvSpPr/>
          <p:nvPr/>
        </p:nvSpPr>
        <p:spPr>
          <a:xfrm>
            <a:off x="0" y="0"/>
            <a:ext cx="9140040" cy="361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9" name="Text 5"/>
          <p:cNvSpPr/>
          <p:nvPr/>
        </p:nvSpPr>
        <p:spPr>
          <a:xfrm>
            <a:off x="182880" y="0"/>
            <a:ext cx="877428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L’expérience - 4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6"/>
          <p:cNvSpPr/>
          <p:nvPr/>
        </p:nvSpPr>
        <p:spPr>
          <a:xfrm>
            <a:off x="274320" y="457200"/>
            <a:ext cx="859140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20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DejaVu Sans"/>
              </a:rPr>
              <a:t>Notre simulation multi-agent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4"/>
          <p:cNvSpPr/>
          <p:nvPr/>
        </p:nvSpPr>
        <p:spPr>
          <a:xfrm>
            <a:off x="274320" y="1023840"/>
            <a:ext cx="8595360" cy="360"/>
          </a:xfrm>
          <a:prstGeom prst="line">
            <a:avLst/>
          </a:prstGeom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62" name=""/>
          <p:cNvPicPr/>
          <p:nvPr/>
        </p:nvPicPr>
        <p:blipFill>
          <a:blip r:embed="rId1"/>
          <a:srcRect l="0" t="24567" r="0" b="18072"/>
          <a:stretch/>
        </p:blipFill>
        <p:spPr>
          <a:xfrm>
            <a:off x="1371600" y="2153160"/>
            <a:ext cx="6580800" cy="159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Text 8"/>
          <p:cNvSpPr/>
          <p:nvPr/>
        </p:nvSpPr>
        <p:spPr>
          <a:xfrm>
            <a:off x="1371600" y="3621600"/>
            <a:ext cx="1599480" cy="456480"/>
          </a:xfrm>
          <a:prstGeom prst="rect">
            <a:avLst/>
          </a:prstGeom>
          <a:noFill/>
          <a:ln w="0">
            <a:solidFill>
              <a:srgbClr val="ff000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Agents: Individus dans les débats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9"/>
          <p:cNvSpPr/>
          <p:nvPr/>
        </p:nvSpPr>
        <p:spPr>
          <a:xfrm>
            <a:off x="2057400" y="1740600"/>
            <a:ext cx="1828440" cy="508680"/>
          </a:xfrm>
          <a:prstGeom prst="rect">
            <a:avLst/>
          </a:prstGeom>
          <a:noFill/>
          <a:ln w="0">
            <a:solidFill>
              <a:srgbClr val="ff000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fr-FR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Environnement: Débats visio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0"/>
          <p:cNvSpPr/>
          <p:nvPr/>
        </p:nvSpPr>
        <p:spPr>
          <a:xfrm>
            <a:off x="3393000" y="3634200"/>
            <a:ext cx="1635840" cy="485280"/>
          </a:xfrm>
          <a:prstGeom prst="rect">
            <a:avLst/>
          </a:prstGeom>
          <a:noFill/>
          <a:ln w="0">
            <a:solidFill>
              <a:srgbClr val="ff000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Modèles d’influence sociale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1"/>
          <p:cNvSpPr/>
          <p:nvPr/>
        </p:nvSpPr>
        <p:spPr>
          <a:xfrm>
            <a:off x="4294440" y="1753200"/>
            <a:ext cx="1877400" cy="496080"/>
          </a:xfrm>
          <a:prstGeom prst="rect">
            <a:avLst/>
          </a:prstGeom>
          <a:noFill/>
          <a:ln w="0">
            <a:solidFill>
              <a:srgbClr val="ff000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fr-FR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Interagir avec les autres ou pas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2"/>
          <p:cNvSpPr/>
          <p:nvPr/>
        </p:nvSpPr>
        <p:spPr>
          <a:xfrm>
            <a:off x="5450400" y="3657600"/>
            <a:ext cx="1864080" cy="456480"/>
          </a:xfrm>
          <a:prstGeom prst="rect">
            <a:avLst/>
          </a:prstGeom>
          <a:noFill/>
          <a:ln w="0">
            <a:solidFill>
              <a:srgbClr val="ff000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Pas de temps relatif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3"/>
          <p:cNvSpPr/>
          <p:nvPr/>
        </p:nvSpPr>
        <p:spPr>
          <a:xfrm>
            <a:off x="6485400" y="1828800"/>
            <a:ext cx="1828440" cy="420480"/>
          </a:xfrm>
          <a:prstGeom prst="rect">
            <a:avLst/>
          </a:prstGeom>
          <a:noFill/>
          <a:ln w="0">
            <a:solidFill>
              <a:srgbClr val="ff000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fr-FR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Paramètres pour chaque modèle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7"/>
          <p:cNvSpPr/>
          <p:nvPr/>
        </p:nvSpPr>
        <p:spPr>
          <a:xfrm>
            <a:off x="1947600" y="4343760"/>
            <a:ext cx="5257440" cy="456480"/>
          </a:xfrm>
          <a:prstGeom prst="rect">
            <a:avLst/>
          </a:prstGeom>
          <a:noFill/>
          <a:ln w="29160">
            <a:solidFill>
              <a:srgbClr val="00a933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Métrique d’efficacité: Mean of absolute error (MAE)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24"/>
          <p:cNvSpPr/>
          <p:nvPr/>
        </p:nvSpPr>
        <p:spPr>
          <a:xfrm>
            <a:off x="0" y="0"/>
            <a:ext cx="9140040" cy="361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1" name="Text 54"/>
          <p:cNvSpPr/>
          <p:nvPr/>
        </p:nvSpPr>
        <p:spPr>
          <a:xfrm>
            <a:off x="182880" y="0"/>
            <a:ext cx="877428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Résultats - 1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55"/>
          <p:cNvSpPr/>
          <p:nvPr/>
        </p:nvSpPr>
        <p:spPr>
          <a:xfrm>
            <a:off x="274320" y="457200"/>
            <a:ext cx="859140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20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DejaVu Sans"/>
              </a:rPr>
              <a:t>Premiers résultats – a completer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5"/>
          <p:cNvSpPr/>
          <p:nvPr/>
        </p:nvSpPr>
        <p:spPr>
          <a:xfrm>
            <a:off x="274320" y="1023840"/>
            <a:ext cx="8595360" cy="360"/>
          </a:xfrm>
          <a:prstGeom prst="line">
            <a:avLst/>
          </a:prstGeom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4" name="Text 56"/>
          <p:cNvSpPr/>
          <p:nvPr/>
        </p:nvSpPr>
        <p:spPr>
          <a:xfrm>
            <a:off x="274320" y="1122120"/>
            <a:ext cx="859140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11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DejaVu Sans"/>
              </a:rPr>
              <a:t>La simulation multi-agent et le comportement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5" name=""/>
          <p:cNvPicPr/>
          <p:nvPr/>
        </p:nvPicPr>
        <p:blipFill>
          <a:blip r:embed="rId1"/>
          <a:stretch/>
        </p:blipFill>
        <p:spPr>
          <a:xfrm>
            <a:off x="248040" y="1392840"/>
            <a:ext cx="5695200" cy="353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Text 53"/>
          <p:cNvSpPr/>
          <p:nvPr/>
        </p:nvSpPr>
        <p:spPr>
          <a:xfrm>
            <a:off x="5866920" y="2507400"/>
            <a:ext cx="3143160" cy="10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fr-FR" sz="16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Distribution de variance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fr-FR" sz="16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Width : how often variance changes occur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fr-FR" sz="16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Dashed zero :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6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Left : model leads to convergence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6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Right : model leads to polarization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6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Mini-publiques → Débats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5"/>
          <p:cNvSpPr/>
          <p:nvPr/>
        </p:nvSpPr>
        <p:spPr>
          <a:xfrm>
            <a:off x="0" y="0"/>
            <a:ext cx="9140040" cy="361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8" name="Text 14"/>
          <p:cNvSpPr/>
          <p:nvPr/>
        </p:nvSpPr>
        <p:spPr>
          <a:xfrm>
            <a:off x="182880" y="0"/>
            <a:ext cx="877428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Résultats - 1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5"/>
          <p:cNvSpPr/>
          <p:nvPr/>
        </p:nvSpPr>
        <p:spPr>
          <a:xfrm>
            <a:off x="274320" y="457200"/>
            <a:ext cx="859140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20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DejaVu Sans"/>
              </a:rPr>
              <a:t>Premiers résultats – a completer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30"/>
          <p:cNvSpPr/>
          <p:nvPr/>
        </p:nvSpPr>
        <p:spPr>
          <a:xfrm>
            <a:off x="274320" y="1023840"/>
            <a:ext cx="8595360" cy="360"/>
          </a:xfrm>
          <a:prstGeom prst="line">
            <a:avLst/>
          </a:prstGeom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1" name="Text 16"/>
          <p:cNvSpPr/>
          <p:nvPr/>
        </p:nvSpPr>
        <p:spPr>
          <a:xfrm>
            <a:off x="274320" y="1122120"/>
            <a:ext cx="859140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11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DejaVu Sans"/>
              </a:rPr>
              <a:t>La simulation multi-agent et le comportement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2" name=""/>
          <p:cNvPicPr/>
          <p:nvPr/>
        </p:nvPicPr>
        <p:blipFill>
          <a:blip r:embed="rId1"/>
          <a:stretch/>
        </p:blipFill>
        <p:spPr>
          <a:xfrm>
            <a:off x="1619640" y="1392840"/>
            <a:ext cx="6152400" cy="353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31"/>
          <p:cNvSpPr/>
          <p:nvPr/>
        </p:nvSpPr>
        <p:spPr>
          <a:xfrm>
            <a:off x="0" y="0"/>
            <a:ext cx="9140040" cy="361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4" name="Text 57"/>
          <p:cNvSpPr/>
          <p:nvPr/>
        </p:nvSpPr>
        <p:spPr>
          <a:xfrm>
            <a:off x="182880" y="0"/>
            <a:ext cx="877428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Résultats - 1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69"/>
          <p:cNvSpPr/>
          <p:nvPr/>
        </p:nvSpPr>
        <p:spPr>
          <a:xfrm>
            <a:off x="274320" y="457200"/>
            <a:ext cx="859140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20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DejaVu Sans"/>
              </a:rPr>
              <a:t>Premiers résultats – a completer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32"/>
          <p:cNvSpPr/>
          <p:nvPr/>
        </p:nvSpPr>
        <p:spPr>
          <a:xfrm>
            <a:off x="274320" y="1023840"/>
            <a:ext cx="8595360" cy="360"/>
          </a:xfrm>
          <a:prstGeom prst="line">
            <a:avLst/>
          </a:prstGeom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7" name="Text 70"/>
          <p:cNvSpPr/>
          <p:nvPr/>
        </p:nvSpPr>
        <p:spPr>
          <a:xfrm>
            <a:off x="274320" y="1122120"/>
            <a:ext cx="859140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11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DejaVu Sans"/>
              </a:rPr>
              <a:t>La simulation multi-agent et le comportement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8" name=""/>
          <p:cNvPicPr/>
          <p:nvPr/>
        </p:nvPicPr>
        <p:blipFill>
          <a:blip r:embed="rId1"/>
          <a:stretch/>
        </p:blipFill>
        <p:spPr>
          <a:xfrm>
            <a:off x="1391040" y="1384560"/>
            <a:ext cx="6381360" cy="3661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22"/>
          <p:cNvSpPr/>
          <p:nvPr/>
        </p:nvSpPr>
        <p:spPr>
          <a:xfrm>
            <a:off x="0" y="0"/>
            <a:ext cx="9140040" cy="361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0" name="Text 51"/>
          <p:cNvSpPr/>
          <p:nvPr/>
        </p:nvSpPr>
        <p:spPr>
          <a:xfrm>
            <a:off x="182880" y="0"/>
            <a:ext cx="877428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Prochaines étapes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52"/>
          <p:cNvSpPr/>
          <p:nvPr/>
        </p:nvSpPr>
        <p:spPr>
          <a:xfrm>
            <a:off x="274320" y="457200"/>
            <a:ext cx="859140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20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DejaVu Sans"/>
              </a:rPr>
              <a:t>Conclusions et prochaines étapes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23"/>
          <p:cNvSpPr/>
          <p:nvPr/>
        </p:nvSpPr>
        <p:spPr>
          <a:xfrm>
            <a:off x="274320" y="1023840"/>
            <a:ext cx="8595360" cy="360"/>
          </a:xfrm>
          <a:prstGeom prst="line">
            <a:avLst/>
          </a:prstGeom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3" name="Text 4"/>
          <p:cNvSpPr/>
          <p:nvPr/>
        </p:nvSpPr>
        <p:spPr>
          <a:xfrm>
            <a:off x="299160" y="1693080"/>
            <a:ext cx="8843400" cy="10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fr-FR" sz="16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Travail en cours!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fr-FR" sz="16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Le grand défi → modéliser les changements d’attitudes subtiles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6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Prochaine étape → dynamiques d’argumentation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26"/>
          <p:cNvSpPr/>
          <p:nvPr/>
        </p:nvSpPr>
        <p:spPr>
          <a:xfrm>
            <a:off x="0" y="0"/>
            <a:ext cx="9140040" cy="361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5" name="Text 60"/>
          <p:cNvSpPr/>
          <p:nvPr/>
        </p:nvSpPr>
        <p:spPr>
          <a:xfrm>
            <a:off x="182880" y="0"/>
            <a:ext cx="877428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L’expérience - 2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61"/>
          <p:cNvSpPr/>
          <p:nvPr/>
        </p:nvSpPr>
        <p:spPr>
          <a:xfrm>
            <a:off x="274320" y="457200"/>
            <a:ext cx="859140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-FR" sz="20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DejaVu Sans"/>
              </a:rPr>
              <a:t>References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27"/>
          <p:cNvSpPr/>
          <p:nvPr/>
        </p:nvSpPr>
        <p:spPr>
          <a:xfrm>
            <a:off x="274320" y="1023840"/>
            <a:ext cx="8595360" cy="360"/>
          </a:xfrm>
          <a:prstGeom prst="line">
            <a:avLst/>
          </a:prstGeom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8" name="Text 63"/>
          <p:cNvSpPr/>
          <p:nvPr/>
        </p:nvSpPr>
        <p:spPr>
          <a:xfrm>
            <a:off x="299880" y="2883600"/>
            <a:ext cx="8386200" cy="10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900" b="0" u="none" strike="noStrike">
                <a:solidFill>
                  <a:srgbClr val="0563c1"/>
                </a:solidFill>
                <a:effectLst/>
                <a:uFillTx/>
                <a:latin typeface="Calibri"/>
                <a:ea typeface="DejaVu Sans"/>
                <a:hlinkClick r:id="rId1"/>
              </a:rPr>
              <a:t>https://www.allaboutai.com/fr-fr/glossaire-ai/simulation-multi-agent/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9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Paulis, E, Talukder, D, Vrydagh, J. (2022). Mini-publics déliberatifs. In G. Petit, L. Blondiaux, I. Casillo, J.-M. Fourniau, G. Gourgues, S. Hayat, R. Lefebvre, S. Rui, S. Wojcik, &amp; J. Zetlaoui-Léger (Éds.), Dictionnaire critique et interdisciplinaire de la Participation, DicoPart (2ème édition). GIS Démocratie et Participation. </a:t>
            </a:r>
            <a:r>
              <a:rPr lang="fr-FR" sz="900" b="0" u="none" strike="noStrike">
                <a:solidFill>
                  <a:srgbClr val="0563c1"/>
                </a:solidFill>
                <a:effectLst/>
                <a:uFillTx/>
                <a:latin typeface="Calibri"/>
                <a:ea typeface="DejaVu Sans"/>
                <a:hlinkClick r:id="rId2"/>
              </a:rPr>
              <a:t>https://www.dicopart.fr/mini-publics-deliberatifs-2022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0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https://medium.com/data-science/how-to-create-an-agent-based-simulation-model-37bd7b4b0da7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0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https://nl.wikipedia.org/wiki/Sint_Sebastiaansdoelen_(Den_Haag)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9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Include Flache et al and all the other references used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000" b="0" u="none" strike="noStrike">
                <a:solidFill>
                  <a:srgbClr val="0563c1"/>
                </a:solidFill>
                <a:effectLst/>
                <a:uFillTx/>
                <a:latin typeface="Calibri"/>
                <a:ea typeface="DejaVu Sans"/>
                <a:hlinkClick r:id="rId3"/>
              </a:rPr>
              <a:t>https://www.allocine.fr/film/fichefilm_gen_cfilm=123530.html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10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https://www.inrae.fr/dossiers/alimentation-saine-durable/accelerer-transitions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9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fr-FR" sz="9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DejaVu Sans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</TotalTime>
  <Application>LibreOffice/25.8.5.2$Linux_X86_64 LibreOffice_project/580$Build-2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2026-03-19T12:59:51Z</dcterms:created>
  <dc:creator>PptxGenJS</dc:creator>
  <dc:description/>
  <dc:language>en-US</dc:language>
  <cp:lastModifiedBy/>
  <dcterms:modified xsi:type="dcterms:W3CDTF">2026-04-07T16:39:54Z</dcterms:modified>
  <cp:revision>20</cp:revision>
  <dc:subject>PptxGenJS Presentation</dc:subject>
  <dc:title>ABM Results – Based on R Script Output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On-screen Show (16:9)</vt:lpwstr>
  </property>
  <property fmtid="{D5CDD505-2E9C-101B-9397-08002B2CF9AE}" pid="4" name="Slides">
    <vt:i4>14</vt:i4>
  </property>
</Properties>
</file>