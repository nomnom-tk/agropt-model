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5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3.gif" ContentType="image/gif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Anti (0–0.33)</c:v>
                </c:pt>
              </c:strCache>
            </c:strRef>
          </c:tx>
          <c:spPr>
            <a:solidFill>
              <a:srgbClr val="e87722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700" b="0" u="none" strike="noStrike">
                    <a:solidFill>
                      <a:srgbClr val="333333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Bipolarization</c:v>
                </c:pt>
                <c:pt idx="1">
                  <c:v>Clustering</c:v>
                </c:pt>
                <c:pt idx="2">
                  <c:v>Consensus</c:v>
                </c:pt>
                <c:pt idx="3">
                  <c:v>No-Change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0.2124</c:v>
                </c:pt>
                <c:pt idx="1">
                  <c:v>0.114</c:v>
                </c:pt>
                <c:pt idx="2">
                  <c:v>0.1593</c:v>
                </c:pt>
                <c:pt idx="3">
                  <c:v>0.0671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Moderate (0.33–0.67)</c:v>
                </c:pt>
              </c:strCache>
            </c:strRef>
          </c:tx>
          <c:spPr>
            <a:solidFill>
              <a:srgbClr val="2e75b6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700" b="0" u="none" strike="noStrike">
                    <a:solidFill>
                      <a:srgbClr val="333333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Bipolarization</c:v>
                </c:pt>
                <c:pt idx="1">
                  <c:v>Clustering</c:v>
                </c:pt>
                <c:pt idx="2">
                  <c:v>Consensus</c:v>
                </c:pt>
                <c:pt idx="3">
                  <c:v>No-Change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0.1338</c:v>
                </c:pt>
                <c:pt idx="1">
                  <c:v>0.0863</c:v>
                </c:pt>
                <c:pt idx="2">
                  <c:v>0.0918</c:v>
                </c:pt>
                <c:pt idx="3">
                  <c:v>0.041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Pro (0.67–1.0)</c:v>
                </c:pt>
              </c:strCache>
            </c:strRef>
          </c:tx>
          <c:spPr>
            <a:solidFill>
              <a:srgbClr val="a33b20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700" b="0" u="none" strike="noStrike">
                    <a:solidFill>
                      <a:srgbClr val="333333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Bipolarization</c:v>
                </c:pt>
                <c:pt idx="1">
                  <c:v>Clustering</c:v>
                </c:pt>
                <c:pt idx="2">
                  <c:v>Consensus</c:v>
                </c:pt>
                <c:pt idx="3">
                  <c:v>No-Change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0.1738</c:v>
                </c:pt>
                <c:pt idx="1">
                  <c:v>0.1554</c:v>
                </c:pt>
                <c:pt idx="2">
                  <c:v>0.2177</c:v>
                </c:pt>
                <c:pt idx="3">
                  <c:v>0.03</c:v>
                </c:pt>
              </c:numCache>
            </c:numRef>
          </c:val>
        </c:ser>
        <c:gapWidth val="150"/>
        <c:overlap val="0"/>
        <c:axId val="48624288"/>
        <c:axId val="69487108"/>
      </c:barChart>
      <c:catAx>
        <c:axId val="4862428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66666"/>
                </a:solidFill>
                <a:uFillTx/>
                <a:latin typeface="Arial"/>
                <a:ea typeface="DejaVu Sans"/>
              </a:defRPr>
            </a:pPr>
          </a:p>
        </c:txPr>
        <c:crossAx val="69487108"/>
        <c:crosses val="autoZero"/>
        <c:auto val="1"/>
        <c:lblAlgn val="ctr"/>
        <c:lblOffset val="100"/>
        <c:noMultiLvlLbl val="0"/>
      </c:catAx>
      <c:valAx>
        <c:axId val="69487108"/>
        <c:scaling>
          <c:orientation val="minMax"/>
          <c:max val="0.28"/>
          <c:min val="0"/>
        </c:scaling>
        <c:delete val="0"/>
        <c:axPos val="l"/>
        <c:majorGridlines>
          <c:spPr>
            <a:ln w="6480">
              <a:solidFill>
                <a:srgbClr val="eeeeee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66666"/>
                </a:solidFill>
                <a:uFillTx/>
                <a:latin typeface="Arial"/>
                <a:ea typeface="DejaVu Sans"/>
              </a:defRPr>
            </a:pPr>
          </a:p>
        </c:txPr>
        <c:crossAx val="48624288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900" b="0" u="none" strike="noStrike">
              <a:solidFill>
                <a:srgbClr val="000000"/>
              </a:solidFill>
              <a:uFillTx/>
              <a:latin typeface="Calibri"/>
              <a:ea typeface="DejaVu Sans"/>
            </a:defRPr>
          </a:pPr>
        </a:p>
      </c:txPr>
    </c:legend>
    <c:plotVisOnly val="1"/>
    <c:dispBlanksAs val="span"/>
  </c:chart>
  <c:spPr>
    <a:solidFill>
      <a:srgbClr val="ffffff"/>
    </a:solidFill>
    <a:ln w="936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 (Homogeneous)</c:v>
                </c:pt>
              </c:strCache>
            </c:strRef>
          </c:tx>
          <c:spPr>
            <a:solidFill>
              <a:srgbClr val="2e75b6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800" b="0" u="none" strike="noStrike">
                    <a:solidFill>
                      <a:srgbClr val="333333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Bipolarization</c:v>
                </c:pt>
                <c:pt idx="1">
                  <c:v>Clustering</c:v>
                </c:pt>
                <c:pt idx="2">
                  <c:v>Consensus</c:v>
                </c:pt>
                <c:pt idx="3">
                  <c:v>No-Change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0.0791</c:v>
                </c:pt>
                <c:pt idx="1">
                  <c:v>0.0856</c:v>
                </c:pt>
                <c:pt idx="2">
                  <c:v>0.0769</c:v>
                </c:pt>
                <c:pt idx="3">
                  <c:v>0.0466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M (Mixed/Hetero)</c:v>
                </c:pt>
              </c:strCache>
            </c:strRef>
          </c:tx>
          <c:spPr>
            <a:solidFill>
              <a:srgbClr val="e87722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800" b="0" u="none" strike="noStrike">
                    <a:solidFill>
                      <a:srgbClr val="333333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Bipolarization</c:v>
                </c:pt>
                <c:pt idx="1">
                  <c:v>Clustering</c:v>
                </c:pt>
                <c:pt idx="2">
                  <c:v>Consensus</c:v>
                </c:pt>
                <c:pt idx="3">
                  <c:v>No-Change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0.1706</c:v>
                </c:pt>
                <c:pt idx="1">
                  <c:v>0.1109</c:v>
                </c:pt>
                <c:pt idx="2">
                  <c:v>0.1461</c:v>
                </c:pt>
                <c:pt idx="3">
                  <c:v>0.0366</c:v>
                </c:pt>
              </c:numCache>
            </c:numRef>
          </c:val>
        </c:ser>
        <c:gapWidth val="150"/>
        <c:overlap val="0"/>
        <c:axId val="74177383"/>
        <c:axId val="76843457"/>
      </c:barChart>
      <c:catAx>
        <c:axId val="7417738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66666"/>
                </a:solidFill>
                <a:uFillTx/>
                <a:latin typeface="Arial"/>
                <a:ea typeface="DejaVu Sans"/>
              </a:defRPr>
            </a:pPr>
          </a:p>
        </c:txPr>
        <c:crossAx val="76843457"/>
        <c:crosses val="autoZero"/>
        <c:auto val="1"/>
        <c:lblAlgn val="ctr"/>
        <c:lblOffset val="100"/>
        <c:noMultiLvlLbl val="0"/>
      </c:catAx>
      <c:valAx>
        <c:axId val="76843457"/>
        <c:scaling>
          <c:orientation val="minMax"/>
          <c:max val="0.22"/>
          <c:min val="0"/>
        </c:scaling>
        <c:delete val="0"/>
        <c:axPos val="l"/>
        <c:majorGridlines>
          <c:spPr>
            <a:ln w="6480">
              <a:solidFill>
                <a:srgbClr val="eeeeee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666666"/>
                </a:solidFill>
                <a:uFillTx/>
                <a:latin typeface="Arial"/>
                <a:ea typeface="DejaVu Sans"/>
              </a:defRPr>
            </a:pPr>
          </a:p>
        </c:txPr>
        <c:crossAx val="74177383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900" b="0" u="none" strike="noStrike">
              <a:solidFill>
                <a:srgbClr val="000000"/>
              </a:solidFill>
              <a:uFillTx/>
              <a:latin typeface="Calibri"/>
              <a:ea typeface="DejaVu Sans"/>
            </a:defRPr>
          </a:pPr>
        </a:p>
      </c:txPr>
    </c:legend>
    <c:plotVisOnly val="1"/>
    <c:dispBlanksAs val="span"/>
  </c:chart>
  <c:spPr>
    <a:solidFill>
      <a:srgbClr val="ffffff"/>
    </a:solidFill>
    <a:ln w="936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12BFF04-A9F7-4744-8906-3A78987199D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50AEA0-5204-4DD6-9DAA-F7C39FD3ABF2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0B1F21-3FA2-47FB-9D5D-512A30CC8FE5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EB9EF9-363E-4259-9FB6-96FA790BF30B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0BEE10-BD8E-4128-967D-50D8B3B2A2A6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8CE29B-B2C1-4168-9D7C-148F4A03A1BA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F672AE-378E-4821-A62C-0121805ED93B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87A8F9-3BD0-47D5-B375-CA784A2B41A1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E2CFE4-7078-4CF3-A232-04B4C077D44A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8C34C4-9D69-4340-9A88-F493DA7F79C4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76C588-68FC-4E7F-852F-312081C11D92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038DA8-E8C9-4D9F-BE15-CF4259EE3F10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2B52FF-05AF-496C-8BAA-DAFC7DB8BEE5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7C1978-8AE7-4977-96F8-A4C45B9E93E7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0B923A-5003-41A5-B829-C687502DB962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375439-B47A-4AE4-AF6D-81F25F41A4F5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9C04E3-CB98-4CCA-AA35-B50419B60941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52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0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880" cy="142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08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720000" y="1296000"/>
            <a:ext cx="8046720" cy="182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Modélisation des dynamiqes d’opinion dans la réduction de la consommation de viande: une approche par simulation multi-agents utilisant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des données de délibération citoyenne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914400" y="3291840"/>
            <a:ext cx="731232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14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DejaVu Sans"/>
              </a:rPr>
              <a:t>Journées Scientifiques du départment Sciences de la Vie et Santé 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914400" y="4029120"/>
            <a:ext cx="7312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aaaaaa"/>
                </a:solidFill>
                <a:effectLst/>
                <a:uFillTx/>
                <a:latin typeface="Calibri"/>
                <a:ea typeface="DejaVu Sans"/>
              </a:rPr>
              <a:t>Gregor Stolte, Nicolas Darcel, Patrick Taillandier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" name="Text 1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1"/>
          <p:cNvSpPr>
            <a:spLocks noGrp="1"/>
          </p:cNvSpPr>
          <p:nvPr>
            <p:ph/>
          </p:nvPr>
        </p:nvSpPr>
        <p:spPr>
          <a:xfrm>
            <a:off x="457200" y="84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Notre problème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Les dynamiques d’opinion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L’expérience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Résultats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Prochaines étapes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1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" name="Text 3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Notre Problème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7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Transition vers les régimes durable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" name="Text 18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Reduction des emissions liée a la production alimentaire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9"/>
          <p:cNvSpPr/>
          <p:nvPr/>
        </p:nvSpPr>
        <p:spPr>
          <a:xfrm>
            <a:off x="288000" y="2052000"/>
            <a:ext cx="859248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choix alimentaires ont un impact sur la santé (Springmann et al., 2016), la planète (Springmann et al., 2016), et l’environnement (Garnett, 2008)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Initiatives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Eat-Lancet (Rockstroem et al., 2025)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Plan National Intégré Énergie-Climat Francais 2021-2030 (European Commission, 2024)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Paris Agreement (OECD, 2025)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Ceci implique la </a:t>
            </a:r>
            <a:r>
              <a:rPr lang="fr-FR" sz="1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</a:t>
            </a: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de consomation de viande et un </a:t>
            </a:r>
            <a:r>
              <a:rPr lang="fr-FR" sz="1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changement</a:t>
            </a: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de régime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6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" name="Text 21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Notre Problème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2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Comment peut on réduire notre consommation?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" name="Text 23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Les choix alimentaires sont social (Cruwys et al., 2015)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4"/>
          <p:cNvSpPr/>
          <p:nvPr/>
        </p:nvSpPr>
        <p:spPr>
          <a:xfrm>
            <a:off x="288000" y="2268000"/>
            <a:ext cx="859248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attitudes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Crous, restaurants, cantines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Méme tout seul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Est-ce qu’on s’influence?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OUI!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Et comment?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Observation (choix des autres, réagissements)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Imitation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Repulsion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recherches en sciences social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Nudge – Schäufele-Elbers et al., 2025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Normes sociales – Pollicino et al., 2025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8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9" name="Text 40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1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Characterizer l’influence social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8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" name="Text 42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"/>
          <p:cNvPicPr/>
          <p:nvPr/>
        </p:nvPicPr>
        <p:blipFill>
          <a:blip r:embed="rId1"/>
          <a:srcRect l="0" t="10360" r="72850" b="0"/>
          <a:stretch/>
        </p:blipFill>
        <p:spPr>
          <a:xfrm>
            <a:off x="900000" y="1567080"/>
            <a:ext cx="1607040" cy="311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43"/>
          <p:cNvSpPr/>
          <p:nvPr/>
        </p:nvSpPr>
        <p:spPr>
          <a:xfrm>
            <a:off x="3934800" y="2520000"/>
            <a:ext cx="427248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Chaque individu s’influence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 : consensus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2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6" name="Text 31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2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Characterizer l’influence social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9" name="Text 33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"/>
          <p:cNvPicPr/>
          <p:nvPr/>
        </p:nvPicPr>
        <p:blipFill>
          <a:blip r:embed="rId1"/>
          <a:srcRect l="33384" t="11885" r="36229" b="0"/>
          <a:stretch/>
        </p:blipFill>
        <p:spPr>
          <a:xfrm>
            <a:off x="720000" y="1619280"/>
            <a:ext cx="1799280" cy="306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 25"/>
          <p:cNvSpPr/>
          <p:nvPr/>
        </p:nvSpPr>
        <p:spPr>
          <a:xfrm>
            <a:off x="3970800" y="2658240"/>
            <a:ext cx="427248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Attraction: seul les individus assez similaire s’influence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 : fragmentation (potentiel)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4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3" name="Text 34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5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Characterizer L’influence Social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5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6" name="Text 36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"/>
          <p:cNvPicPr/>
          <p:nvPr/>
        </p:nvPicPr>
        <p:blipFill>
          <a:blip r:embed="rId1"/>
          <a:srcRect l="72646" t="11878" r="0" b="0"/>
          <a:stretch/>
        </p:blipFill>
        <p:spPr>
          <a:xfrm>
            <a:off x="900000" y="1584000"/>
            <a:ext cx="1619280" cy="30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 26"/>
          <p:cNvSpPr/>
          <p:nvPr/>
        </p:nvSpPr>
        <p:spPr>
          <a:xfrm>
            <a:off x="3971160" y="2766600"/>
            <a:ext cx="427248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Attraction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Répulsion : les individus pas assez similaire se repousse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Réduction/Augmentation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 : fragmentation/bi-polarization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0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0" name="Text 28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9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Characterizer L’influence Social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1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3" name="Text 30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"/>
          <p:cNvPicPr/>
          <p:nvPr/>
        </p:nvPicPr>
        <p:blipFill>
          <a:blip r:embed="rId1"/>
          <a:stretch/>
        </p:blipFill>
        <p:spPr>
          <a:xfrm>
            <a:off x="1595880" y="1394280"/>
            <a:ext cx="5927400" cy="3472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6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6" name="Text 20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8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Délibération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7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Text 39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Le contexte de changement d’attitudes et de consommation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7"/>
          <p:cNvSpPr/>
          <p:nvPr/>
        </p:nvSpPr>
        <p:spPr>
          <a:xfrm>
            <a:off x="4907160" y="2808360"/>
            <a:ext cx="427248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Discussion commune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Mini-publiques : experts - individus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Convention Citoyenne pour le Climat, 2021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“View from manywhere” (Niemeyer et al., 2024)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Normes sociales et nudges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1"/>
          <a:stretch/>
        </p:blipFill>
        <p:spPr>
          <a:xfrm>
            <a:off x="228600" y="1714680"/>
            <a:ext cx="4550400" cy="308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9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Text 37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44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Notre Expérience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9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6" name="Text 45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6"/>
          <p:cNvSpPr/>
          <p:nvPr/>
        </p:nvSpPr>
        <p:spPr>
          <a:xfrm>
            <a:off x="5771160" y="2808360"/>
            <a:ext cx="314424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Dheilly et al. (unpublished)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Mini-publiques → Débats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GAMA!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/>
          <p:cNvPicPr/>
          <p:nvPr/>
        </p:nvPicPr>
        <p:blipFill>
          <a:blip r:embed="rId1"/>
          <a:stretch/>
        </p:blipFill>
        <p:spPr>
          <a:xfrm>
            <a:off x="302400" y="1600200"/>
            <a:ext cx="5266800" cy="2819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20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0" name="Text 47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8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Notre Hypothèses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3" name="Text 49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50"/>
          <p:cNvSpPr/>
          <p:nvPr/>
        </p:nvSpPr>
        <p:spPr>
          <a:xfrm>
            <a:off x="299160" y="2521080"/>
            <a:ext cx="884448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Est-ce que les attitudes avant la délibération sont liées a ceux d’après?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Individus avec normes perçues et “self-control”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Simulations et comparaison avec des modèles de régression simple?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Simulations augmenté avec des dynamiques d’argumentation?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22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6" name="Text 51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52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Premiers résultats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9" name="Text 53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"/>
          <p:cNvGraphicFramePr/>
          <p:nvPr/>
        </p:nvGraphicFramePr>
        <p:xfrm>
          <a:off x="2018520" y="1797120"/>
          <a:ext cx="4897800" cy="2711520"/>
        </p:xfrm>
        <a:graphic>
          <a:graphicData uri="http://schemas.openxmlformats.org/drawingml/2006/table">
            <a:tbl>
              <a:tblPr/>
              <a:tblGrid>
                <a:gridCol w="865080"/>
                <a:gridCol w="1440000"/>
                <a:gridCol w="1191960"/>
                <a:gridCol w="1400760"/>
              </a:tblGrid>
              <a:tr h="6778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model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_type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mean_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delta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pct_abm_wins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wilcoxon_p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778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bipolarization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-0.0037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0.2036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778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clustering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0.0124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33.33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0.1762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778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consensus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0.0370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0.0068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24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2" name="Text 54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55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Premier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s 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résultat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s – a 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complet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5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5" name="Text 56"/>
          <p:cNvSpPr/>
          <p:nvPr/>
        </p:nvSpPr>
        <p:spPr>
          <a:xfrm>
            <a:off x="274320" y="112212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</a:t>
            </a: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multi-agent et </a:t>
            </a: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le </a:t>
            </a: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57"/>
          <p:cNvSpPr/>
          <p:nvPr/>
        </p:nvSpPr>
        <p:spPr>
          <a:xfrm>
            <a:off x="2585520" y="2514600"/>
            <a:ext cx="427248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Grap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hique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de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distri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butio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d’opi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nions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(de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thom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as) et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aprés 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ation </a:t>
            </a: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!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0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AGENT LEVEL — </a:t>
            </a: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OPINION </a:t>
            </a: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POSITION </a:t>
            </a: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ANALYSIS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Predicti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on Error 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by 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Initial 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Opinion </a:t>
            </a: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Position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1" name="Text 4"/>
          <p:cNvSpPr/>
          <p:nvPr/>
        </p:nvSpPr>
        <p:spPr>
          <a:xfrm>
            <a:off x="274320" y="114300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cut(initial_opinion, breaks=c(0,0.33,0.67,1), labels=c('Anti','Moderate','Pro'))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2" name="Chart 0"/>
          <p:cNvGraphicFramePr/>
          <p:nvPr/>
        </p:nvGraphicFramePr>
        <p:xfrm>
          <a:off x="274320" y="1463040"/>
          <a:ext cx="8592480" cy="246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63" name="Text 5"/>
          <p:cNvSpPr/>
          <p:nvPr/>
        </p:nvSpPr>
        <p:spPr>
          <a:xfrm>
            <a:off x="274320" y="4041720"/>
            <a:ext cx="859248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Interpretation: Moderate agents have the lowest prediction error across all models. Pro agents are hardest to predict for consensus (MAE=0.218) and clustering (0.155). Anti agents are hardest for bipolarization (MAE=0.212). This mirrors prior findings: moderately opinionated agents are more predictable.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BATCH LEVEL — H vs M COMPARISON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H4 — Debate Composition: Homogeneous vs Mixed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aphicFrame>
        <p:nvGraphicFramePr>
          <p:cNvPr id="168" name="Chart 0"/>
          <p:cNvGraphicFramePr/>
          <p:nvPr/>
        </p:nvGraphicFramePr>
        <p:xfrm>
          <a:off x="274320" y="1143000"/>
          <a:ext cx="5483520" cy="274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69" name="Shape 4"/>
          <p:cNvSpPr/>
          <p:nvPr/>
        </p:nvSpPr>
        <p:spPr>
          <a:xfrm>
            <a:off x="5943600" y="1143000"/>
            <a:ext cx="2923200" cy="274032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6035040" y="1234440"/>
            <a:ext cx="27403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Statistical Test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6035040" y="1645920"/>
            <a:ext cx="1277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Wilcoxon W: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7"/>
          <p:cNvSpPr/>
          <p:nvPr/>
        </p:nvSpPr>
        <p:spPr>
          <a:xfrm>
            <a:off x="7360920" y="1645920"/>
            <a:ext cx="1414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162,531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6035040" y="2030040"/>
            <a:ext cx="1277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p-value: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9"/>
          <p:cNvSpPr/>
          <p:nvPr/>
        </p:nvSpPr>
        <p:spPr>
          <a:xfrm>
            <a:off x="7360920" y="2030040"/>
            <a:ext cx="1414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6.35e-60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0"/>
          <p:cNvSpPr/>
          <p:nvPr/>
        </p:nvSpPr>
        <p:spPr>
          <a:xfrm>
            <a:off x="6035040" y="2414160"/>
            <a:ext cx="1277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H mean MAE: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1"/>
          <p:cNvSpPr/>
          <p:nvPr/>
        </p:nvSpPr>
        <p:spPr>
          <a:xfrm>
            <a:off x="7360920" y="2414160"/>
            <a:ext cx="1414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0.0769–0.0856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2"/>
          <p:cNvSpPr/>
          <p:nvPr/>
        </p:nvSpPr>
        <p:spPr>
          <a:xfrm>
            <a:off x="6035040" y="2797920"/>
            <a:ext cx="1277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M mean MAE: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"/>
          <p:cNvSpPr/>
          <p:nvPr/>
        </p:nvSpPr>
        <p:spPr>
          <a:xfrm>
            <a:off x="7360920" y="2797920"/>
            <a:ext cx="1414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0.1109–0.1706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4"/>
          <p:cNvSpPr/>
          <p:nvPr/>
        </p:nvSpPr>
        <p:spPr>
          <a:xfrm>
            <a:off x="6035040" y="3182040"/>
            <a:ext cx="127728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Interpretation: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5"/>
          <p:cNvSpPr/>
          <p:nvPr/>
        </p:nvSpPr>
        <p:spPr>
          <a:xfrm>
            <a:off x="7360920" y="3182040"/>
            <a:ext cx="141444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H debates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significantly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easier to predict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6"/>
          <p:cNvSpPr/>
          <p:nvPr/>
        </p:nvSpPr>
        <p:spPr>
          <a:xfrm>
            <a:off x="274320" y="3977640"/>
            <a:ext cx="859248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Interpretation: Homogeneous debates are systematically easier to predict across all models (Wilcoxon p=6.35e-60). The consensus model benefits most relatively from homogeneous composition.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0"/>
          <p:cNvSpPr/>
          <p:nvPr/>
        </p:nvSpPr>
        <p:spPr>
          <a:xfrm>
            <a:off x="0" y="0"/>
            <a:ext cx="9141120" cy="362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182880" y="0"/>
            <a:ext cx="87753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AGENT LEVEL — OLS REGRESSION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"/>
          <p:cNvSpPr/>
          <p:nvPr/>
        </p:nvSpPr>
        <p:spPr>
          <a:xfrm>
            <a:off x="274320" y="457200"/>
            <a:ext cx="859248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H1 — OLS: Pre-Deliberation Attitudes Predict Post-Deliberation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6" name="Text 4"/>
          <p:cNvSpPr/>
          <p:nvPr/>
        </p:nvSpPr>
        <p:spPr>
          <a:xfrm>
            <a:off x="274320" y="114300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lm(final_attitude ~ initial_opinion, data = df_ag)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0"/>
          <p:cNvGraphicFramePr/>
          <p:nvPr/>
        </p:nvGraphicFramePr>
        <p:xfrm>
          <a:off x="274320" y="1463040"/>
          <a:ext cx="5943240" cy="68796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914400"/>
                <a:gridCol w="1371600"/>
                <a:gridCol w="731520"/>
              </a:tblGrid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fr-FR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Term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Estimate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R²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p-value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e3a5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Intercept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0.0185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&lt; 2e-16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initial_opinion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1.0031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0.9263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&lt; 2e-16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9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0.0029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88" name="Shape 5"/>
          <p:cNvSpPr/>
          <p:nvPr/>
        </p:nvSpPr>
        <p:spPr>
          <a:xfrm>
            <a:off x="6492240" y="1463040"/>
            <a:ext cx="2374560" cy="100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9" name="Text 6"/>
          <p:cNvSpPr/>
          <p:nvPr/>
        </p:nvSpPr>
        <p:spPr>
          <a:xfrm>
            <a:off x="6583680" y="1554480"/>
            <a:ext cx="21916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OLS Mean MAE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across debates: 0.0371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7"/>
          <p:cNvSpPr/>
          <p:nvPr/>
        </p:nvSpPr>
        <p:spPr>
          <a:xfrm>
            <a:off x="274320" y="2606040"/>
            <a:ext cx="859248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Interpretation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8"/>
          <p:cNvSpPr/>
          <p:nvPr/>
        </p:nvSpPr>
        <p:spPr>
          <a:xfrm>
            <a:off x="274320" y="2926080"/>
            <a:ext cx="859248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Pre-deliberation attitudes (initial_opinion) are an extremely strong predictor of post-deliberation attitudes (R²=0.926, p&lt;2e-16). The slope of ~1.0 indicates near-perfect correspondence — agents barely change their opinions relative to their starting point. This strongly supports H1. The OLS mean MAE (0.037) is competitive with the best ABM runs, setting a high bar for the ABM comparison (H3/H5).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9"/>
          <p:cNvSpPr/>
          <p:nvPr/>
        </p:nvSpPr>
        <p:spPr>
          <a:xfrm>
            <a:off x="274320" y="4069080"/>
            <a:ext cx="859248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DejaVu Sans"/>
              </a:rPr>
              <a:t>Note: R²=0.926 means initial opinion explains 92.6% of variance in final attitude — attitudes are highly stable across deliberation.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Application>LibreOffice/25.8.5.2$Linux_X86_64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2026-03-19T12:59:51Z</dcterms:created>
  <dc:creator>PptxGenJS</dc:creator>
  <dc:description/>
  <dc:language>en-US</dc:language>
  <cp:lastModifiedBy/>
  <dcterms:modified xsi:type="dcterms:W3CDTF">2026-04-07T10:03:13Z</dcterms:modified>
  <cp:revision>12</cp:revision>
  <dc:subject>PptxGenJS Presentation</dc:subject>
  <dc:title>ABM Results – Based on R Script Output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