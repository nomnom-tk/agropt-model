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chart2.xml" ContentType="application/vnd.openxmlformats-officedocument.drawingml.chart+xml"/>
  <Override PartName="/ppt/slides/slide12.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H (Homogeneous)</c:v>
                </c:pt>
              </c:strCache>
            </c:strRef>
          </c:tx>
          <c:spPr>
            <a:solidFill>
              <a:srgbClr val="2e75b6"/>
            </a:solidFill>
            <a:ln w="0">
              <a:noFill/>
            </a:ln>
          </c:spPr>
          <c:invertIfNegative val="0"/>
          <c:dLbls>
            <c:numFmt formatCode="#,##0" sourceLinked="0"/>
            <c:txPr>
              <a:bodyPr wrap="square"/>
              <a:lstStyle/>
              <a:p>
                <a:pPr>
                  <a:defRPr sz="800" b="0" u="none" strike="noStrike">
                    <a:solidFill>
                      <a:srgbClr val="333333"/>
                    </a:solidFill>
                    <a:uFillTx/>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0</c:f>
              <c:numCache>
                <c:formatCode>General</c:formatCode>
                <c:ptCount val="4"/>
                <c:pt idx="0">
                  <c:v>0.0791</c:v>
                </c:pt>
                <c:pt idx="1">
                  <c:v>0.0856</c:v>
                </c:pt>
                <c:pt idx="2">
                  <c:v>0.0769</c:v>
                </c:pt>
                <c:pt idx="3">
                  <c:v>0.0466</c:v>
                </c:pt>
              </c:numCache>
            </c:numRef>
          </c:val>
        </c:ser>
        <c:ser>
          <c:idx val="1"/>
          <c:order val="1"/>
          <c:tx>
            <c:strRef>
              <c:f>label 1</c:f>
              <c:strCache>
                <c:ptCount val="1"/>
                <c:pt idx="0">
                  <c:v>M (Mixed/Hetero)</c:v>
                </c:pt>
              </c:strCache>
            </c:strRef>
          </c:tx>
          <c:spPr>
            <a:solidFill>
              <a:srgbClr val="e87722"/>
            </a:solidFill>
            <a:ln w="0">
              <a:noFill/>
            </a:ln>
          </c:spPr>
          <c:invertIfNegative val="0"/>
          <c:dLbls>
            <c:numFmt formatCode="#,##0" sourceLinked="0"/>
            <c:txPr>
              <a:bodyPr wrap="square"/>
              <a:lstStyle/>
              <a:p>
                <a:pPr>
                  <a:defRPr sz="800" b="0" u="none" strike="noStrike">
                    <a:solidFill>
                      <a:srgbClr val="333333"/>
                    </a:solidFill>
                    <a:uFillTx/>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1</c:f>
              <c:numCache>
                <c:formatCode>General</c:formatCode>
                <c:ptCount val="4"/>
                <c:pt idx="0">
                  <c:v>0.1706</c:v>
                </c:pt>
                <c:pt idx="1">
                  <c:v>0.1109</c:v>
                </c:pt>
                <c:pt idx="2">
                  <c:v>0.1461</c:v>
                </c:pt>
                <c:pt idx="3">
                  <c:v>0.0366</c:v>
                </c:pt>
              </c:numCache>
            </c:numRef>
          </c:val>
        </c:ser>
        <c:gapWidth val="150"/>
        <c:overlap val="0"/>
        <c:axId val="48794950"/>
        <c:axId val="13953635"/>
      </c:barChart>
      <c:catAx>
        <c:axId val="48794950"/>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666666"/>
                </a:solidFill>
                <a:uFillTx/>
                <a:latin typeface="Arial"/>
                <a:ea typeface="DejaVu Sans"/>
              </a:defRPr>
            </a:pPr>
          </a:p>
        </c:txPr>
        <c:crossAx val="13953635"/>
        <c:crosses val="autoZero"/>
        <c:auto val="1"/>
        <c:lblAlgn val="ctr"/>
        <c:lblOffset val="100"/>
        <c:noMultiLvlLbl val="0"/>
      </c:catAx>
      <c:valAx>
        <c:axId val="13953635"/>
        <c:scaling>
          <c:orientation val="minMax"/>
          <c:max val="0.22"/>
          <c:min val="0"/>
        </c:scaling>
        <c:delete val="0"/>
        <c:axPos val="l"/>
        <c:majorGridlines>
          <c:spPr>
            <a:ln w="6480">
              <a:solidFill>
                <a:srgbClr val="eeeeee"/>
              </a:solidFill>
              <a:round/>
            </a:ln>
          </c:spPr>
        </c:majorGridlines>
        <c:numFmt formatCode="General" sourceLinked="0"/>
        <c:majorTickMark val="out"/>
        <c:minorTickMark val="none"/>
        <c:tickLblPos val="nextTo"/>
        <c:spPr>
          <a:ln w="12600">
            <a:solidFill>
              <a:srgbClr val="888888"/>
            </a:solidFill>
            <a:round/>
          </a:ln>
        </c:spPr>
        <c:txPr>
          <a:bodyPr/>
          <a:lstStyle/>
          <a:p>
            <a:pPr>
              <a:defRPr sz="1200" b="0" u="none" strike="noStrike">
                <a:solidFill>
                  <a:srgbClr val="666666"/>
                </a:solidFill>
                <a:uFillTx/>
                <a:latin typeface="Arial"/>
                <a:ea typeface="DejaVu Sans"/>
              </a:defRPr>
            </a:pPr>
          </a:p>
        </c:txPr>
        <c:crossAx val="48794950"/>
        <c:crosses val="autoZero"/>
        <c:crossBetween val="between"/>
      </c:valAx>
      <c:spPr>
        <a:noFill/>
        <a:ln w="0">
          <a:noFill/>
        </a:ln>
      </c:spPr>
    </c:plotArea>
    <c:legend>
      <c:legendPos val="b"/>
      <c:overlay val="0"/>
      <c:spPr>
        <a:noFill/>
        <a:ln w="0">
          <a:noFill/>
        </a:ln>
      </c:spPr>
      <c:txPr>
        <a:bodyPr/>
        <a:lstStyle/>
        <a:p>
          <a:pPr>
            <a:defRPr sz="900" b="0" u="none" strike="noStrike">
              <a:solidFill>
                <a:srgbClr val="000000"/>
              </a:solidFill>
              <a:uFillTx/>
              <a:latin typeface="Calibri"/>
              <a:ea typeface="DejaVu Sans"/>
            </a:defRPr>
          </a:pPr>
        </a:p>
      </c:txPr>
    </c:legend>
    <c:plotVisOnly val="1"/>
    <c:dispBlanksAs val="span"/>
  </c:chart>
  <c:spPr>
    <a:solidFill>
      <a:srgbClr val="ffffff"/>
    </a:solidFill>
    <a:ln w="936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Anti (0–0.33)</c:v>
                </c:pt>
              </c:strCache>
            </c:strRef>
          </c:tx>
          <c:spPr>
            <a:solidFill>
              <a:srgbClr val="e87722"/>
            </a:solidFill>
            <a:ln w="0">
              <a:noFill/>
            </a:ln>
          </c:spPr>
          <c:invertIfNegative val="0"/>
          <c:dLbls>
            <c:numFmt formatCode="#,##0" sourceLinked="0"/>
            <c:txPr>
              <a:bodyPr wrap="square"/>
              <a:lstStyle/>
              <a:p>
                <a:pPr>
                  <a:defRPr sz="700" b="0" u="none" strike="noStrike">
                    <a:solidFill>
                      <a:srgbClr val="333333"/>
                    </a:solidFill>
                    <a:uFillTx/>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0</c:f>
              <c:numCache>
                <c:formatCode>General</c:formatCode>
                <c:ptCount val="4"/>
                <c:pt idx="0">
                  <c:v>0.2124</c:v>
                </c:pt>
                <c:pt idx="1">
                  <c:v>0.114</c:v>
                </c:pt>
                <c:pt idx="2">
                  <c:v>0.1593</c:v>
                </c:pt>
                <c:pt idx="3">
                  <c:v>0.0671</c:v>
                </c:pt>
              </c:numCache>
            </c:numRef>
          </c:val>
        </c:ser>
        <c:ser>
          <c:idx val="1"/>
          <c:order val="1"/>
          <c:tx>
            <c:strRef>
              <c:f>label 1</c:f>
              <c:strCache>
                <c:ptCount val="1"/>
                <c:pt idx="0">
                  <c:v>Moderate (0.33–0.67)</c:v>
                </c:pt>
              </c:strCache>
            </c:strRef>
          </c:tx>
          <c:spPr>
            <a:solidFill>
              <a:srgbClr val="2e75b6"/>
            </a:solidFill>
            <a:ln w="0">
              <a:noFill/>
            </a:ln>
          </c:spPr>
          <c:invertIfNegative val="0"/>
          <c:dLbls>
            <c:numFmt formatCode="#,##0" sourceLinked="0"/>
            <c:txPr>
              <a:bodyPr wrap="square"/>
              <a:lstStyle/>
              <a:p>
                <a:pPr>
                  <a:defRPr sz="700" b="0" u="none" strike="noStrike">
                    <a:solidFill>
                      <a:srgbClr val="333333"/>
                    </a:solidFill>
                    <a:uFillTx/>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1</c:f>
              <c:numCache>
                <c:formatCode>General</c:formatCode>
                <c:ptCount val="4"/>
                <c:pt idx="0">
                  <c:v>0.1338</c:v>
                </c:pt>
                <c:pt idx="1">
                  <c:v>0.0863</c:v>
                </c:pt>
                <c:pt idx="2">
                  <c:v>0.0918</c:v>
                </c:pt>
                <c:pt idx="3">
                  <c:v>0.041</c:v>
                </c:pt>
              </c:numCache>
            </c:numRef>
          </c:val>
        </c:ser>
        <c:ser>
          <c:idx val="2"/>
          <c:order val="2"/>
          <c:tx>
            <c:strRef>
              <c:f>label 2</c:f>
              <c:strCache>
                <c:ptCount val="1"/>
                <c:pt idx="0">
                  <c:v>Pro (0.67–1.0)</c:v>
                </c:pt>
              </c:strCache>
            </c:strRef>
          </c:tx>
          <c:spPr>
            <a:solidFill>
              <a:srgbClr val="a33b20"/>
            </a:solidFill>
            <a:ln w="0">
              <a:noFill/>
            </a:ln>
          </c:spPr>
          <c:invertIfNegative val="0"/>
          <c:dLbls>
            <c:numFmt formatCode="#,##0" sourceLinked="0"/>
            <c:txPr>
              <a:bodyPr wrap="square"/>
              <a:lstStyle/>
              <a:p>
                <a:pPr>
                  <a:defRPr sz="700" b="0" u="none" strike="noStrike">
                    <a:solidFill>
                      <a:srgbClr val="333333"/>
                    </a:solidFill>
                    <a:uFillTx/>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2</c:f>
              <c:numCache>
                <c:formatCode>General</c:formatCode>
                <c:ptCount val="4"/>
                <c:pt idx="0">
                  <c:v>0.1738</c:v>
                </c:pt>
                <c:pt idx="1">
                  <c:v>0.1554</c:v>
                </c:pt>
                <c:pt idx="2">
                  <c:v>0.2177</c:v>
                </c:pt>
                <c:pt idx="3">
                  <c:v>0.03</c:v>
                </c:pt>
              </c:numCache>
            </c:numRef>
          </c:val>
        </c:ser>
        <c:gapWidth val="150"/>
        <c:overlap val="0"/>
        <c:axId val="58505138"/>
        <c:axId val="39577558"/>
      </c:barChart>
      <c:catAx>
        <c:axId val="58505138"/>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666666"/>
                </a:solidFill>
                <a:uFillTx/>
                <a:latin typeface="Arial"/>
                <a:ea typeface="DejaVu Sans"/>
              </a:defRPr>
            </a:pPr>
          </a:p>
        </c:txPr>
        <c:crossAx val="39577558"/>
        <c:crosses val="autoZero"/>
        <c:auto val="1"/>
        <c:lblAlgn val="ctr"/>
        <c:lblOffset val="100"/>
        <c:noMultiLvlLbl val="0"/>
      </c:catAx>
      <c:valAx>
        <c:axId val="39577558"/>
        <c:scaling>
          <c:orientation val="minMax"/>
          <c:max val="0.28"/>
          <c:min val="0"/>
        </c:scaling>
        <c:delete val="0"/>
        <c:axPos val="l"/>
        <c:majorGridlines>
          <c:spPr>
            <a:ln w="6480">
              <a:solidFill>
                <a:srgbClr val="eeeeee"/>
              </a:solidFill>
              <a:round/>
            </a:ln>
          </c:spPr>
        </c:majorGridlines>
        <c:numFmt formatCode="General" sourceLinked="0"/>
        <c:majorTickMark val="out"/>
        <c:minorTickMark val="none"/>
        <c:tickLblPos val="nextTo"/>
        <c:spPr>
          <a:ln w="12600">
            <a:solidFill>
              <a:srgbClr val="888888"/>
            </a:solidFill>
            <a:round/>
          </a:ln>
        </c:spPr>
        <c:txPr>
          <a:bodyPr/>
          <a:lstStyle/>
          <a:p>
            <a:pPr>
              <a:defRPr sz="1200" b="0" u="none" strike="noStrike">
                <a:solidFill>
                  <a:srgbClr val="666666"/>
                </a:solidFill>
                <a:uFillTx/>
                <a:latin typeface="Arial"/>
                <a:ea typeface="DejaVu Sans"/>
              </a:defRPr>
            </a:pPr>
          </a:p>
        </c:txPr>
        <c:crossAx val="58505138"/>
        <c:crosses val="autoZero"/>
        <c:crossBetween val="between"/>
      </c:valAx>
      <c:spPr>
        <a:noFill/>
        <a:ln w="0">
          <a:noFill/>
        </a:ln>
      </c:spPr>
    </c:plotArea>
    <c:legend>
      <c:legendPos val="b"/>
      <c:overlay val="0"/>
      <c:spPr>
        <a:noFill/>
        <a:ln w="0">
          <a:noFill/>
        </a:ln>
      </c:spPr>
      <c:txPr>
        <a:bodyPr/>
        <a:lstStyle/>
        <a:p>
          <a:pPr>
            <a:defRPr sz="900" b="0" u="none" strike="noStrike">
              <a:solidFill>
                <a:srgbClr val="000000"/>
              </a:solidFill>
              <a:uFillTx/>
              <a:latin typeface="Calibri"/>
              <a:ea typeface="DejaVu Sans"/>
            </a:defRPr>
          </a:pPr>
        </a:p>
      </c:txPr>
    </c:legend>
    <c:plotVisOnly val="1"/>
    <c:dispBlanksAs val="span"/>
  </c:chart>
  <c:spPr>
    <a:solidFill>
      <a:srgbClr val="ffffff"/>
    </a:solidFill>
    <a:ln w="936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B1880FF5-F1D2-4763-8DD4-7FD3C9847E53}"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sldImg"/>
          </p:nvPr>
        </p:nvSpPr>
        <p:spPr>
          <a:xfrm>
            <a:off x="685800" y="1143000"/>
            <a:ext cx="5485320" cy="3085200"/>
          </a:xfrm>
          <a:prstGeom prst="rect">
            <a:avLst/>
          </a:prstGeom>
          <a:ln w="0">
            <a:noFill/>
          </a:ln>
        </p:spPr>
      </p:sp>
      <p:sp>
        <p:nvSpPr>
          <p:cNvPr id="16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66"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AAF54D59-4C8A-47DF-9156-CDA07F6A99EF}"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sldImg"/>
          </p:nvPr>
        </p:nvSpPr>
        <p:spPr>
          <a:xfrm>
            <a:off x="685800" y="1143000"/>
            <a:ext cx="5485320" cy="3085200"/>
          </a:xfrm>
          <a:prstGeom prst="rect">
            <a:avLst/>
          </a:prstGeom>
          <a:ln w="0">
            <a:noFill/>
          </a:ln>
        </p:spPr>
      </p:sp>
      <p:sp>
        <p:nvSpPr>
          <p:cNvPr id="16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69" name="PlaceHolder 3"/>
          <p:cNvSpPr>
            <a:spLocks noGrp="1"/>
          </p:cNvSpPr>
          <p:nvPr>
            <p:ph type="sldNum" idx="5"/>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2C654E9D-21C9-45B7-8707-EB2DF0423E2F}"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sldImg"/>
          </p:nvPr>
        </p:nvSpPr>
        <p:spPr>
          <a:xfrm>
            <a:off x="685800" y="1143000"/>
            <a:ext cx="5485320" cy="3085200"/>
          </a:xfrm>
          <a:prstGeom prst="rect">
            <a:avLst/>
          </a:prstGeom>
          <a:ln w="0">
            <a:noFill/>
          </a:ln>
        </p:spPr>
      </p:sp>
      <p:sp>
        <p:nvSpPr>
          <p:cNvPr id="17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72" name="PlaceHolder 3"/>
          <p:cNvSpPr>
            <a:spLocks noGrp="1"/>
          </p:cNvSpPr>
          <p:nvPr>
            <p:ph type="sldNum" idx="6"/>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11C36E19-FA07-4251-A9A1-63673FB5B04F}"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sldImg"/>
          </p:nvPr>
        </p:nvSpPr>
        <p:spPr>
          <a:xfrm>
            <a:off x="685800" y="1143000"/>
            <a:ext cx="5485320" cy="3085200"/>
          </a:xfrm>
          <a:prstGeom prst="rect">
            <a:avLst/>
          </a:prstGeom>
          <a:ln w="0">
            <a:noFill/>
          </a:ln>
        </p:spPr>
      </p:sp>
      <p:sp>
        <p:nvSpPr>
          <p:cNvPr id="17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75" name="PlaceHolder 3"/>
          <p:cNvSpPr>
            <a:spLocks noGrp="1"/>
          </p:cNvSpPr>
          <p:nvPr>
            <p:ph type="sldNum" idx="7"/>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3B9652AC-1A50-4DD2-9BCA-576E9014376D}"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sldImg"/>
          </p:nvPr>
        </p:nvSpPr>
        <p:spPr>
          <a:xfrm>
            <a:off x="685800" y="1143000"/>
            <a:ext cx="5485320" cy="3085200"/>
          </a:xfrm>
          <a:prstGeom prst="rect">
            <a:avLst/>
          </a:prstGeom>
          <a:ln w="0">
            <a:noFill/>
          </a:ln>
        </p:spPr>
      </p:sp>
      <p:sp>
        <p:nvSpPr>
          <p:cNvPr id="17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78" name="PlaceHolder 3"/>
          <p:cNvSpPr>
            <a:spLocks noGrp="1"/>
          </p:cNvSpPr>
          <p:nvPr>
            <p:ph type="sldNum" idx="8"/>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9E4DBA39-2659-48B6-83D4-166B776C1FF8}"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sldImg"/>
          </p:nvPr>
        </p:nvSpPr>
        <p:spPr>
          <a:xfrm>
            <a:off x="685800" y="1143000"/>
            <a:ext cx="5485320" cy="3085200"/>
          </a:xfrm>
          <a:prstGeom prst="rect">
            <a:avLst/>
          </a:prstGeom>
          <a:ln w="0">
            <a:noFill/>
          </a:ln>
        </p:spPr>
      </p:sp>
      <p:sp>
        <p:nvSpPr>
          <p:cNvPr id="18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81" name="PlaceHolder 3"/>
          <p:cNvSpPr>
            <a:spLocks noGrp="1"/>
          </p:cNvSpPr>
          <p:nvPr>
            <p:ph type="sldNum" idx="9"/>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2DAA2083-9233-41E8-9211-6B2F8813BCF9}"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sldImg"/>
          </p:nvPr>
        </p:nvSpPr>
        <p:spPr>
          <a:xfrm>
            <a:off x="685800" y="1143000"/>
            <a:ext cx="5485320" cy="3085200"/>
          </a:xfrm>
          <a:prstGeom prst="rect">
            <a:avLst/>
          </a:prstGeom>
          <a:ln w="0">
            <a:noFill/>
          </a:ln>
        </p:spPr>
      </p:sp>
      <p:sp>
        <p:nvSpPr>
          <p:cNvPr id="18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84" name="PlaceHolder 3"/>
          <p:cNvSpPr>
            <a:spLocks noGrp="1"/>
          </p:cNvSpPr>
          <p:nvPr>
            <p:ph type="sldNum" idx="10"/>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DE9BFDFA-0837-4FF5-AEB0-A1941BC46AC1}"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sldImg"/>
          </p:nvPr>
        </p:nvSpPr>
        <p:spPr>
          <a:xfrm>
            <a:off x="685800" y="1143000"/>
            <a:ext cx="5485320" cy="3085200"/>
          </a:xfrm>
          <a:prstGeom prst="rect">
            <a:avLst/>
          </a:prstGeom>
          <a:ln w="0">
            <a:noFill/>
          </a:ln>
        </p:spPr>
      </p:sp>
      <p:sp>
        <p:nvSpPr>
          <p:cNvPr id="18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87" name="PlaceHolder 3"/>
          <p:cNvSpPr>
            <a:spLocks noGrp="1"/>
          </p:cNvSpPr>
          <p:nvPr>
            <p:ph type="sldNum" idx="11"/>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AB83044C-648F-4798-8419-73FD496C7DBF}"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sldImg"/>
          </p:nvPr>
        </p:nvSpPr>
        <p:spPr>
          <a:xfrm>
            <a:off x="685800" y="1143000"/>
            <a:ext cx="5485320" cy="3085200"/>
          </a:xfrm>
          <a:prstGeom prst="rect">
            <a:avLst/>
          </a:prstGeom>
          <a:ln w="0">
            <a:noFill/>
          </a:ln>
        </p:spPr>
      </p:sp>
      <p:sp>
        <p:nvSpPr>
          <p:cNvPr id="18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90" name="PlaceHolder 3"/>
          <p:cNvSpPr>
            <a:spLocks noGrp="1"/>
          </p:cNvSpPr>
          <p:nvPr>
            <p:ph type="sldNum" idx="12"/>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01477B5F-9E33-4EF4-B559-F00C1D122B73}"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sldImg"/>
          </p:nvPr>
        </p:nvSpPr>
        <p:spPr>
          <a:xfrm>
            <a:off x="685800" y="1143000"/>
            <a:ext cx="5485320" cy="3085200"/>
          </a:xfrm>
          <a:prstGeom prst="rect">
            <a:avLst/>
          </a:prstGeom>
          <a:ln w="0">
            <a:noFill/>
          </a:ln>
        </p:spPr>
      </p:sp>
      <p:sp>
        <p:nvSpPr>
          <p:cNvPr id="19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93" name="PlaceHolder 3"/>
          <p:cNvSpPr>
            <a:spLocks noGrp="1"/>
          </p:cNvSpPr>
          <p:nvPr>
            <p:ph type="sldNum" idx="13"/>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0D81CB75-3C6B-4B7F-9B27-178EB6382392}"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sldImg"/>
          </p:nvPr>
        </p:nvSpPr>
        <p:spPr>
          <a:xfrm>
            <a:off x="685800" y="1143000"/>
            <a:ext cx="5485320" cy="3085200"/>
          </a:xfrm>
          <a:prstGeom prst="rect">
            <a:avLst/>
          </a:prstGeom>
          <a:ln w="0">
            <a:noFill/>
          </a:ln>
        </p:spPr>
      </p:sp>
      <p:sp>
        <p:nvSpPr>
          <p:cNvPr id="19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96" name="PlaceHolder 3"/>
          <p:cNvSpPr>
            <a:spLocks noGrp="1"/>
          </p:cNvSpPr>
          <p:nvPr>
            <p:ph type="sldNum" idx="14"/>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D18B5F0D-F069-4C8E-A59B-0881406DCE5C}"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sldImg"/>
          </p:nvPr>
        </p:nvSpPr>
        <p:spPr>
          <a:xfrm>
            <a:off x="685800" y="1143000"/>
            <a:ext cx="5485320" cy="3085200"/>
          </a:xfrm>
          <a:prstGeom prst="rect">
            <a:avLst/>
          </a:prstGeom>
          <a:ln w="0">
            <a:noFill/>
          </a:ln>
        </p:spPr>
      </p:sp>
      <p:sp>
        <p:nvSpPr>
          <p:cNvPr id="19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199" name="PlaceHolder 3"/>
          <p:cNvSpPr>
            <a:spLocks noGrp="1"/>
          </p:cNvSpPr>
          <p:nvPr>
            <p:ph type="sldNum" idx="15"/>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341C8095-A56A-4C33-8FDA-A24D20F71BDF}"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sldImg"/>
          </p:nvPr>
        </p:nvSpPr>
        <p:spPr>
          <a:xfrm>
            <a:off x="685800" y="1143000"/>
            <a:ext cx="5485320" cy="3085200"/>
          </a:xfrm>
          <a:prstGeom prst="rect">
            <a:avLst/>
          </a:prstGeom>
          <a:ln w="0">
            <a:noFill/>
          </a:ln>
        </p:spPr>
      </p:sp>
      <p:sp>
        <p:nvSpPr>
          <p:cNvPr id="20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pPr indent="0">
              <a:buNone/>
            </a:pPr>
            <a:endParaRPr lang="en-US" sz="1800" b="0" u="none" strike="noStrike">
              <a:solidFill>
                <a:srgbClr val="000000"/>
              </a:solidFill>
              <a:effectLst/>
              <a:uFillTx/>
              <a:latin typeface="Arial"/>
            </a:endParaRPr>
          </a:p>
        </p:txBody>
      </p:sp>
      <p:sp>
        <p:nvSpPr>
          <p:cNvPr id="202" name="PlaceHolder 3"/>
          <p:cNvSpPr>
            <a:spLocks noGrp="1"/>
          </p:cNvSpPr>
          <p:nvPr>
            <p:ph type="sldNum" idx="16"/>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defRPr lang="en-US" sz="1200" b="0" u="none" strike="noStrike">
                <a:solidFill>
                  <a:srgbClr val="000000"/>
                </a:solidFill>
                <a:effectLst/>
                <a:uFillTx/>
                <a:latin typeface="+mn-lt"/>
                <a:ea typeface="+mn-ea"/>
              </a:defRPr>
            </a:lvl1pPr>
          </a:lstStyle>
          <a:p>
            <a:pPr indent="0" algn="r">
              <a:lnSpc>
                <a:spcPct val="100000"/>
              </a:lnSpc>
              <a:buNone/>
            </a:pPr>
            <a:fld id="{5E591AFA-A880-4ABD-9D19-456B0C9706BE}" type="slidenum">
              <a:rPr lang="en-US" sz="1200" b="0" u="none" strike="noStrike">
                <a:solidFill>
                  <a:srgbClr val="000000"/>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3" name="PlaceHolder 2"/>
          <p:cNvSpPr>
            <a:spLocks noGrp="1"/>
          </p:cNvSpPr>
          <p:nvPr>
            <p:ph type="body"/>
          </p:nvPr>
        </p:nvSpPr>
        <p:spPr>
          <a:xfrm>
            <a:off x="45720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4" name="PlaceHolder 3"/>
          <p:cNvSpPr>
            <a:spLocks noGrp="1"/>
          </p:cNvSpPr>
          <p:nvPr>
            <p:ph type="body"/>
          </p:nvPr>
        </p:nvSpPr>
        <p:spPr>
          <a:xfrm>
            <a:off x="467424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5" name="PlaceHolder 4"/>
          <p:cNvSpPr>
            <a:spLocks noGrp="1"/>
          </p:cNvSpPr>
          <p:nvPr>
            <p:ph type="body"/>
          </p:nvPr>
        </p:nvSpPr>
        <p:spPr>
          <a:xfrm>
            <a:off x="457200" y="2761920"/>
            <a:ext cx="822888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7" name="PlaceHolder 2"/>
          <p:cNvSpPr>
            <a:spLocks noGrp="1"/>
          </p:cNvSpPr>
          <p:nvPr>
            <p:ph type="body"/>
          </p:nvPr>
        </p:nvSpPr>
        <p:spPr>
          <a:xfrm>
            <a:off x="457200" y="1203480"/>
            <a:ext cx="822888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8" name="PlaceHolder 3"/>
          <p:cNvSpPr>
            <a:spLocks noGrp="1"/>
          </p:cNvSpPr>
          <p:nvPr>
            <p:ph type="body"/>
          </p:nvPr>
        </p:nvSpPr>
        <p:spPr>
          <a:xfrm>
            <a:off x="457200" y="2761920"/>
            <a:ext cx="822888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0" name="PlaceHolder 2"/>
          <p:cNvSpPr>
            <a:spLocks noGrp="1"/>
          </p:cNvSpPr>
          <p:nvPr>
            <p:ph type="body"/>
          </p:nvPr>
        </p:nvSpPr>
        <p:spPr>
          <a:xfrm>
            <a:off x="45720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1" name="PlaceHolder 3"/>
          <p:cNvSpPr>
            <a:spLocks noGrp="1"/>
          </p:cNvSpPr>
          <p:nvPr>
            <p:ph type="body"/>
          </p:nvPr>
        </p:nvSpPr>
        <p:spPr>
          <a:xfrm>
            <a:off x="467424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2" name="PlaceHolder 4"/>
          <p:cNvSpPr>
            <a:spLocks noGrp="1"/>
          </p:cNvSpPr>
          <p:nvPr>
            <p:ph type="body"/>
          </p:nvPr>
        </p:nvSpPr>
        <p:spPr>
          <a:xfrm>
            <a:off x="457200" y="276192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3" name="PlaceHolder 5"/>
          <p:cNvSpPr>
            <a:spLocks noGrp="1"/>
          </p:cNvSpPr>
          <p:nvPr>
            <p:ph type="body"/>
          </p:nvPr>
        </p:nvSpPr>
        <p:spPr>
          <a:xfrm>
            <a:off x="4674240" y="276192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5" name="PlaceHolder 2"/>
          <p:cNvSpPr>
            <a:spLocks noGrp="1"/>
          </p:cNvSpPr>
          <p:nvPr>
            <p:ph type="body"/>
          </p:nvPr>
        </p:nvSpPr>
        <p:spPr>
          <a:xfrm>
            <a:off x="457200" y="120348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6" name="PlaceHolder 3"/>
          <p:cNvSpPr>
            <a:spLocks noGrp="1"/>
          </p:cNvSpPr>
          <p:nvPr>
            <p:ph type="body"/>
          </p:nvPr>
        </p:nvSpPr>
        <p:spPr>
          <a:xfrm>
            <a:off x="3239640" y="120348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7" name="PlaceHolder 4"/>
          <p:cNvSpPr>
            <a:spLocks noGrp="1"/>
          </p:cNvSpPr>
          <p:nvPr>
            <p:ph type="body"/>
          </p:nvPr>
        </p:nvSpPr>
        <p:spPr>
          <a:xfrm>
            <a:off x="6022080" y="120348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8" name="PlaceHolder 5"/>
          <p:cNvSpPr>
            <a:spLocks noGrp="1"/>
          </p:cNvSpPr>
          <p:nvPr>
            <p:ph type="body"/>
          </p:nvPr>
        </p:nvSpPr>
        <p:spPr>
          <a:xfrm>
            <a:off x="457200" y="276192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9" name="PlaceHolder 6"/>
          <p:cNvSpPr>
            <a:spLocks noGrp="1"/>
          </p:cNvSpPr>
          <p:nvPr>
            <p:ph type="body"/>
          </p:nvPr>
        </p:nvSpPr>
        <p:spPr>
          <a:xfrm>
            <a:off x="3239640" y="276192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0" name="PlaceHolder 7"/>
          <p:cNvSpPr>
            <a:spLocks noGrp="1"/>
          </p:cNvSpPr>
          <p:nvPr>
            <p:ph type="body"/>
          </p:nvPr>
        </p:nvSpPr>
        <p:spPr>
          <a:xfrm>
            <a:off x="6022080" y="2761920"/>
            <a:ext cx="2649240" cy="1422360"/>
          </a:xfrm>
          <a:prstGeom prst="rect">
            <a:avLst/>
          </a:prstGeom>
          <a:noFill/>
          <a:ln w="0">
            <a:noFill/>
          </a:ln>
        </p:spPr>
        <p:txBody>
          <a:bodyPr lIns="0" rIns="0" tIns="0" bIns="0" anchor="t">
            <a:normAutofit fontScale="250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2"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5" name="PlaceHolder 2"/>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7" name="PlaceHolder 2"/>
          <p:cNvSpPr>
            <a:spLocks noGrp="1"/>
          </p:cNvSpPr>
          <p:nvPr>
            <p:ph type="body"/>
          </p:nvPr>
        </p:nvSpPr>
        <p:spPr>
          <a:xfrm>
            <a:off x="457200" y="1203480"/>
            <a:ext cx="4015440" cy="2982600"/>
          </a:xfrm>
          <a:prstGeom prst="rect">
            <a:avLst/>
          </a:prstGeom>
          <a:noFill/>
          <a:ln w="0">
            <a:noFill/>
          </a:ln>
        </p:spPr>
        <p:txBody>
          <a:bodyPr lIns="0" rIns="0" tIns="0" bIns="0" anchor="t">
            <a:normAutofit lnSpcReduction="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8" name="PlaceHolder 3"/>
          <p:cNvSpPr>
            <a:spLocks noGrp="1"/>
          </p:cNvSpPr>
          <p:nvPr>
            <p:ph type="body"/>
          </p:nvPr>
        </p:nvSpPr>
        <p:spPr>
          <a:xfrm>
            <a:off x="4674240" y="1203480"/>
            <a:ext cx="4015440" cy="2982600"/>
          </a:xfrm>
          <a:prstGeom prst="rect">
            <a:avLst/>
          </a:prstGeom>
          <a:noFill/>
          <a:ln w="0">
            <a:noFill/>
          </a:ln>
        </p:spPr>
        <p:txBody>
          <a:bodyPr lIns="0" rIns="0" tIns="0" bIns="0" anchor="t">
            <a:normAutofit lnSpcReduction="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bg>
      <p:bgPr>
        <a:solidFill>
          <a:srgbClr val="ffffff"/>
        </a:solidFill>
      </p:bgPr>
    </p:bg>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31" name="PlaceHolder 2"/>
          <p:cNvSpPr>
            <a:spLocks noGrp="1"/>
          </p:cNvSpPr>
          <p:nvPr>
            <p:ph type="body"/>
          </p:nvPr>
        </p:nvSpPr>
        <p:spPr>
          <a:xfrm>
            <a:off x="45720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32" name="PlaceHolder 3"/>
          <p:cNvSpPr>
            <a:spLocks noGrp="1"/>
          </p:cNvSpPr>
          <p:nvPr>
            <p:ph type="body"/>
          </p:nvPr>
        </p:nvSpPr>
        <p:spPr>
          <a:xfrm>
            <a:off x="4674240" y="1203480"/>
            <a:ext cx="4015440" cy="2982600"/>
          </a:xfrm>
          <a:prstGeom prst="rect">
            <a:avLst/>
          </a:prstGeom>
          <a:noFill/>
          <a:ln w="0">
            <a:noFill/>
          </a:ln>
        </p:spPr>
        <p:txBody>
          <a:bodyPr lIns="0" rIns="0" tIns="0" bIns="0" anchor="t">
            <a:normAutofit lnSpcReduction="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33" name="PlaceHolder 4"/>
          <p:cNvSpPr>
            <a:spLocks noGrp="1"/>
          </p:cNvSpPr>
          <p:nvPr>
            <p:ph type="body"/>
          </p:nvPr>
        </p:nvSpPr>
        <p:spPr>
          <a:xfrm>
            <a:off x="457200" y="276192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35" name="PlaceHolder 2"/>
          <p:cNvSpPr>
            <a:spLocks noGrp="1"/>
          </p:cNvSpPr>
          <p:nvPr>
            <p:ph type="body"/>
          </p:nvPr>
        </p:nvSpPr>
        <p:spPr>
          <a:xfrm>
            <a:off x="457200" y="1203480"/>
            <a:ext cx="4015440" cy="2982600"/>
          </a:xfrm>
          <a:prstGeom prst="rect">
            <a:avLst/>
          </a:prstGeom>
          <a:noFill/>
          <a:ln w="0">
            <a:noFill/>
          </a:ln>
        </p:spPr>
        <p:txBody>
          <a:bodyPr lIns="0" rIns="0" tIns="0" bIns="0" anchor="t">
            <a:normAutofit lnSpcReduction="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36" name="PlaceHolder 3"/>
          <p:cNvSpPr>
            <a:spLocks noGrp="1"/>
          </p:cNvSpPr>
          <p:nvPr>
            <p:ph type="body"/>
          </p:nvPr>
        </p:nvSpPr>
        <p:spPr>
          <a:xfrm>
            <a:off x="4674240" y="120348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37" name="PlaceHolder 4"/>
          <p:cNvSpPr>
            <a:spLocks noGrp="1"/>
          </p:cNvSpPr>
          <p:nvPr>
            <p:ph type="body"/>
          </p:nvPr>
        </p:nvSpPr>
        <p:spPr>
          <a:xfrm>
            <a:off x="4674240" y="2761920"/>
            <a:ext cx="4015440" cy="142236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5.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5.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a5f"/>
        </a:solidFill>
      </p:bgPr>
    </p:bg>
    <p:spTree>
      <p:nvGrpSpPr>
        <p:cNvPr id="1" name=""/>
        <p:cNvGrpSpPr/>
        <p:nvPr/>
      </p:nvGrpSpPr>
      <p:grpSpPr>
        <a:xfrm>
          <a:off x="0" y="0"/>
          <a:ext cx="0" cy="0"/>
          <a:chOff x="0" y="0"/>
          <a:chExt cx="0" cy="0"/>
        </a:xfrm>
      </p:grpSpPr>
      <p:sp>
        <p:nvSpPr>
          <p:cNvPr id="44" name="Text 0"/>
          <p:cNvSpPr/>
          <p:nvPr/>
        </p:nvSpPr>
        <p:spPr>
          <a:xfrm>
            <a:off x="914400" y="1371600"/>
            <a:ext cx="7314120" cy="18277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Lst>
            </a:pPr>
            <a:r>
              <a:rPr lang="en-US" sz="3200" b="1" u="none" strike="noStrike">
                <a:solidFill>
                  <a:srgbClr val="ffffff"/>
                </a:solidFill>
                <a:effectLst/>
                <a:uFillTx/>
                <a:latin typeface="Calibri"/>
                <a:ea typeface="DejaVu Sans"/>
              </a:rPr>
              <a:t>Les Simulations Multi-agents dans le cadre de débats alimentaire</a:t>
            </a:r>
            <a:endParaRPr lang="en-US" sz="3200" b="0" u="none" strike="noStrike">
              <a:solidFill>
                <a:srgbClr val="ffffff"/>
              </a:solidFill>
              <a:effectLst/>
              <a:uFillTx/>
              <a:latin typeface="Arial"/>
            </a:endParaRPr>
          </a:p>
        </p:txBody>
      </p:sp>
      <p:sp>
        <p:nvSpPr>
          <p:cNvPr id="45" name="Text 1"/>
          <p:cNvSpPr/>
          <p:nvPr/>
        </p:nvSpPr>
        <p:spPr>
          <a:xfrm>
            <a:off x="914400" y="3291840"/>
            <a:ext cx="7314120" cy="9133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Lst>
            </a:pPr>
            <a:r>
              <a:rPr lang="en-US" sz="1400" b="0" i="1" u="none" strike="noStrike">
                <a:solidFill>
                  <a:srgbClr val="cadcfc"/>
                </a:solidFill>
                <a:effectLst/>
                <a:uFillTx/>
                <a:latin typeface="Calibri"/>
                <a:ea typeface="DejaVu Sans"/>
              </a:rPr>
              <a:t>Journées Scientifiques du départment Sciences de la Vie et Santé</a:t>
            </a:r>
            <a:endParaRPr lang="en-US" sz="1400" b="0" u="none" strike="noStrike">
              <a:solidFill>
                <a:srgbClr val="ffffff"/>
              </a:solidFill>
              <a:effectLst/>
              <a:uFillTx/>
              <a:latin typeface="Arial"/>
            </a:endParaRPr>
          </a:p>
        </p:txBody>
      </p:sp>
      <p:sp>
        <p:nvSpPr>
          <p:cNvPr id="46" name="Text 2"/>
          <p:cNvSpPr/>
          <p:nvPr/>
        </p:nvSpPr>
        <p:spPr>
          <a:xfrm>
            <a:off x="914400" y="4389120"/>
            <a:ext cx="7314120" cy="36468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Lst>
            </a:pPr>
            <a:r>
              <a:rPr lang="en-US" sz="900" b="0" u="none" strike="noStrike">
                <a:solidFill>
                  <a:srgbClr val="aaaaaa"/>
                </a:solidFill>
                <a:effectLst/>
                <a:uFillTx/>
                <a:latin typeface="Calibri"/>
                <a:ea typeface="DejaVu Sans"/>
              </a:rPr>
              <a:t>Gregor Stolte</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48"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MODEL PERFORMANCE</a:t>
            </a:r>
            <a:endParaRPr lang="en-US" sz="1000" b="0" u="none" strike="noStrike">
              <a:solidFill>
                <a:srgbClr val="000000"/>
              </a:solidFill>
              <a:effectLst/>
              <a:uFillTx/>
              <a:latin typeface="Arial"/>
            </a:endParaRPr>
          </a:p>
        </p:txBody>
      </p:sp>
      <p:sp>
        <p:nvSpPr>
          <p:cNvPr id="49"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Model Comparison — Boss Table</a:t>
            </a:r>
            <a:endParaRPr lang="en-US" sz="2000" b="0" u="none" strike="noStrike">
              <a:solidFill>
                <a:srgbClr val="000000"/>
              </a:solidFill>
              <a:effectLst/>
              <a:uFillTx/>
              <a:latin typeface="Arial"/>
            </a:endParaRPr>
          </a:p>
        </p:txBody>
      </p:sp>
      <p:sp>
        <p:nvSpPr>
          <p:cNvPr id="50"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51" name="Table 0"/>
          <p:cNvGraphicFramePr/>
          <p:nvPr/>
        </p:nvGraphicFramePr>
        <p:xfrm>
          <a:off x="274320" y="1143000"/>
          <a:ext cx="7680600" cy="1284120"/>
        </p:xfrm>
        <a:graphic>
          <a:graphicData uri="http://schemas.openxmlformats.org/drawingml/2006/table">
            <a:tbl>
              <a:tblPr/>
              <a:tblGrid>
                <a:gridCol w="1463040"/>
                <a:gridCol w="914400"/>
                <a:gridCol w="914400"/>
                <a:gridCol w="914400"/>
                <a:gridCol w="1371600"/>
                <a:gridCol w="1371600"/>
                <a:gridCol w="73152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Use Distinct</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Best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Conv. Speed (cycles)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Failure Rate (&gt;0.15)</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0.1363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0.0201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25.0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20.42%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480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0.1049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0.0162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29.4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19.61%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510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0.1317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28.4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42.64%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720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0.0375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0.0156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165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52" name="Text 4"/>
          <p:cNvSpPr/>
          <p:nvPr/>
        </p:nvSpPr>
        <p:spPr>
          <a:xfrm>
            <a:off x="274320" y="2394000"/>
            <a:ext cx="8594280" cy="3189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How to read: Failure Rate = % runs with MAE &gt; 0.15. Best MAE = single best run. Convergence speed = mean cycles to converge.</a:t>
            </a:r>
            <a:endParaRPr lang="en-US" sz="900" b="0" u="none" strike="noStrike">
              <a:solidFill>
                <a:srgbClr val="000000"/>
              </a:solidFill>
              <a:effectLst/>
              <a:uFillTx/>
              <a:latin typeface="Arial"/>
            </a:endParaRPr>
          </a:p>
        </p:txBody>
      </p:sp>
      <p:sp>
        <p:nvSpPr>
          <p:cNvPr id="53" name="Text 5"/>
          <p:cNvSpPr/>
          <p:nvPr/>
        </p:nvSpPr>
        <p:spPr>
          <a:xfrm>
            <a:off x="274320" y="27306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54" name="Text 6"/>
          <p:cNvSpPr/>
          <p:nvPr/>
        </p:nvSpPr>
        <p:spPr>
          <a:xfrm>
            <a:off x="274320" y="2834640"/>
            <a:ext cx="8594280" cy="109620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Clustering achieves the lowest mean MAE (0.105) with the lowest failure rate (19.6%). No-change baseline is the strongest overall (MAE=0.038), outperforming all social influence models on average. Consensus has the highest failure rate (42.6%) — it converges too aggressively for many debates. Bipolarization achieves the single best run (MAE=0.020) but is the least consistent.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56"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CONDITION BREAKDOWN</a:t>
            </a:r>
            <a:endParaRPr lang="en-US" sz="1000" b="0" u="none" strike="noStrike">
              <a:solidFill>
                <a:srgbClr val="000000"/>
              </a:solidFill>
              <a:effectLst/>
              <a:uFillTx/>
              <a:latin typeface="Arial"/>
            </a:endParaRPr>
          </a:p>
        </p:txBody>
      </p:sp>
      <p:sp>
        <p:nvSpPr>
          <p:cNvPr id="57"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Model Performance by Debate Condition</a:t>
            </a:r>
            <a:endParaRPr lang="en-US" sz="2000" b="0" u="none" strike="noStrike">
              <a:solidFill>
                <a:srgbClr val="000000"/>
              </a:solidFill>
              <a:effectLst/>
              <a:uFillTx/>
              <a:latin typeface="Arial"/>
            </a:endParaRPr>
          </a:p>
        </p:txBody>
      </p:sp>
      <p:sp>
        <p:nvSpPr>
          <p:cNvPr id="58"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59" name="Table 0"/>
          <p:cNvGraphicFramePr/>
          <p:nvPr/>
        </p:nvGraphicFramePr>
        <p:xfrm>
          <a:off x="274320" y="1143000"/>
          <a:ext cx="6766200" cy="2201400"/>
        </p:xfrm>
        <a:graphic>
          <a:graphicData uri="http://schemas.openxmlformats.org/drawingml/2006/table">
            <a:tbl>
              <a:tblPr/>
              <a:tblGrid>
                <a:gridCol w="1463040"/>
                <a:gridCol w="1280160"/>
                <a:gridCol w="914400"/>
                <a:gridCol w="914400"/>
                <a:gridCol w="914400"/>
                <a:gridCol w="128016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Condition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Use Distinct</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Min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N Debates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0.1706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0.0201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0.0791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0.1109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0.0162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0.0856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0.0480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0.1461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0.0769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0.0427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0.0156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60" name="Text 4"/>
          <p:cNvSpPr/>
          <p:nvPr/>
        </p:nvSpPr>
        <p:spPr>
          <a:xfrm>
            <a:off x="274320" y="324612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61" name="Text 5"/>
          <p:cNvSpPr/>
          <p:nvPr/>
        </p:nvSpPr>
        <p:spPr>
          <a:xfrm>
            <a:off x="274320" y="3566160"/>
            <a:ext cx="8594280" cy="10047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All models perform substantially better on homogeneous (H) debates than heterogeneous (M) debates. The gap is largest for bipolarization (0.079 vs 0.171). For homogeneous debates, consensus (0.077) and bipolarization (0.079) are near-equivalent. No-change baseline only has 1 homogeneous debate in this run — caution interpreting that figure.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63"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H vs M COMPARISON</a:t>
            </a:r>
            <a:endParaRPr lang="en-US" sz="1000" b="0" u="none" strike="noStrike">
              <a:solidFill>
                <a:srgbClr val="000000"/>
              </a:solidFill>
              <a:effectLst/>
              <a:uFillTx/>
              <a:latin typeface="Arial"/>
            </a:endParaRPr>
          </a:p>
        </p:txBody>
      </p:sp>
      <p:sp>
        <p:nvSpPr>
          <p:cNvPr id="64"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H4 — Debate Composition: Homogeneous vs Mixed</a:t>
            </a:r>
            <a:endParaRPr lang="en-US" sz="2000" b="0" u="none" strike="noStrike">
              <a:solidFill>
                <a:srgbClr val="000000"/>
              </a:solidFill>
              <a:effectLst/>
              <a:uFillTx/>
              <a:latin typeface="Arial"/>
            </a:endParaRPr>
          </a:p>
        </p:txBody>
      </p:sp>
      <p:sp>
        <p:nvSpPr>
          <p:cNvPr id="65"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66" name="Chart 0"/>
          <p:cNvGraphicFramePr/>
          <p:nvPr/>
        </p:nvGraphicFramePr>
        <p:xfrm>
          <a:off x="274320" y="1143000"/>
          <a:ext cx="5485320" cy="2742120"/>
        </p:xfrm>
        <a:graphic>
          <a:graphicData uri="http://schemas.openxmlformats.org/drawingml/2006/chart">
            <c:chart xmlns:c="http://schemas.openxmlformats.org/drawingml/2006/chart" xmlns:r="http://schemas.openxmlformats.org/officeDocument/2006/relationships" r:id="rId1"/>
          </a:graphicData>
        </a:graphic>
      </p:graphicFrame>
      <p:sp>
        <p:nvSpPr>
          <p:cNvPr id="67" name="Shape 4"/>
          <p:cNvSpPr/>
          <p:nvPr/>
        </p:nvSpPr>
        <p:spPr>
          <a:xfrm>
            <a:off x="5943600" y="1143000"/>
            <a:ext cx="2925000" cy="2742120"/>
          </a:xfrm>
          <a:prstGeom prst="rect">
            <a:avLst/>
          </a:prstGeom>
          <a:solidFill>
            <a:srgbClr val="f5f5f5"/>
          </a:solidFill>
          <a:ln w="12700">
            <a:solidFill>
              <a:srgbClr val="cccccc"/>
            </a:solidFill>
            <a:round/>
          </a:ln>
        </p:spPr>
        <p:style>
          <a:lnRef idx="0"/>
          <a:fillRef idx="0"/>
          <a:effectRef idx="0"/>
          <a:fontRef idx="minor"/>
        </p:style>
        <p:txBody>
          <a:bodyPr lIns="90000" rIns="90000" tIns="45000" bIns="45000" anchor="t">
            <a:noAutofit/>
          </a:bodyPr>
          <a:p>
            <a:endParaRPr lang="en-US" sz="1800" b="0" u="none" strike="noStrike">
              <a:solidFill>
                <a:srgbClr val="000000"/>
              </a:solidFill>
              <a:effectLst/>
              <a:uFillTx/>
              <a:latin typeface="Arial"/>
            </a:endParaRPr>
          </a:p>
        </p:txBody>
      </p:sp>
      <p:sp>
        <p:nvSpPr>
          <p:cNvPr id="68" name="Text 5"/>
          <p:cNvSpPr/>
          <p:nvPr/>
        </p:nvSpPr>
        <p:spPr>
          <a:xfrm>
            <a:off x="6035040" y="1234440"/>
            <a:ext cx="2742120" cy="3189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Statistical Test</a:t>
            </a:r>
            <a:endParaRPr lang="en-US" sz="1100" b="0" u="none" strike="noStrike">
              <a:solidFill>
                <a:srgbClr val="000000"/>
              </a:solidFill>
              <a:effectLst/>
              <a:uFillTx/>
              <a:latin typeface="Arial"/>
            </a:endParaRPr>
          </a:p>
        </p:txBody>
      </p:sp>
      <p:sp>
        <p:nvSpPr>
          <p:cNvPr id="69" name="Text 6"/>
          <p:cNvSpPr/>
          <p:nvPr/>
        </p:nvSpPr>
        <p:spPr>
          <a:xfrm>
            <a:off x="6035040" y="1645920"/>
            <a:ext cx="127908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666666"/>
                </a:solidFill>
                <a:effectLst/>
                <a:uFillTx/>
                <a:latin typeface="Calibri"/>
                <a:ea typeface="DejaVu Sans"/>
              </a:rPr>
              <a:t>Wilcoxon W:</a:t>
            </a:r>
            <a:endParaRPr lang="en-US" sz="900" b="0" u="none" strike="noStrike">
              <a:solidFill>
                <a:srgbClr val="000000"/>
              </a:solidFill>
              <a:effectLst/>
              <a:uFillTx/>
              <a:latin typeface="Arial"/>
            </a:endParaRPr>
          </a:p>
        </p:txBody>
      </p:sp>
      <p:sp>
        <p:nvSpPr>
          <p:cNvPr id="70" name="Text 7"/>
          <p:cNvSpPr/>
          <p:nvPr/>
        </p:nvSpPr>
        <p:spPr>
          <a:xfrm>
            <a:off x="7360920" y="1645920"/>
            <a:ext cx="141624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1" u="none" strike="noStrike">
                <a:solidFill>
                  <a:srgbClr val="333333"/>
                </a:solidFill>
                <a:effectLst/>
                <a:uFillTx/>
                <a:latin typeface="Calibri"/>
                <a:ea typeface="DejaVu Sans"/>
              </a:rPr>
              <a:t>162,531</a:t>
            </a:r>
            <a:endParaRPr lang="en-US" sz="900" b="0" u="none" strike="noStrike">
              <a:solidFill>
                <a:srgbClr val="000000"/>
              </a:solidFill>
              <a:effectLst/>
              <a:uFillTx/>
              <a:latin typeface="Arial"/>
            </a:endParaRPr>
          </a:p>
        </p:txBody>
      </p:sp>
      <p:sp>
        <p:nvSpPr>
          <p:cNvPr id="71" name="Text 8"/>
          <p:cNvSpPr/>
          <p:nvPr/>
        </p:nvSpPr>
        <p:spPr>
          <a:xfrm>
            <a:off x="6035040" y="2030040"/>
            <a:ext cx="127908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666666"/>
                </a:solidFill>
                <a:effectLst/>
                <a:uFillTx/>
                <a:latin typeface="Calibri"/>
                <a:ea typeface="DejaVu Sans"/>
              </a:rPr>
              <a:t>p-value:</a:t>
            </a:r>
            <a:endParaRPr lang="en-US" sz="900" b="0" u="none" strike="noStrike">
              <a:solidFill>
                <a:srgbClr val="000000"/>
              </a:solidFill>
              <a:effectLst/>
              <a:uFillTx/>
              <a:latin typeface="Arial"/>
            </a:endParaRPr>
          </a:p>
        </p:txBody>
      </p:sp>
      <p:sp>
        <p:nvSpPr>
          <p:cNvPr id="72" name="Text 9"/>
          <p:cNvSpPr/>
          <p:nvPr/>
        </p:nvSpPr>
        <p:spPr>
          <a:xfrm>
            <a:off x="7360920" y="2030040"/>
            <a:ext cx="141624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1" u="none" strike="noStrike">
                <a:solidFill>
                  <a:srgbClr val="333333"/>
                </a:solidFill>
                <a:effectLst/>
                <a:uFillTx/>
                <a:latin typeface="Calibri"/>
                <a:ea typeface="DejaVu Sans"/>
              </a:rPr>
              <a:t>6.35e-60</a:t>
            </a:r>
            <a:endParaRPr lang="en-US" sz="900" b="0" u="none" strike="noStrike">
              <a:solidFill>
                <a:srgbClr val="000000"/>
              </a:solidFill>
              <a:effectLst/>
              <a:uFillTx/>
              <a:latin typeface="Arial"/>
            </a:endParaRPr>
          </a:p>
        </p:txBody>
      </p:sp>
      <p:sp>
        <p:nvSpPr>
          <p:cNvPr id="73" name="Text 10"/>
          <p:cNvSpPr/>
          <p:nvPr/>
        </p:nvSpPr>
        <p:spPr>
          <a:xfrm>
            <a:off x="6035040" y="2414160"/>
            <a:ext cx="127908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666666"/>
                </a:solidFill>
                <a:effectLst/>
                <a:uFillTx/>
                <a:latin typeface="Calibri"/>
                <a:ea typeface="DejaVu Sans"/>
              </a:rPr>
              <a:t>H mean MAE:</a:t>
            </a:r>
            <a:endParaRPr lang="en-US" sz="900" b="0" u="none" strike="noStrike">
              <a:solidFill>
                <a:srgbClr val="000000"/>
              </a:solidFill>
              <a:effectLst/>
              <a:uFillTx/>
              <a:latin typeface="Arial"/>
            </a:endParaRPr>
          </a:p>
        </p:txBody>
      </p:sp>
      <p:sp>
        <p:nvSpPr>
          <p:cNvPr id="74" name="Text 11"/>
          <p:cNvSpPr/>
          <p:nvPr/>
        </p:nvSpPr>
        <p:spPr>
          <a:xfrm>
            <a:off x="7360920" y="2414160"/>
            <a:ext cx="141624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1" u="none" strike="noStrike">
                <a:solidFill>
                  <a:srgbClr val="333333"/>
                </a:solidFill>
                <a:effectLst/>
                <a:uFillTx/>
                <a:latin typeface="Calibri"/>
                <a:ea typeface="DejaVu Sans"/>
              </a:rPr>
              <a:t>0.0769–0.0856</a:t>
            </a:r>
            <a:endParaRPr lang="en-US" sz="900" b="0" u="none" strike="noStrike">
              <a:solidFill>
                <a:srgbClr val="000000"/>
              </a:solidFill>
              <a:effectLst/>
              <a:uFillTx/>
              <a:latin typeface="Arial"/>
            </a:endParaRPr>
          </a:p>
        </p:txBody>
      </p:sp>
      <p:sp>
        <p:nvSpPr>
          <p:cNvPr id="75" name="Text 12"/>
          <p:cNvSpPr/>
          <p:nvPr/>
        </p:nvSpPr>
        <p:spPr>
          <a:xfrm>
            <a:off x="6035040" y="2797920"/>
            <a:ext cx="127908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666666"/>
                </a:solidFill>
                <a:effectLst/>
                <a:uFillTx/>
                <a:latin typeface="Calibri"/>
                <a:ea typeface="DejaVu Sans"/>
              </a:rPr>
              <a:t>M mean MAE:</a:t>
            </a:r>
            <a:endParaRPr lang="en-US" sz="900" b="0" u="none" strike="noStrike">
              <a:solidFill>
                <a:srgbClr val="000000"/>
              </a:solidFill>
              <a:effectLst/>
              <a:uFillTx/>
              <a:latin typeface="Arial"/>
            </a:endParaRPr>
          </a:p>
        </p:txBody>
      </p:sp>
      <p:sp>
        <p:nvSpPr>
          <p:cNvPr id="76" name="Text 13"/>
          <p:cNvSpPr/>
          <p:nvPr/>
        </p:nvSpPr>
        <p:spPr>
          <a:xfrm>
            <a:off x="7360920" y="2797920"/>
            <a:ext cx="141624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1" u="none" strike="noStrike">
                <a:solidFill>
                  <a:srgbClr val="333333"/>
                </a:solidFill>
                <a:effectLst/>
                <a:uFillTx/>
                <a:latin typeface="Calibri"/>
                <a:ea typeface="DejaVu Sans"/>
              </a:rPr>
              <a:t>0.1109–0.1706</a:t>
            </a:r>
            <a:endParaRPr lang="en-US" sz="900" b="0" u="none" strike="noStrike">
              <a:solidFill>
                <a:srgbClr val="000000"/>
              </a:solidFill>
              <a:effectLst/>
              <a:uFillTx/>
              <a:latin typeface="Arial"/>
            </a:endParaRPr>
          </a:p>
        </p:txBody>
      </p:sp>
      <p:sp>
        <p:nvSpPr>
          <p:cNvPr id="77" name="Text 14"/>
          <p:cNvSpPr/>
          <p:nvPr/>
        </p:nvSpPr>
        <p:spPr>
          <a:xfrm>
            <a:off x="6035040" y="3182040"/>
            <a:ext cx="127908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666666"/>
                </a:solidFill>
                <a:effectLst/>
                <a:uFillTx/>
                <a:latin typeface="Calibri"/>
                <a:ea typeface="DejaVu Sans"/>
              </a:rPr>
              <a:t>Interpretation:</a:t>
            </a:r>
            <a:endParaRPr lang="en-US" sz="900" b="0" u="none" strike="noStrike">
              <a:solidFill>
                <a:srgbClr val="000000"/>
              </a:solidFill>
              <a:effectLst/>
              <a:uFillTx/>
              <a:latin typeface="Arial"/>
            </a:endParaRPr>
          </a:p>
        </p:txBody>
      </p:sp>
      <p:sp>
        <p:nvSpPr>
          <p:cNvPr id="78" name="Text 15"/>
          <p:cNvSpPr/>
          <p:nvPr/>
        </p:nvSpPr>
        <p:spPr>
          <a:xfrm>
            <a:off x="7360920" y="3182040"/>
            <a:ext cx="1416240" cy="346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1" u="none" strike="noStrike">
                <a:solidFill>
                  <a:srgbClr val="333333"/>
                </a:solidFill>
                <a:effectLst/>
                <a:uFillTx/>
                <a:latin typeface="Calibri"/>
                <a:ea typeface="DejaVu Sans"/>
              </a:rPr>
              <a:t>H debates</a:t>
            </a:r>
            <a:endParaRPr lang="en-US" sz="900" b="0" u="none" strike="noStrike">
              <a:solidFill>
                <a:srgbClr val="000000"/>
              </a:solidFill>
              <a:effectLst/>
              <a:uFillTx/>
              <a:latin typeface="Arial"/>
            </a:endParaRPr>
          </a:p>
          <a:p>
            <a:pPr>
              <a:lnSpc>
                <a:spcPct val="100000"/>
              </a:lnSpc>
              <a:tabLst>
                <a:tab algn="l" pos="0"/>
              </a:tabLst>
            </a:pPr>
            <a:r>
              <a:rPr lang="en-US" sz="900" b="1" u="none" strike="noStrike">
                <a:solidFill>
                  <a:srgbClr val="333333"/>
                </a:solidFill>
                <a:effectLst/>
                <a:uFillTx/>
                <a:latin typeface="Calibri"/>
                <a:ea typeface="DejaVu Sans"/>
              </a:rPr>
              <a:t>significantly</a:t>
            </a:r>
            <a:endParaRPr lang="en-US" sz="900" b="0" u="none" strike="noStrike">
              <a:solidFill>
                <a:srgbClr val="000000"/>
              </a:solidFill>
              <a:effectLst/>
              <a:uFillTx/>
              <a:latin typeface="Arial"/>
            </a:endParaRPr>
          </a:p>
          <a:p>
            <a:pPr>
              <a:lnSpc>
                <a:spcPct val="100000"/>
              </a:lnSpc>
              <a:tabLst>
                <a:tab algn="l" pos="0"/>
              </a:tabLst>
            </a:pPr>
            <a:r>
              <a:rPr lang="en-US" sz="900" b="1" u="none" strike="noStrike">
                <a:solidFill>
                  <a:srgbClr val="333333"/>
                </a:solidFill>
                <a:effectLst/>
                <a:uFillTx/>
                <a:latin typeface="Calibri"/>
                <a:ea typeface="DejaVu Sans"/>
              </a:rPr>
              <a:t>easier to predict</a:t>
            </a:r>
            <a:endParaRPr lang="en-US" sz="900" b="0" u="none" strike="noStrike">
              <a:solidFill>
                <a:srgbClr val="000000"/>
              </a:solidFill>
              <a:effectLst/>
              <a:uFillTx/>
              <a:latin typeface="Arial"/>
            </a:endParaRPr>
          </a:p>
        </p:txBody>
      </p:sp>
      <p:sp>
        <p:nvSpPr>
          <p:cNvPr id="79" name="Text 16"/>
          <p:cNvSpPr/>
          <p:nvPr/>
        </p:nvSpPr>
        <p:spPr>
          <a:xfrm>
            <a:off x="274320" y="3977640"/>
            <a:ext cx="8594280" cy="7761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Interpretation: Homogeneous debates are systematically easier to predict across all models (Wilcoxon p=6.35e-60). The consensus model benefits most relatively from homogeneous composition.</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0"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81"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CONVERGENCE DYNAMICS</a:t>
            </a:r>
            <a:endParaRPr lang="en-US" sz="1000" b="0" u="none" strike="noStrike">
              <a:solidFill>
                <a:srgbClr val="000000"/>
              </a:solidFill>
              <a:effectLst/>
              <a:uFillTx/>
              <a:latin typeface="Arial"/>
            </a:endParaRPr>
          </a:p>
        </p:txBody>
      </p:sp>
      <p:sp>
        <p:nvSpPr>
          <p:cNvPr id="82"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Convergence Analysis by Model &amp; Condition</a:t>
            </a:r>
            <a:endParaRPr lang="en-US" sz="2000" b="0" u="none" strike="noStrike">
              <a:solidFill>
                <a:srgbClr val="000000"/>
              </a:solidFill>
              <a:effectLst/>
              <a:uFillTx/>
              <a:latin typeface="Arial"/>
            </a:endParaRPr>
          </a:p>
        </p:txBody>
      </p:sp>
      <p:sp>
        <p:nvSpPr>
          <p:cNvPr id="83"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84" name="Table 0"/>
          <p:cNvGraphicFramePr/>
          <p:nvPr/>
        </p:nvGraphicFramePr>
        <p:xfrm>
          <a:off x="274320" y="1143000"/>
          <a:ext cx="7680600" cy="2063880"/>
        </p:xfrm>
        <a:graphic>
          <a:graphicData uri="http://schemas.openxmlformats.org/drawingml/2006/table">
            <a:tbl>
              <a:tblPr/>
              <a:tblGrid>
                <a:gridCol w="1645920"/>
                <a:gridCol w="1280160"/>
                <a:gridCol w="1097280"/>
                <a:gridCol w="1005840"/>
                <a:gridCol w="1005840"/>
                <a:gridCol w="164592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Condition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Mean Cycles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SD Cycles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Min Cycles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Max Cycles</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21.67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55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39.44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130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29.60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105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28.88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30.96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80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20.23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40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85" name="Text 4"/>
          <p:cNvSpPr/>
          <p:nvPr/>
        </p:nvSpPr>
        <p:spPr>
          <a:xfrm>
            <a:off x="274320" y="316152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Note: normalised_convergence = convergence_cycle / 300 (max_cycles constant across all experiments).</a:t>
            </a:r>
            <a:endParaRPr lang="en-US" sz="900" b="0" u="none" strike="noStrike">
              <a:solidFill>
                <a:srgbClr val="000000"/>
              </a:solidFill>
              <a:effectLst/>
              <a:uFillTx/>
              <a:latin typeface="Arial"/>
            </a:endParaRPr>
          </a:p>
        </p:txBody>
      </p:sp>
      <p:sp>
        <p:nvSpPr>
          <p:cNvPr id="86" name="Text 5"/>
          <p:cNvSpPr/>
          <p:nvPr/>
        </p:nvSpPr>
        <p:spPr>
          <a:xfrm>
            <a:off x="274320" y="333756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87" name="Text 6"/>
          <p:cNvSpPr/>
          <p:nvPr/>
        </p:nvSpPr>
        <p:spPr>
          <a:xfrm>
            <a:off x="274320" y="3657600"/>
            <a:ext cx="8594280" cy="105048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Bipolarization converges fastest on heterogeneous debates (21.7 cycles) but slowest on homogeneous (39.4 cycles) — opposite to consensus. No-change always converges at cycle 15 (baseline). Clustering shows the most consistent convergence speed across conditions (~29 cycles). No speaking mode was run in this batch — all results reflect standard neighbor-based interaction.</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89"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BASELINE COMPARISON</a:t>
            </a:r>
            <a:endParaRPr lang="en-US" sz="1000" b="0" u="none" strike="noStrike">
              <a:solidFill>
                <a:srgbClr val="000000"/>
              </a:solidFill>
              <a:effectLst/>
              <a:uFillTx/>
              <a:latin typeface="Arial"/>
            </a:endParaRPr>
          </a:p>
        </p:txBody>
      </p:sp>
      <p:sp>
        <p:nvSpPr>
          <p:cNvPr id="90"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No-Change Baseline Coverage</a:t>
            </a:r>
            <a:endParaRPr lang="en-US" sz="2000" b="0" u="none" strike="noStrike">
              <a:solidFill>
                <a:srgbClr val="000000"/>
              </a:solidFill>
              <a:effectLst/>
              <a:uFillTx/>
              <a:latin typeface="Arial"/>
            </a:endParaRPr>
          </a:p>
        </p:txBody>
      </p:sp>
      <p:sp>
        <p:nvSpPr>
          <p:cNvPr id="91"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92" name="Table 0"/>
          <p:cNvGraphicFramePr/>
          <p:nvPr/>
        </p:nvGraphicFramePr>
        <p:xfrm>
          <a:off x="274320" y="1143000"/>
          <a:ext cx="5028840" cy="2751840"/>
        </p:xfrm>
        <a:graphic>
          <a:graphicData uri="http://schemas.openxmlformats.org/drawingml/2006/table">
            <a:tbl>
              <a:tblPr/>
              <a:tblGrid>
                <a:gridCol w="1005840"/>
                <a:gridCol w="1005840"/>
                <a:gridCol w="1188720"/>
                <a:gridCol w="182880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Debate ID</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Label</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Composition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Baseline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0.0156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0.0454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0.0347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0.0471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11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M10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0.0477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14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0.0421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19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M25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0.0457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20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M26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0.0318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29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H14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31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M30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0.0235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37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M34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0.0320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93" name="Text 4"/>
          <p:cNvSpPr/>
          <p:nvPr/>
        </p:nvSpPr>
        <p:spPr>
          <a:xfrm>
            <a:off x="5577840" y="1143000"/>
            <a:ext cx="3290760" cy="13705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No-change baseline mean MAE: 0.0375</a:t>
            </a:r>
            <a:endParaRPr lang="en-US" sz="1000" b="0" u="none" strike="noStrike">
              <a:solidFill>
                <a:srgbClr val="000000"/>
              </a:solidFill>
              <a:effectLst/>
              <a:uFillTx/>
              <a:latin typeface="Arial"/>
            </a:endParaRPr>
          </a:p>
          <a:p>
            <a:pPr>
              <a:lnSpc>
                <a:spcPct val="100000"/>
              </a:lnSpc>
              <a:tabLst>
                <a:tab algn="l" pos="0"/>
              </a:tabLst>
            </a:pPr>
            <a:r>
              <a:rPr lang="en-US" sz="1000" b="0" u="none" strike="noStrike">
                <a:solidFill>
                  <a:srgbClr val="333333"/>
                </a:solidFill>
                <a:effectLst/>
                <a:uFillTx/>
                <a:latin typeface="Calibri"/>
                <a:ea typeface="DejaVu Sans"/>
              </a:rPr>
              <a:t>Note: GA sampling means only 11 debates covered.</a:t>
            </a:r>
            <a:endParaRPr lang="en-US" sz="1000" b="0" u="none" strike="noStrike">
              <a:solidFill>
                <a:srgbClr val="000000"/>
              </a:solidFill>
              <a:effectLst/>
              <a:uFillTx/>
              <a:latin typeface="Arial"/>
            </a:endParaRPr>
          </a:p>
          <a:p>
            <a:pPr>
              <a:lnSpc>
                <a:spcPct val="100000"/>
              </a:lnSpc>
              <a:tabLst>
                <a:tab algn="l" pos="0"/>
              </a:tabLst>
            </a:pPr>
            <a:r>
              <a:rPr lang="en-US" sz="1000" b="0" u="none" strike="noStrike">
                <a:solidFill>
                  <a:srgbClr val="333333"/>
                </a:solidFill>
                <a:effectLst/>
                <a:uFillTx/>
                <a:latin typeface="Calibri"/>
                <a:ea typeface="DejaVu Sans"/>
              </a:rPr>
              <a:t>Full comparison requires exhaustive no-change run.</a:t>
            </a:r>
            <a:endParaRPr lang="en-US" sz="1000" b="0" u="none" strike="noStrike">
              <a:solidFill>
                <a:srgbClr val="000000"/>
              </a:solidFill>
              <a:effectLst/>
              <a:uFillTx/>
              <a:latin typeface="Arial"/>
            </a:endParaRPr>
          </a:p>
        </p:txBody>
      </p:sp>
      <p:sp>
        <p:nvSpPr>
          <p:cNvPr id="94" name="Shape 5"/>
          <p:cNvSpPr/>
          <p:nvPr/>
        </p:nvSpPr>
        <p:spPr>
          <a:xfrm>
            <a:off x="5577840" y="2651760"/>
            <a:ext cx="3290760" cy="1370520"/>
          </a:xfrm>
          <a:prstGeom prst="rect">
            <a:avLst/>
          </a:prstGeom>
          <a:solidFill>
            <a:srgbClr val="f5f5f5"/>
          </a:solidFill>
          <a:ln w="12700">
            <a:solidFill>
              <a:srgbClr val="cccccc"/>
            </a:solidFill>
            <a:round/>
          </a:ln>
        </p:spPr>
        <p:style>
          <a:lnRef idx="0"/>
          <a:fillRef idx="0"/>
          <a:effectRef idx="0"/>
          <a:fontRef idx="minor"/>
        </p:style>
        <p:txBody>
          <a:bodyPr lIns="90000" rIns="90000" tIns="45000" bIns="45000" anchor="t">
            <a:noAutofit/>
          </a:bodyPr>
          <a:p>
            <a:endParaRPr lang="en-US" sz="1800" b="0" u="none" strike="noStrike">
              <a:solidFill>
                <a:srgbClr val="000000"/>
              </a:solidFill>
              <a:effectLst/>
              <a:uFillTx/>
              <a:latin typeface="Arial"/>
            </a:endParaRPr>
          </a:p>
        </p:txBody>
      </p:sp>
      <p:sp>
        <p:nvSpPr>
          <p:cNvPr id="95" name="Text 6"/>
          <p:cNvSpPr/>
          <p:nvPr/>
        </p:nvSpPr>
        <p:spPr>
          <a:xfrm>
            <a:off x="5669280" y="2743200"/>
            <a:ext cx="3107880" cy="36468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1" u="none" strike="noStrike">
                <a:solidFill>
                  <a:srgbClr val="1e3a5f"/>
                </a:solidFill>
                <a:effectLst/>
                <a:uFillTx/>
                <a:latin typeface="Calibri"/>
                <a:ea typeface="DejaVu Sans"/>
              </a:rPr>
              <a:t>ABM vs Baseline</a:t>
            </a:r>
            <a:endParaRPr lang="en-US" sz="1000" b="0" u="none" strike="noStrike">
              <a:solidFill>
                <a:srgbClr val="000000"/>
              </a:solidFill>
              <a:effectLst/>
              <a:uFillTx/>
              <a:latin typeface="Arial"/>
            </a:endParaRPr>
          </a:p>
          <a:p>
            <a:pPr>
              <a:lnSpc>
                <a:spcPct val="100000"/>
              </a:lnSpc>
              <a:tabLst>
                <a:tab algn="l" pos="0"/>
              </a:tabLst>
            </a:pPr>
            <a:r>
              <a:rPr lang="en-US" sz="1000" b="1" u="none" strike="noStrike">
                <a:solidFill>
                  <a:srgbClr val="1e3a5f"/>
                </a:solidFill>
                <a:effectLst/>
                <a:uFillTx/>
                <a:latin typeface="Calibri"/>
                <a:ea typeface="DejaVu Sans"/>
              </a:rPr>
              <a:t>(overlapping debates only)</a:t>
            </a:r>
            <a:endParaRPr lang="en-US" sz="1000" b="0" u="none" strike="noStrike">
              <a:solidFill>
                <a:srgbClr val="000000"/>
              </a:solidFill>
              <a:effectLst/>
              <a:uFillTx/>
              <a:latin typeface="Arial"/>
            </a:endParaRPr>
          </a:p>
        </p:txBody>
      </p:sp>
      <p:sp>
        <p:nvSpPr>
          <p:cNvPr id="96" name="Text 7"/>
          <p:cNvSpPr/>
          <p:nvPr/>
        </p:nvSpPr>
        <p:spPr>
          <a:xfrm>
            <a:off x="5669280" y="3127320"/>
            <a:ext cx="3107880" cy="9133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u="none" strike="noStrike">
                <a:solidFill>
                  <a:srgbClr val="333333"/>
                </a:solidFill>
                <a:effectLst/>
                <a:uFillTx/>
                <a:latin typeface="Calibri"/>
                <a:ea typeface="DejaVu Sans"/>
              </a:rPr>
              <a:t>Clustering mean MAE: 0.096</a:t>
            </a:r>
            <a:endParaRPr lang="en-US" sz="900" b="0" u="none" strike="noStrike">
              <a:solidFill>
                <a:srgbClr val="000000"/>
              </a:solidFill>
              <a:effectLst/>
              <a:uFillTx/>
              <a:latin typeface="Arial"/>
            </a:endParaRPr>
          </a:p>
          <a:p>
            <a:pPr>
              <a:lnSpc>
                <a:spcPct val="100000"/>
              </a:lnSpc>
              <a:tabLst>
                <a:tab algn="l" pos="0"/>
              </a:tabLst>
            </a:pPr>
            <a:r>
              <a:rPr lang="en-US" sz="900" b="0" u="none" strike="noStrike">
                <a:solidFill>
                  <a:srgbClr val="333333"/>
                </a:solidFill>
                <a:effectLst/>
                <a:uFillTx/>
                <a:latin typeface="Calibri"/>
                <a:ea typeface="DejaVu Sans"/>
              </a:rPr>
              <a:t>Consensus mean MAE: 0.129</a:t>
            </a:r>
            <a:endParaRPr lang="en-US" sz="900" b="0" u="none" strike="noStrike">
              <a:solidFill>
                <a:srgbClr val="000000"/>
              </a:solidFill>
              <a:effectLst/>
              <a:uFillTx/>
              <a:latin typeface="Arial"/>
            </a:endParaRPr>
          </a:p>
          <a:p>
            <a:pPr>
              <a:lnSpc>
                <a:spcPct val="100000"/>
              </a:lnSpc>
              <a:tabLst>
                <a:tab algn="l" pos="0"/>
              </a:tabLst>
            </a:pPr>
            <a:r>
              <a:rPr lang="en-US" sz="900" b="0" u="none" strike="noStrike">
                <a:solidFill>
                  <a:srgbClr val="333333"/>
                </a:solidFill>
                <a:effectLst/>
                <a:uFillTx/>
                <a:latin typeface="Calibri"/>
                <a:ea typeface="DejaVu Sans"/>
              </a:rPr>
              <a:t>Bipolarization mean MAE: 0.136</a:t>
            </a:r>
            <a:endParaRPr lang="en-US" sz="900" b="0" u="none" strike="noStrike">
              <a:solidFill>
                <a:srgbClr val="000000"/>
              </a:solidFill>
              <a:effectLst/>
              <a:uFillTx/>
              <a:latin typeface="Arial"/>
            </a:endParaRPr>
          </a:p>
          <a:p>
            <a:pPr>
              <a:lnSpc>
                <a:spcPct val="100000"/>
              </a:lnSpc>
              <a:tabLst>
                <a:tab algn="l" pos="0"/>
              </a:tabLst>
            </a:pPr>
            <a:r>
              <a:rPr lang="en-US" sz="900" b="0" u="none" strike="noStrike">
                <a:solidFill>
                  <a:srgbClr val="333333"/>
                </a:solidFill>
                <a:effectLst/>
                <a:uFillTx/>
                <a:latin typeface="Calibri"/>
                <a:ea typeface="DejaVu Sans"/>
              </a:rPr>
              <a:t>Baseline mean MAE: 0.038</a:t>
            </a:r>
            <a:endParaRPr lang="en-US" sz="900" b="0" u="none" strike="noStrike">
              <a:solidFill>
                <a:srgbClr val="000000"/>
              </a:solidFill>
              <a:effectLst/>
              <a:uFillTx/>
              <a:latin typeface="Arial"/>
            </a:endParaRPr>
          </a:p>
          <a:p>
            <a:pPr>
              <a:lnSpc>
                <a:spcPct val="100000"/>
              </a:lnSpc>
              <a:tabLst>
                <a:tab algn="l" pos="0"/>
              </a:tabLst>
            </a:pPr>
            <a:r>
              <a:rPr lang="en-US" sz="900" b="0" u="none" strike="noStrike">
                <a:solidFill>
                  <a:srgbClr val="333333"/>
                </a:solidFill>
                <a:effectLst/>
                <a:uFillTx/>
                <a:latin typeface="Calibri"/>
                <a:ea typeface="DejaVu Sans"/>
              </a:rPr>
              <a:t>→ No model beats baseline on average</a:t>
            </a:r>
            <a:endParaRPr lang="en-US" sz="900" b="0" u="none" strike="noStrike">
              <a:solidFill>
                <a:srgbClr val="000000"/>
              </a:solidFill>
              <a:effectLst/>
              <a:uFillTx/>
              <a:latin typeface="Arial"/>
            </a:endParaRPr>
          </a:p>
        </p:txBody>
      </p:sp>
      <p:sp>
        <p:nvSpPr>
          <p:cNvPr id="97" name="Text 8"/>
          <p:cNvSpPr/>
          <p:nvPr/>
        </p:nvSpPr>
        <p:spPr>
          <a:xfrm>
            <a:off x="274320" y="4114800"/>
            <a:ext cx="8594280" cy="80352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Interpretation: The no-change baseline (MAE=0.038) outperforms all social influence models on average. This is an important negative result — adding social dynamics does not improve prediction on these data without further calibration.</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99"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PARAMETER SENSITIVITY (RQ1)</a:t>
            </a:r>
            <a:endParaRPr lang="en-US" sz="1000" b="0" u="none" strike="noStrike">
              <a:solidFill>
                <a:srgbClr val="000000"/>
              </a:solidFill>
              <a:effectLst/>
              <a:uFillTx/>
              <a:latin typeface="Arial"/>
            </a:endParaRPr>
          </a:p>
        </p:txBody>
      </p:sp>
      <p:sp>
        <p:nvSpPr>
          <p:cNvPr id="100"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Parameter Correlations with MAE</a:t>
            </a:r>
            <a:endParaRPr lang="en-US" sz="2000" b="0" u="none" strike="noStrike">
              <a:solidFill>
                <a:srgbClr val="000000"/>
              </a:solidFill>
              <a:effectLst/>
              <a:uFillTx/>
              <a:latin typeface="Arial"/>
            </a:endParaRPr>
          </a:p>
        </p:txBody>
      </p:sp>
      <p:sp>
        <p:nvSpPr>
          <p:cNvPr id="101"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graphicFrame>
        <p:nvGraphicFramePr>
          <p:cNvPr id="102" name="Table 0"/>
          <p:cNvGraphicFramePr/>
          <p:nvPr/>
        </p:nvGraphicFramePr>
        <p:xfrm>
          <a:off x="274320" y="1143000"/>
          <a:ext cx="8229240" cy="1284120"/>
        </p:xfrm>
        <a:graphic>
          <a:graphicData uri="http://schemas.openxmlformats.org/drawingml/2006/table">
            <a:tbl>
              <a:tblPr/>
              <a:tblGrid>
                <a:gridCol w="1463040"/>
                <a:gridCol w="914400"/>
                <a:gridCol w="1463040"/>
                <a:gridCol w="1463040"/>
                <a:gridCol w="1463040"/>
                <a:gridCol w="146304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Use Distinct</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r(convergence_rate)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r(confidence_threshold)</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r(repulsion_strength)</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r(repulsion_threshold)</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-0.522 ***</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-0.522 ***</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-0.089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0.314 ***</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false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N/A</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03" name="Text 4"/>
          <p:cNvSpPr/>
          <p:nvPr/>
        </p:nvSpPr>
        <p:spPr>
          <a:xfrm>
            <a:off x="274320" y="233172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Note: *** p&lt;0.001 (approximate). N/A = parameter not varied or not applicable for this model.</a:t>
            </a:r>
            <a:endParaRPr lang="en-US" sz="900" b="0" u="none" strike="noStrike">
              <a:solidFill>
                <a:srgbClr val="000000"/>
              </a:solidFill>
              <a:effectLst/>
              <a:uFillTx/>
              <a:latin typeface="Arial"/>
            </a:endParaRPr>
          </a:p>
        </p:txBody>
      </p:sp>
      <p:sp>
        <p:nvSpPr>
          <p:cNvPr id="104" name="Text 5"/>
          <p:cNvSpPr/>
          <p:nvPr/>
        </p:nvSpPr>
        <p:spPr>
          <a:xfrm>
            <a:off x="274320" y="269748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Best Parameter Sets Per Model</a:t>
            </a:r>
            <a:endParaRPr lang="en-US" sz="1100" b="0" u="none" strike="noStrike">
              <a:solidFill>
                <a:srgbClr val="000000"/>
              </a:solidFill>
              <a:effectLst/>
              <a:uFillTx/>
              <a:latin typeface="Arial"/>
            </a:endParaRPr>
          </a:p>
        </p:txBody>
      </p:sp>
      <p:graphicFrame>
        <p:nvGraphicFramePr>
          <p:cNvPr id="105" name="Table 1"/>
          <p:cNvGraphicFramePr/>
          <p:nvPr/>
        </p:nvGraphicFramePr>
        <p:xfrm>
          <a:off x="274320" y="3017520"/>
          <a:ext cx="7680600" cy="1284120"/>
        </p:xfrm>
        <a:graphic>
          <a:graphicData uri="http://schemas.openxmlformats.org/drawingml/2006/table">
            <a:tbl>
              <a:tblPr/>
              <a:tblGrid>
                <a:gridCol w="1371600"/>
                <a:gridCol w="822960"/>
                <a:gridCol w="914400"/>
                <a:gridCol w="1005840"/>
                <a:gridCol w="914400"/>
                <a:gridCol w="731520"/>
                <a:gridCol w="640080"/>
                <a:gridCol w="128016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conv_rate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conf_thresh</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repulsion_thresh</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repulsion_str</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Best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Debate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Condition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0.0201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M26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0.0162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M26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0.0156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M1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06" name="Text 6"/>
          <p:cNvSpPr/>
          <p:nvPr/>
        </p:nvSpPr>
        <p:spPr>
          <a:xfrm>
            <a:off x="274320" y="4160520"/>
            <a:ext cx="8594280" cy="7761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Interpretation: Convergence rate is the key parameter for consensus (r=0.314 — higher rate = worse MAE). For bipolarization, repulsion threshold drives predictions most strongly (r=-0.522). Clustering shows weak parameter sensitivity in this batch.</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7"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08"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BATCH LEVEL — DEBATE-LEVEL INSIGHTS</a:t>
            </a:r>
            <a:endParaRPr lang="en-US" sz="1000" b="0" u="none" strike="noStrike">
              <a:solidFill>
                <a:srgbClr val="000000"/>
              </a:solidFill>
              <a:effectLst/>
              <a:uFillTx/>
              <a:latin typeface="Arial"/>
            </a:endParaRPr>
          </a:p>
        </p:txBody>
      </p:sp>
      <p:sp>
        <p:nvSpPr>
          <p:cNvPr id="109"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Hardest &amp; Easiest Debates to Predict</a:t>
            </a:r>
            <a:endParaRPr lang="en-US" sz="2000" b="0" u="none" strike="noStrike">
              <a:solidFill>
                <a:srgbClr val="000000"/>
              </a:solidFill>
              <a:effectLst/>
              <a:uFillTx/>
              <a:latin typeface="Arial"/>
            </a:endParaRPr>
          </a:p>
        </p:txBody>
      </p:sp>
      <p:sp>
        <p:nvSpPr>
          <p:cNvPr id="110"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11" name="Text 4"/>
          <p:cNvSpPr/>
          <p:nvPr/>
        </p:nvSpPr>
        <p:spPr>
          <a:xfrm>
            <a:off x="274320" y="1143000"/>
            <a:ext cx="411372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a7a4a"/>
                </a:solidFill>
                <a:effectLst/>
                <a:uFillTx/>
                <a:latin typeface="Calibri"/>
                <a:ea typeface="DejaVu Sans"/>
              </a:rPr>
              <a:t>Top 5 Easiest Debates</a:t>
            </a:r>
            <a:endParaRPr lang="en-US" sz="1100" b="0" u="none" strike="noStrike">
              <a:solidFill>
                <a:srgbClr val="000000"/>
              </a:solidFill>
              <a:effectLst/>
              <a:uFillTx/>
              <a:latin typeface="Arial"/>
            </a:endParaRPr>
          </a:p>
        </p:txBody>
      </p:sp>
      <p:graphicFrame>
        <p:nvGraphicFramePr>
          <p:cNvPr id="112" name="Table 0"/>
          <p:cNvGraphicFramePr/>
          <p:nvPr/>
        </p:nvGraphicFramePr>
        <p:xfrm>
          <a:off x="274320" y="1463040"/>
          <a:ext cx="4114440" cy="1375920"/>
        </p:xfrm>
        <a:graphic>
          <a:graphicData uri="http://schemas.openxmlformats.org/drawingml/2006/table">
            <a:tbl>
              <a:tblPr/>
              <a:tblGrid>
                <a:gridCol w="914400"/>
                <a:gridCol w="1371600"/>
                <a:gridCol w="914400"/>
                <a:gridCol w="91440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Label</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Condition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Min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H15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0.0387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H14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0.0575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0.0466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H20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0.0663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0.0558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H11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homogeneous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0.0708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0.0480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M30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0.0722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0.0235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13" name="Text 5"/>
          <p:cNvSpPr/>
          <p:nvPr/>
        </p:nvSpPr>
        <p:spPr>
          <a:xfrm>
            <a:off x="4663440" y="1143000"/>
            <a:ext cx="411372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c0392b"/>
                </a:solidFill>
                <a:effectLst/>
                <a:uFillTx/>
                <a:latin typeface="Calibri"/>
                <a:ea typeface="DejaVu Sans"/>
              </a:rPr>
              <a:t>Top 5 Hardest Debates</a:t>
            </a:r>
            <a:endParaRPr lang="en-US" sz="1100" b="0" u="none" strike="noStrike">
              <a:solidFill>
                <a:srgbClr val="000000"/>
              </a:solidFill>
              <a:effectLst/>
              <a:uFillTx/>
              <a:latin typeface="Arial"/>
            </a:endParaRPr>
          </a:p>
        </p:txBody>
      </p:sp>
      <p:graphicFrame>
        <p:nvGraphicFramePr>
          <p:cNvPr id="114" name="Table 1"/>
          <p:cNvGraphicFramePr/>
          <p:nvPr/>
        </p:nvGraphicFramePr>
        <p:xfrm>
          <a:off x="4663440" y="1463040"/>
          <a:ext cx="4114440" cy="1375920"/>
        </p:xfrm>
        <a:graphic>
          <a:graphicData uri="http://schemas.openxmlformats.org/drawingml/2006/table">
            <a:tbl>
              <a:tblPr/>
              <a:tblGrid>
                <a:gridCol w="914400"/>
                <a:gridCol w="1371600"/>
                <a:gridCol w="914400"/>
                <a:gridCol w="91440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Label</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Condition</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Min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M13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0.2012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0.1595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0.1906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0.0471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M20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0.1571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0.1564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0.1524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0.1384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M16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heterogeneous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0.1488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0.1427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15" name="Text 6"/>
          <p:cNvSpPr/>
          <p:nvPr/>
        </p:nvSpPr>
        <p:spPr>
          <a:xfrm>
            <a:off x="274320" y="306324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116" name="Text 7"/>
          <p:cNvSpPr/>
          <p:nvPr/>
        </p:nvSpPr>
        <p:spPr>
          <a:xfrm>
            <a:off x="274320" y="3383280"/>
            <a:ext cx="8594280" cy="10047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All top 5 easiest debates are homogeneous (H-prefix), all top 5 hardest are heterogeneous (M-prefix). This is a clean pattern supporting H4. Notably, M30 is an exception — a heterogeneous debate with low mean MAE (0.072), worth investigating. M13 has the worst mean MAE (0.201) but M5 has a very low min MAE (0.047), suggesting that with the right parameters M5 can be predicted well — but M13 cannot.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18"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AGENT LEVEL — OLS REGRESSION</a:t>
            </a:r>
            <a:endParaRPr lang="en-US" sz="1000" b="0" u="none" strike="noStrike">
              <a:solidFill>
                <a:srgbClr val="000000"/>
              </a:solidFill>
              <a:effectLst/>
              <a:uFillTx/>
              <a:latin typeface="Arial"/>
            </a:endParaRPr>
          </a:p>
        </p:txBody>
      </p:sp>
      <p:sp>
        <p:nvSpPr>
          <p:cNvPr id="119"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H1 — OLS: Pre-Deliberation Attitudes Predict Post-Deliberation</a:t>
            </a:r>
            <a:endParaRPr lang="en-US" sz="2000" b="0" u="none" strike="noStrike">
              <a:solidFill>
                <a:srgbClr val="000000"/>
              </a:solidFill>
              <a:effectLst/>
              <a:uFillTx/>
              <a:latin typeface="Arial"/>
            </a:endParaRPr>
          </a:p>
        </p:txBody>
      </p:sp>
      <p:sp>
        <p:nvSpPr>
          <p:cNvPr id="120"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21" name="Text 4"/>
          <p:cNvSpPr/>
          <p:nvPr/>
        </p:nvSpPr>
        <p:spPr>
          <a:xfrm>
            <a:off x="274320" y="11430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i="1" u="none" strike="noStrike">
                <a:solidFill>
                  <a:srgbClr val="666666"/>
                </a:solidFill>
                <a:effectLst/>
                <a:uFillTx/>
                <a:latin typeface="Calibri"/>
                <a:ea typeface="DejaVu Sans"/>
              </a:rPr>
              <a:t>lm(final_attitude ~ initial_opinion, data = df_ag)</a:t>
            </a:r>
            <a:endParaRPr lang="en-US" sz="1000" b="0" u="none" strike="noStrike">
              <a:solidFill>
                <a:srgbClr val="000000"/>
              </a:solidFill>
              <a:effectLst/>
              <a:uFillTx/>
              <a:latin typeface="Arial"/>
            </a:endParaRPr>
          </a:p>
        </p:txBody>
      </p:sp>
      <p:graphicFrame>
        <p:nvGraphicFramePr>
          <p:cNvPr id="122" name="Table 0"/>
          <p:cNvGraphicFramePr/>
          <p:nvPr/>
        </p:nvGraphicFramePr>
        <p:xfrm>
          <a:off x="274320" y="1463040"/>
          <a:ext cx="5943240" cy="687960"/>
        </p:xfrm>
        <a:graphic>
          <a:graphicData uri="http://schemas.openxmlformats.org/drawingml/2006/table">
            <a:tbl>
              <a:tblPr/>
              <a:tblGrid>
                <a:gridCol w="1828800"/>
                <a:gridCol w="1097280"/>
                <a:gridCol w="914400"/>
                <a:gridCol w="1371600"/>
                <a:gridCol w="73152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Term</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Estimate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R²</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p-value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SE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Intercept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0.0185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&lt; 2e-16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initial_opinion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1.0031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0.9263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&lt; 2e-16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0.0029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23" name="Shape 5"/>
          <p:cNvSpPr/>
          <p:nvPr/>
        </p:nvSpPr>
        <p:spPr>
          <a:xfrm>
            <a:off x="6492240" y="1463040"/>
            <a:ext cx="2376360" cy="1004760"/>
          </a:xfrm>
          <a:prstGeom prst="rect">
            <a:avLst/>
          </a:prstGeom>
          <a:solidFill>
            <a:srgbClr val="f5f5f5"/>
          </a:solidFill>
          <a:ln w="12700">
            <a:solidFill>
              <a:srgbClr val="cccccc"/>
            </a:solidFill>
            <a:round/>
          </a:ln>
        </p:spPr>
        <p:style>
          <a:lnRef idx="0"/>
          <a:fillRef idx="0"/>
          <a:effectRef idx="0"/>
          <a:fontRef idx="minor"/>
        </p:style>
        <p:txBody>
          <a:bodyPr lIns="90000" rIns="90000" tIns="45000" bIns="45000" anchor="t">
            <a:noAutofit/>
          </a:bodyPr>
          <a:p>
            <a:endParaRPr lang="en-US" sz="1800" b="0" u="none" strike="noStrike">
              <a:solidFill>
                <a:srgbClr val="000000"/>
              </a:solidFill>
              <a:effectLst/>
              <a:uFillTx/>
              <a:latin typeface="Arial"/>
            </a:endParaRPr>
          </a:p>
        </p:txBody>
      </p:sp>
      <p:sp>
        <p:nvSpPr>
          <p:cNvPr id="124" name="Text 6"/>
          <p:cNvSpPr/>
          <p:nvPr/>
        </p:nvSpPr>
        <p:spPr>
          <a:xfrm>
            <a:off x="6583680" y="1554480"/>
            <a:ext cx="2193480" cy="7304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Lst>
            </a:pPr>
            <a:r>
              <a:rPr lang="en-US" sz="1100" b="1" u="none" strike="noStrike">
                <a:solidFill>
                  <a:srgbClr val="1e3a5f"/>
                </a:solidFill>
                <a:effectLst/>
                <a:uFillTx/>
                <a:latin typeface="Calibri"/>
                <a:ea typeface="DejaVu Sans"/>
              </a:rPr>
              <a:t>OLS Mean MAE</a:t>
            </a:r>
            <a:endParaRPr lang="en-US" sz="1100" b="0" u="none" strike="noStrike">
              <a:solidFill>
                <a:srgbClr val="000000"/>
              </a:solidFill>
              <a:effectLst/>
              <a:uFillTx/>
              <a:latin typeface="Arial"/>
            </a:endParaRPr>
          </a:p>
          <a:p>
            <a:pPr algn="ctr">
              <a:lnSpc>
                <a:spcPct val="100000"/>
              </a:lnSpc>
              <a:tabLst>
                <a:tab algn="l" pos="0"/>
              </a:tabLst>
            </a:pPr>
            <a:r>
              <a:rPr lang="en-US" sz="1100" b="1" u="none" strike="noStrike">
                <a:solidFill>
                  <a:srgbClr val="1e3a5f"/>
                </a:solidFill>
                <a:effectLst/>
                <a:uFillTx/>
                <a:latin typeface="Calibri"/>
                <a:ea typeface="DejaVu Sans"/>
              </a:rPr>
              <a:t>across debates: 0.0371</a:t>
            </a:r>
            <a:endParaRPr lang="en-US" sz="1100" b="0" u="none" strike="noStrike">
              <a:solidFill>
                <a:srgbClr val="000000"/>
              </a:solidFill>
              <a:effectLst/>
              <a:uFillTx/>
              <a:latin typeface="Arial"/>
            </a:endParaRPr>
          </a:p>
        </p:txBody>
      </p:sp>
      <p:sp>
        <p:nvSpPr>
          <p:cNvPr id="125" name="Text 7"/>
          <p:cNvSpPr/>
          <p:nvPr/>
        </p:nvSpPr>
        <p:spPr>
          <a:xfrm>
            <a:off x="274320" y="260604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126" name="Text 8"/>
          <p:cNvSpPr/>
          <p:nvPr/>
        </p:nvSpPr>
        <p:spPr>
          <a:xfrm>
            <a:off x="274320" y="2926080"/>
            <a:ext cx="8594280" cy="10047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Pre-deliberation attitudes (initial_opinion) are an extremely strong predictor of post-deliberation attitudes (R²=0.926, p&lt;2e-16). The slope of ~1.0 indicates near-perfect correspondence — agents barely change their opinions relative to their starting point. This strongly supports H1. The OLS mean MAE (0.037) is competitive with the best ABM runs, setting a high bar for the ABM comparison (H3/H5).</a:t>
            </a:r>
            <a:endParaRPr lang="en-US" sz="1000" b="0" u="none" strike="noStrike">
              <a:solidFill>
                <a:srgbClr val="000000"/>
              </a:solidFill>
              <a:effectLst/>
              <a:uFillTx/>
              <a:latin typeface="Arial"/>
            </a:endParaRPr>
          </a:p>
        </p:txBody>
      </p:sp>
      <p:sp>
        <p:nvSpPr>
          <p:cNvPr id="127" name="Text 9"/>
          <p:cNvSpPr/>
          <p:nvPr/>
        </p:nvSpPr>
        <p:spPr>
          <a:xfrm>
            <a:off x="274320" y="4069080"/>
            <a:ext cx="8594280" cy="36468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Note: R²=0.926 means initial opinion explains 92.6% of variance in final attitude — attitudes are highly stable across deliberation.</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29"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AGENT LEVEL — BASELINE COMPARISON</a:t>
            </a:r>
            <a:endParaRPr lang="en-US" sz="1000" b="0" u="none" strike="noStrike">
              <a:solidFill>
                <a:srgbClr val="000000"/>
              </a:solidFill>
              <a:effectLst/>
              <a:uFillTx/>
              <a:latin typeface="Arial"/>
            </a:endParaRPr>
          </a:p>
        </p:txBody>
      </p:sp>
      <p:sp>
        <p:nvSpPr>
          <p:cNvPr id="130"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H3/H5 — ABM vs OLS Regression Comparison</a:t>
            </a:r>
            <a:endParaRPr lang="en-US" sz="2000" b="0" u="none" strike="noStrike">
              <a:solidFill>
                <a:srgbClr val="000000"/>
              </a:solidFill>
              <a:effectLst/>
              <a:uFillTx/>
              <a:latin typeface="Arial"/>
            </a:endParaRPr>
          </a:p>
        </p:txBody>
      </p:sp>
      <p:sp>
        <p:nvSpPr>
          <p:cNvPr id="131"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32" name="Text 4"/>
          <p:cNvSpPr/>
          <p:nvPr/>
        </p:nvSpPr>
        <p:spPr>
          <a:xfrm>
            <a:off x="274320" y="11430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comparison_ols: mean MAE by model vs OLS MAE (delta = abm_mae - ols_mae, negative = ABM better)</a:t>
            </a:r>
            <a:endParaRPr lang="en-US" sz="900" b="0" u="none" strike="noStrike">
              <a:solidFill>
                <a:srgbClr val="000000"/>
              </a:solidFill>
              <a:effectLst/>
              <a:uFillTx/>
              <a:latin typeface="Arial"/>
            </a:endParaRPr>
          </a:p>
        </p:txBody>
      </p:sp>
      <p:graphicFrame>
        <p:nvGraphicFramePr>
          <p:cNvPr id="133" name="Table 0"/>
          <p:cNvGraphicFramePr/>
          <p:nvPr/>
        </p:nvGraphicFramePr>
        <p:xfrm>
          <a:off x="274320" y="1463040"/>
          <a:ext cx="7680600" cy="1284120"/>
        </p:xfrm>
        <a:graphic>
          <a:graphicData uri="http://schemas.openxmlformats.org/drawingml/2006/table">
            <a:tbl>
              <a:tblPr/>
              <a:tblGrid>
                <a:gridCol w="1371600"/>
                <a:gridCol w="1097280"/>
                <a:gridCol w="1097280"/>
                <a:gridCol w="914400"/>
                <a:gridCol w="1097280"/>
                <a:gridCol w="1005840"/>
                <a:gridCol w="109728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 Type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ABM 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OLS Mean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Delta MAE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Wilcoxon W</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p-value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ABM Better?</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0.1355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0.0381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+0.0974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No</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0.0959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0.0368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+0.0591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No</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0.1291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0.0374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+0.0917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&lt; 0.0001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No</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0.0375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0.0338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+0.0036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17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0.1748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No (ns)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34" name="Text 5"/>
          <p:cNvSpPr/>
          <p:nvPr/>
        </p:nvSpPr>
        <p:spPr>
          <a:xfrm>
            <a:off x="274320" y="266832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135" name="Text 6"/>
          <p:cNvSpPr/>
          <p:nvPr/>
        </p:nvSpPr>
        <p:spPr>
          <a:xfrm>
            <a:off x="274320" y="2880360"/>
            <a:ext cx="8594280" cy="132480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All social influence ABMs perform significantly worse than OLS regression (p&lt;0.001 for all, Wilcoxon paired test). The no-change model is not significantly different from OLS (p=0.175) — suggesting that predicting 'no change' is approximately as good as a regression model. This is a critical negative result for H3 and H5 — the ABMs do not improve upon simple regression. Possible explanations: (1) attitudes are too stable (R²=0.926) for social influence to add signal, (2) model needs better calibration, (3) dynamics may differ per debate type.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37"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AGENT LEVEL — OLS REGRESSION (MERGED WITH EMPIRICAL DATA)</a:t>
            </a:r>
            <a:endParaRPr lang="en-US" sz="1000" b="0" u="none" strike="noStrike">
              <a:solidFill>
                <a:srgbClr val="000000"/>
              </a:solidFill>
              <a:effectLst/>
              <a:uFillTx/>
              <a:latin typeface="Arial"/>
            </a:endParaRPr>
          </a:p>
        </p:txBody>
      </p:sp>
      <p:sp>
        <p:nvSpPr>
          <p:cNvPr id="138"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H2 — Social Norms &amp; Self-Control → Opinion Change</a:t>
            </a:r>
            <a:endParaRPr lang="en-US" sz="2000" b="0" u="none" strike="noStrike">
              <a:solidFill>
                <a:srgbClr val="000000"/>
              </a:solidFill>
              <a:effectLst/>
              <a:uFillTx/>
              <a:latin typeface="Arial"/>
            </a:endParaRPr>
          </a:p>
        </p:txBody>
      </p:sp>
      <p:sp>
        <p:nvSpPr>
          <p:cNvPr id="139"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40" name="Text 4"/>
          <p:cNvSpPr/>
          <p:nvPr/>
        </p:nvSpPr>
        <p:spPr>
          <a:xfrm>
            <a:off x="274320" y="11430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i="1" u="none" strike="noStrike">
                <a:solidFill>
                  <a:srgbClr val="666666"/>
                </a:solidFill>
                <a:effectLst/>
                <a:uFillTx/>
                <a:latin typeface="Calibri"/>
                <a:ea typeface="DejaVu Sans"/>
              </a:rPr>
              <a:t>lm(abs(opinion_change) ~ perceived_norms + self_control, data = df_merged)</a:t>
            </a:r>
            <a:endParaRPr lang="en-US" sz="1000" b="0" u="none" strike="noStrike">
              <a:solidFill>
                <a:srgbClr val="000000"/>
              </a:solidFill>
              <a:effectLst/>
              <a:uFillTx/>
              <a:latin typeface="Arial"/>
            </a:endParaRPr>
          </a:p>
        </p:txBody>
      </p:sp>
      <p:graphicFrame>
        <p:nvGraphicFramePr>
          <p:cNvPr id="141" name="Table 0"/>
          <p:cNvGraphicFramePr/>
          <p:nvPr/>
        </p:nvGraphicFramePr>
        <p:xfrm>
          <a:off x="274320" y="1463040"/>
          <a:ext cx="6857640" cy="917280"/>
        </p:xfrm>
        <a:graphic>
          <a:graphicData uri="http://schemas.openxmlformats.org/drawingml/2006/table">
            <a:tbl>
              <a:tblPr/>
              <a:tblGrid>
                <a:gridCol w="1645920"/>
                <a:gridCol w="1097280"/>
                <a:gridCol w="1005840"/>
                <a:gridCol w="1005840"/>
                <a:gridCol w="210312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Term</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Coefficient</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Individual r</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Individual r²</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p-value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Intercept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0.1477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perceived_norms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-0.0027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-0.0557</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0.0031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5.87e-08 ***</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self_control</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0.791 (ns)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42" name="Shape 5"/>
          <p:cNvSpPr/>
          <p:nvPr/>
        </p:nvSpPr>
        <p:spPr>
          <a:xfrm>
            <a:off x="7315200" y="1463040"/>
            <a:ext cx="1553400" cy="1004760"/>
          </a:xfrm>
          <a:prstGeom prst="rect">
            <a:avLst/>
          </a:prstGeom>
          <a:solidFill>
            <a:srgbClr val="f5f5f5"/>
          </a:solidFill>
          <a:ln w="12700">
            <a:solidFill>
              <a:srgbClr val="cccccc"/>
            </a:solidFill>
            <a:round/>
          </a:ln>
        </p:spPr>
        <p:style>
          <a:lnRef idx="0"/>
          <a:fillRef idx="0"/>
          <a:effectRef idx="0"/>
          <a:fontRef idx="minor"/>
        </p:style>
        <p:txBody>
          <a:bodyPr lIns="90000" rIns="90000" tIns="45000" bIns="45000" anchor="t">
            <a:noAutofit/>
          </a:bodyPr>
          <a:p>
            <a:endParaRPr lang="en-US" sz="1800" b="0" u="none" strike="noStrike">
              <a:solidFill>
                <a:srgbClr val="000000"/>
              </a:solidFill>
              <a:effectLst/>
              <a:uFillTx/>
              <a:latin typeface="Arial"/>
            </a:endParaRPr>
          </a:p>
        </p:txBody>
      </p:sp>
      <p:sp>
        <p:nvSpPr>
          <p:cNvPr id="143" name="Text 6"/>
          <p:cNvSpPr/>
          <p:nvPr/>
        </p:nvSpPr>
        <p:spPr>
          <a:xfrm>
            <a:off x="7360920" y="1554480"/>
            <a:ext cx="1461960" cy="7304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Lst>
            </a:pPr>
            <a:r>
              <a:rPr lang="en-US" sz="1100" b="1" u="none" strike="noStrike">
                <a:solidFill>
                  <a:srgbClr val="1e3a5f"/>
                </a:solidFill>
                <a:effectLst/>
                <a:uFillTx/>
                <a:latin typeface="Calibri"/>
                <a:ea typeface="DejaVu Sans"/>
              </a:rPr>
              <a:t>Multiple R²</a:t>
            </a:r>
            <a:endParaRPr lang="en-US" sz="1100" b="0" u="none" strike="noStrike">
              <a:solidFill>
                <a:srgbClr val="000000"/>
              </a:solidFill>
              <a:effectLst/>
              <a:uFillTx/>
              <a:latin typeface="Arial"/>
            </a:endParaRPr>
          </a:p>
          <a:p>
            <a:pPr algn="ctr">
              <a:lnSpc>
                <a:spcPct val="100000"/>
              </a:lnSpc>
              <a:tabLst>
                <a:tab algn="l" pos="0"/>
              </a:tabLst>
            </a:pPr>
            <a:r>
              <a:rPr lang="en-US" sz="1100" b="1" u="none" strike="noStrike">
                <a:solidFill>
                  <a:srgbClr val="1e3a5f"/>
                </a:solidFill>
                <a:effectLst/>
                <a:uFillTx/>
                <a:latin typeface="Calibri"/>
                <a:ea typeface="DejaVu Sans"/>
              </a:rPr>
              <a:t>0.0031</a:t>
            </a:r>
            <a:endParaRPr lang="en-US" sz="1100" b="0" u="none" strike="noStrike">
              <a:solidFill>
                <a:srgbClr val="000000"/>
              </a:solidFill>
              <a:effectLst/>
              <a:uFillTx/>
              <a:latin typeface="Arial"/>
            </a:endParaRPr>
          </a:p>
        </p:txBody>
      </p:sp>
      <p:sp>
        <p:nvSpPr>
          <p:cNvPr id="144" name="Text 7"/>
          <p:cNvSpPr/>
          <p:nvPr/>
        </p:nvSpPr>
        <p:spPr>
          <a:xfrm>
            <a:off x="274320" y="2514600"/>
            <a:ext cx="8594280" cy="3189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900" b="0" i="1" u="none" strike="noStrike">
                <a:solidFill>
                  <a:srgbClr val="666666"/>
                </a:solidFill>
                <a:effectLst/>
                <a:uFillTx/>
                <a:latin typeface="Calibri"/>
                <a:ea typeface="DejaVu Sans"/>
              </a:rPr>
              <a:t>Note: Merged rows = 9,555. df_merged = merge(df_ag, df_orig, by='agent_id') including perceived_norms and self_control from empirical data.</a:t>
            </a:r>
            <a:endParaRPr lang="en-US" sz="900" b="0" u="none" strike="noStrike">
              <a:solidFill>
                <a:srgbClr val="000000"/>
              </a:solidFill>
              <a:effectLst/>
              <a:uFillTx/>
              <a:latin typeface="Arial"/>
            </a:endParaRPr>
          </a:p>
        </p:txBody>
      </p:sp>
      <p:sp>
        <p:nvSpPr>
          <p:cNvPr id="145" name="Text 8"/>
          <p:cNvSpPr/>
          <p:nvPr/>
        </p:nvSpPr>
        <p:spPr>
          <a:xfrm>
            <a:off x="274320" y="288036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146" name="Text 9"/>
          <p:cNvSpPr/>
          <p:nvPr/>
        </p:nvSpPr>
        <p:spPr>
          <a:xfrm>
            <a:off x="274320" y="3200400"/>
            <a:ext cx="8594280" cy="1416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Perceived norms is a significant but very weak predictor of opinion change (r²=0.003, p&lt;0.001) — its direction is negative (higher norms → slightly less simulated change), which is unexpected for H2. Self-control is non-significant (p=0.791). The multiple R² of 0.003 means norms and self-control together explain less than 0.3% of variance in simulated opinion change. This provides very weak support for H2 — the moderation analysis with initial_opinion as moderator (full model) showed R²=0.10 suggesting the interaction terms are doing most of the work.</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7"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48"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AGENT LEVEL — PRO/ANTI COMPARISON</a:t>
            </a:r>
            <a:endParaRPr lang="en-US" sz="1000" b="0" u="none" strike="noStrike">
              <a:solidFill>
                <a:srgbClr val="000000"/>
              </a:solidFill>
              <a:effectLst/>
              <a:uFillTx/>
              <a:latin typeface="Arial"/>
            </a:endParaRPr>
          </a:p>
        </p:txBody>
      </p:sp>
      <p:sp>
        <p:nvSpPr>
          <p:cNvPr id="149"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Pro vs Anti Agents: Simulated vs Empirical Change</a:t>
            </a:r>
            <a:endParaRPr lang="en-US" sz="2000" b="0" u="none" strike="noStrike">
              <a:solidFill>
                <a:srgbClr val="000000"/>
              </a:solidFill>
              <a:effectLst/>
              <a:uFillTx/>
              <a:latin typeface="Arial"/>
            </a:endParaRPr>
          </a:p>
        </p:txBody>
      </p:sp>
      <p:sp>
        <p:nvSpPr>
          <p:cNvPr id="150"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51" name="Text 4"/>
          <p:cNvSpPr/>
          <p:nvPr/>
        </p:nvSpPr>
        <p:spPr>
          <a:xfrm>
            <a:off x="274320" y="1143000"/>
            <a:ext cx="411372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a7a4a"/>
                </a:solidFill>
                <a:effectLst/>
                <a:uFillTx/>
                <a:latin typeface="Calibri"/>
                <a:ea typeface="DejaVu Sans"/>
              </a:rPr>
              <a:t>Pro agents (pro_reduction=1)</a:t>
            </a:r>
            <a:endParaRPr lang="en-US" sz="1100" b="0" u="none" strike="noStrike">
              <a:solidFill>
                <a:srgbClr val="000000"/>
              </a:solidFill>
              <a:effectLst/>
              <a:uFillTx/>
              <a:latin typeface="Arial"/>
            </a:endParaRPr>
          </a:p>
        </p:txBody>
      </p:sp>
      <p:graphicFrame>
        <p:nvGraphicFramePr>
          <p:cNvPr id="152" name="Table 0"/>
          <p:cNvGraphicFramePr/>
          <p:nvPr/>
        </p:nvGraphicFramePr>
        <p:xfrm>
          <a:off x="274320" y="1463040"/>
          <a:ext cx="4114440" cy="1284120"/>
        </p:xfrm>
        <a:graphic>
          <a:graphicData uri="http://schemas.openxmlformats.org/drawingml/2006/table">
            <a:tbl>
              <a:tblPr/>
              <a:tblGrid>
                <a:gridCol w="1463040"/>
                <a:gridCol w="1371600"/>
                <a:gridCol w="128016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Simulated |change|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Empirical |change|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0.1734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0.0389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0.1183</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0.0395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0.1638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0.0339</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0.0301</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53" name="Text 5"/>
          <p:cNvSpPr/>
          <p:nvPr/>
        </p:nvSpPr>
        <p:spPr>
          <a:xfrm>
            <a:off x="4754880" y="1143000"/>
            <a:ext cx="411372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c0392b"/>
                </a:solidFill>
                <a:effectLst/>
                <a:uFillTx/>
                <a:latin typeface="Calibri"/>
                <a:ea typeface="DejaVu Sans"/>
              </a:rPr>
              <a:t>Anti agents (pro_reduction=0)</a:t>
            </a:r>
            <a:endParaRPr lang="en-US" sz="1100" b="0" u="none" strike="noStrike">
              <a:solidFill>
                <a:srgbClr val="000000"/>
              </a:solidFill>
              <a:effectLst/>
              <a:uFillTx/>
              <a:latin typeface="Arial"/>
            </a:endParaRPr>
          </a:p>
        </p:txBody>
      </p:sp>
      <p:graphicFrame>
        <p:nvGraphicFramePr>
          <p:cNvPr id="154" name="Table 1"/>
          <p:cNvGraphicFramePr/>
          <p:nvPr/>
        </p:nvGraphicFramePr>
        <p:xfrm>
          <a:off x="4754880" y="1463040"/>
          <a:ext cx="4114440" cy="1284120"/>
        </p:xfrm>
        <a:graphic>
          <a:graphicData uri="http://schemas.openxmlformats.org/drawingml/2006/table">
            <a:tbl>
              <a:tblPr/>
              <a:tblGrid>
                <a:gridCol w="1463040"/>
                <a:gridCol w="1371600"/>
                <a:gridCol w="1280160"/>
              </a:tblGrid>
              <a:tr h="0">
                <a:tc>
                  <a:txBody>
                    <a:bodyPr anchor="t">
                      <a:noAutofit/>
                    </a:bodyPr>
                    <a:p>
                      <a:pPr algn="ctr">
                        <a:lnSpc>
                          <a:spcPct val="100000"/>
                        </a:lnSpc>
                        <a:tabLst>
                          <a:tab algn="l" pos="0"/>
                        </a:tabLst>
                      </a:pPr>
                      <a:r>
                        <a:rPr lang="en-US" sz="900" b="1" u="none" strike="noStrike">
                          <a:solidFill>
                            <a:srgbClr val="ffffff"/>
                          </a:solidFill>
                          <a:effectLst/>
                          <a:uFillTx/>
                          <a:latin typeface="Calibri"/>
                        </a:rPr>
                        <a:t>Model</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Simulated |change|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c>
                  <a:txBody>
                    <a:bodyPr anchor="t">
                      <a:noAutofit/>
                    </a:bodyPr>
                    <a:p>
                      <a:pPr algn="ctr">
                        <a:lnSpc>
                          <a:spcPct val="100000"/>
                        </a:lnSpc>
                        <a:tabLst>
                          <a:tab algn="l" pos="0"/>
                        </a:tabLst>
                      </a:pPr>
                      <a:r>
                        <a:rPr lang="en-US" sz="900" b="1" u="none" strike="noStrike">
                          <a:solidFill>
                            <a:srgbClr val="ffffff"/>
                          </a:solidFill>
                          <a:effectLst/>
                          <a:uFillTx/>
                          <a:latin typeface="Calibri"/>
                        </a:rPr>
                        <a:t>Empirical |change|</a:t>
                      </a:r>
                      <a:endParaRPr lang="en-US" sz="900" b="0" u="none" strike="noStrike">
                        <a:solidFill>
                          <a:srgbClr val="ffffff"/>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1e3a5f"/>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bipolarization</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0.1378</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0.0454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clustering</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0.0854</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0.0430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consensus</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0.1045</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0.0436</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r h="0">
                <a:tc>
                  <a:txBody>
                    <a:bodyPr anchor="t">
                      <a:noAutofit/>
                    </a:bodyPr>
                    <a:p>
                      <a:pPr algn="ctr">
                        <a:lnSpc>
                          <a:spcPct val="100000"/>
                        </a:lnSpc>
                        <a:tabLst>
                          <a:tab algn="l" pos="0"/>
                        </a:tabLst>
                      </a:pPr>
                      <a:r>
                        <a:rPr lang="en-US" sz="900" b="0" u="none" strike="noStrike">
                          <a:solidFill>
                            <a:srgbClr val="333333"/>
                          </a:solidFill>
                          <a:effectLst/>
                          <a:uFillTx/>
                          <a:latin typeface="Calibri"/>
                        </a:rPr>
                        <a:t>no_change</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0.0000</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c>
                  <a:txBody>
                    <a:bodyPr anchor="t">
                      <a:noAutofit/>
                    </a:bodyPr>
                    <a:p>
                      <a:pPr algn="ctr">
                        <a:lnSpc>
                          <a:spcPct val="100000"/>
                        </a:lnSpc>
                        <a:tabLst>
                          <a:tab algn="l" pos="0"/>
                        </a:tabLst>
                      </a:pPr>
                      <a:r>
                        <a:rPr lang="en-US" sz="900" b="0" u="none" strike="noStrike">
                          <a:solidFill>
                            <a:srgbClr val="333333"/>
                          </a:solidFill>
                          <a:effectLst/>
                          <a:uFillTx/>
                          <a:latin typeface="Calibri"/>
                        </a:rPr>
                        <a:t>0.0432</a:t>
                      </a:r>
                      <a:endParaRPr lang="en-US" sz="900" b="0" u="none" strike="noStrike">
                        <a:solidFill>
                          <a:srgbClr val="000000"/>
                        </a:solidFill>
                        <a:effectLst/>
                        <a:uFillTx/>
                        <a:latin typeface="Arial"/>
                      </a:endParaRPr>
                    </a:p>
                  </a:txBody>
                  <a:tcPr anchor="t" marL="91440" marR="91440" marT="45720" marB="45720">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5f5f5"/>
                    </a:solidFill>
                  </a:tcPr>
                </a:tc>
              </a:tr>
            </a:tbl>
          </a:graphicData>
        </a:graphic>
      </p:graphicFrame>
      <p:sp>
        <p:nvSpPr>
          <p:cNvPr id="155" name="Text 6"/>
          <p:cNvSpPr/>
          <p:nvPr/>
        </p:nvSpPr>
        <p:spPr>
          <a:xfrm>
            <a:off x="274320" y="27432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100" b="1" u="none" strike="noStrike">
                <a:solidFill>
                  <a:srgbClr val="1e3a5f"/>
                </a:solidFill>
                <a:effectLst/>
                <a:uFillTx/>
                <a:latin typeface="Calibri"/>
                <a:ea typeface="DejaVu Sans"/>
              </a:rPr>
              <a:t>Interpretation</a:t>
            </a:r>
            <a:endParaRPr lang="en-US" sz="1100" b="0" u="none" strike="noStrike">
              <a:solidFill>
                <a:srgbClr val="000000"/>
              </a:solidFill>
              <a:effectLst/>
              <a:uFillTx/>
              <a:latin typeface="Arial"/>
            </a:endParaRPr>
          </a:p>
        </p:txBody>
      </p:sp>
      <p:sp>
        <p:nvSpPr>
          <p:cNvPr id="156" name="Text 7"/>
          <p:cNvSpPr/>
          <p:nvPr/>
        </p:nvSpPr>
        <p:spPr>
          <a:xfrm>
            <a:off x="274320" y="3063240"/>
            <a:ext cx="8594280" cy="12333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All social influence models massively overestimate opinion change compared to empirical data. Pro agents: simulated change is 4-5x the empirical change (e.g. consensus: 0.164 simulated vs 0.034 empirical). Anti agents: smaller overestimation but still 2-3x. No-change correctly predicts zero simulated change. This confirms that real deliberation produces much smaller attitude shifts than the models generate — the key challenge for calibration is dampening the dynamics.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7" name="Shape 0"/>
          <p:cNvSpPr/>
          <p:nvPr/>
        </p:nvSpPr>
        <p:spPr>
          <a:xfrm>
            <a:off x="0" y="0"/>
            <a:ext cx="9142920" cy="364680"/>
          </a:xfrm>
          <a:prstGeom prst="rect">
            <a:avLst/>
          </a:prstGeom>
          <a:solidFill>
            <a:srgbClr val="1e3a5f"/>
          </a:solidFill>
          <a:ln w="12700">
            <a:solidFill>
              <a:srgbClr val="1e3a5f"/>
            </a:solidFill>
            <a:round/>
          </a:ln>
        </p:spPr>
        <p:style>
          <a:lnRef idx="0"/>
          <a:fillRef idx="0"/>
          <a:effectRef idx="0"/>
          <a:fontRef idx="minor"/>
        </p:style>
        <p:txBody>
          <a:bodyPr lIns="90000" rIns="90000" tIns="45000" bIns="45000" anchor="t">
            <a:noAutofit/>
          </a:bodyPr>
          <a:p>
            <a:endParaRPr lang="en-US" sz="1800" b="0" u="none" strike="noStrike">
              <a:solidFill>
                <a:srgbClr val="ffffff"/>
              </a:solidFill>
              <a:effectLst/>
              <a:uFillTx/>
              <a:latin typeface="Arial"/>
            </a:endParaRPr>
          </a:p>
        </p:txBody>
      </p:sp>
      <p:sp>
        <p:nvSpPr>
          <p:cNvPr id="158" name="Text 1"/>
          <p:cNvSpPr/>
          <p:nvPr/>
        </p:nvSpPr>
        <p:spPr>
          <a:xfrm>
            <a:off x="182880" y="0"/>
            <a:ext cx="8777160" cy="364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lang="en-US" sz="1000" b="1" u="none" strike="noStrike">
                <a:solidFill>
                  <a:srgbClr val="ffffff"/>
                </a:solidFill>
                <a:effectLst/>
                <a:uFillTx/>
                <a:latin typeface="Calibri"/>
                <a:ea typeface="DejaVu Sans"/>
              </a:rPr>
              <a:t>AGENT LEVEL — OPINION POSITION ANALYSIS</a:t>
            </a:r>
            <a:endParaRPr lang="en-US" sz="1000" b="0" u="none" strike="noStrike">
              <a:solidFill>
                <a:srgbClr val="000000"/>
              </a:solidFill>
              <a:effectLst/>
              <a:uFillTx/>
              <a:latin typeface="Arial"/>
            </a:endParaRPr>
          </a:p>
        </p:txBody>
      </p:sp>
      <p:sp>
        <p:nvSpPr>
          <p:cNvPr id="159" name="Text 2"/>
          <p:cNvSpPr/>
          <p:nvPr/>
        </p:nvSpPr>
        <p:spPr>
          <a:xfrm>
            <a:off x="274320" y="457200"/>
            <a:ext cx="8594280" cy="5475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2000" b="1" u="none" strike="noStrike">
                <a:solidFill>
                  <a:srgbClr val="1e3a5f"/>
                </a:solidFill>
                <a:effectLst/>
                <a:uFillTx/>
                <a:latin typeface="Calibri"/>
                <a:ea typeface="DejaVu Sans"/>
              </a:rPr>
              <a:t>Prediction Error by Initial Opinion Position</a:t>
            </a:r>
            <a:endParaRPr lang="en-US" sz="2000" b="0" u="none" strike="noStrike">
              <a:solidFill>
                <a:srgbClr val="000000"/>
              </a:solidFill>
              <a:effectLst/>
              <a:uFillTx/>
              <a:latin typeface="Arial"/>
            </a:endParaRPr>
          </a:p>
        </p:txBody>
      </p:sp>
      <p:sp>
        <p:nvSpPr>
          <p:cNvPr id="160" name="Shape 3"/>
          <p:cNvSpPr/>
          <p:nvPr/>
        </p:nvSpPr>
        <p:spPr>
          <a:xfrm>
            <a:off x="274320" y="1023840"/>
            <a:ext cx="8595360" cy="360"/>
          </a:xfrm>
          <a:prstGeom prst="line">
            <a:avLst/>
          </a:prstGeom>
          <a:ln w="12700">
            <a:solidFill>
              <a:srgbClr val="1e3a5f"/>
            </a:solidFill>
            <a:round/>
          </a:ln>
        </p:spPr>
        <p:style>
          <a:lnRef idx="0"/>
          <a:fillRef idx="0"/>
          <a:effectRef idx="0"/>
          <a:fontRef idx="minor"/>
        </p:style>
        <p:txBody>
          <a:bodyPr lIns="90000" rIns="90000" tIns="-44640" bIns="-44640" anchor="t" anchorCtr="1">
            <a:noAutofit/>
          </a:bodyPr>
          <a:p>
            <a:endParaRPr lang="en-US" sz="1800" b="0" u="none" strike="noStrike">
              <a:solidFill>
                <a:srgbClr val="000000"/>
              </a:solidFill>
              <a:effectLst/>
              <a:uFillTx/>
              <a:latin typeface="Arial"/>
            </a:endParaRPr>
          </a:p>
        </p:txBody>
      </p:sp>
      <p:sp>
        <p:nvSpPr>
          <p:cNvPr id="161" name="Text 4"/>
          <p:cNvSpPr/>
          <p:nvPr/>
        </p:nvSpPr>
        <p:spPr>
          <a:xfrm>
            <a:off x="274320" y="1143000"/>
            <a:ext cx="8594280" cy="27324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i="1" u="none" strike="noStrike">
                <a:solidFill>
                  <a:srgbClr val="666666"/>
                </a:solidFill>
                <a:effectLst/>
                <a:uFillTx/>
                <a:latin typeface="Calibri"/>
                <a:ea typeface="DejaVu Sans"/>
              </a:rPr>
              <a:t>cut(initial_opinion, breaks=c(0,0.33,0.67,1), labels=c('Anti','Moderate','Pro'))</a:t>
            </a:r>
            <a:endParaRPr lang="en-US" sz="1000" b="0" u="none" strike="noStrike">
              <a:solidFill>
                <a:srgbClr val="000000"/>
              </a:solidFill>
              <a:effectLst/>
              <a:uFillTx/>
              <a:latin typeface="Arial"/>
            </a:endParaRPr>
          </a:p>
        </p:txBody>
      </p:sp>
      <p:graphicFrame>
        <p:nvGraphicFramePr>
          <p:cNvPr id="162" name="Chart 0"/>
          <p:cNvGraphicFramePr/>
          <p:nvPr/>
        </p:nvGraphicFramePr>
        <p:xfrm>
          <a:off x="274320" y="1463040"/>
          <a:ext cx="8594280" cy="2467800"/>
        </p:xfrm>
        <a:graphic>
          <a:graphicData uri="http://schemas.openxmlformats.org/drawingml/2006/chart">
            <c:chart xmlns:c="http://schemas.openxmlformats.org/drawingml/2006/chart" xmlns:r="http://schemas.openxmlformats.org/officeDocument/2006/relationships" r:id="rId1"/>
          </a:graphicData>
        </a:graphic>
      </p:graphicFrame>
      <p:sp>
        <p:nvSpPr>
          <p:cNvPr id="163" name="Text 5"/>
          <p:cNvSpPr/>
          <p:nvPr/>
        </p:nvSpPr>
        <p:spPr>
          <a:xfrm>
            <a:off x="274320" y="4041720"/>
            <a:ext cx="8594280" cy="82188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Lst>
            </a:pPr>
            <a:r>
              <a:rPr lang="en-US" sz="1000" b="0" u="none" strike="noStrike">
                <a:solidFill>
                  <a:srgbClr val="333333"/>
                </a:solidFill>
                <a:effectLst/>
                <a:uFillTx/>
                <a:latin typeface="Calibri"/>
                <a:ea typeface="DejaVu Sans"/>
              </a:rPr>
              <a:t>Interpretation: Moderate agents have the lowest prediction error across all models. Pro agents are hardest to predict for consensus (MAE=0.218) and clustering (0.155). Anti agents are hardest for bipolarization (MAE=0.212). This mirrors prior findings: moderately opinionated agents are more predictable.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TotalTime>
  <Application>LibreOffice/25.8.5.2$Linux_X86_64 LibreOffice_project/580$Build-2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2026-03-19T12:59:51Z</dcterms:created>
  <dc:creator>PptxGenJS</dc:creator>
  <dc:description/>
  <dc:language>en-US</dc:language>
  <cp:lastModifiedBy/>
  <dcterms:modified xsi:type="dcterms:W3CDTF">2026-04-02T16:26:23Z</dcterms:modified>
  <cp:revision>4</cp:revision>
  <dc:subject>PptxGenJS Presentation</dc:subject>
  <dc:title>ABM Results – Based on R Script Output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On-screen Show (16:9)</vt:lpwstr>
  </property>
  <property fmtid="{D5CDD505-2E9C-101B-9397-08002B2CF9AE}" pid="4" name="Slides">
    <vt:i4>14</vt:i4>
  </property>
</Properties>
</file>