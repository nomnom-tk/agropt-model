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3.xml.rels" ContentType="application/vnd.openxmlformats-package.relationships+xml"/>
  <Override PartName="/ppt/slides/_rels/slide12.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H (Homogeneous)</c:v>
                </c:pt>
              </c:strCache>
            </c:strRef>
          </c:tx>
          <c:spPr>
            <a:solidFill>
              <a:srgbClr val="2e75b6"/>
            </a:solidFill>
            <a:ln w="0">
              <a:noFill/>
            </a:ln>
          </c:spPr>
          <c:invertIfNegative val="0"/>
          <c:dLbls>
            <c:numFmt formatCode="#,##0" sourceLinked="0"/>
            <c:txPr>
              <a:bodyPr wrap="square"/>
              <a:lstStyle/>
              <a:p>
                <a:pPr>
                  <a:defRPr b="0" sz="800" spc="-1" strike="noStrike">
                    <a:solidFill>
                      <a:srgbClr val="333333"/>
                    </a:solidFill>
                    <a:latin typeface="Arial"/>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Bipolarization</c:v>
                </c:pt>
                <c:pt idx="1">
                  <c:v>Clustering</c:v>
                </c:pt>
                <c:pt idx="2">
                  <c:v>Consensus</c:v>
                </c:pt>
                <c:pt idx="3">
                  <c:v>No-Change</c:v>
                </c:pt>
              </c:strCache>
            </c:strRef>
          </c:cat>
          <c:val>
            <c:numRef>
              <c:f>0</c:f>
              <c:numCache>
                <c:formatCode>General</c:formatCode>
                <c:ptCount val="4"/>
                <c:pt idx="0">
                  <c:v>0.0791</c:v>
                </c:pt>
                <c:pt idx="1">
                  <c:v>0.0856</c:v>
                </c:pt>
                <c:pt idx="2">
                  <c:v>0.0769</c:v>
                </c:pt>
                <c:pt idx="3">
                  <c:v>0.0466</c:v>
                </c:pt>
              </c:numCache>
            </c:numRef>
          </c:val>
        </c:ser>
        <c:ser>
          <c:idx val="1"/>
          <c:order val="1"/>
          <c:tx>
            <c:strRef>
              <c:f>label 1</c:f>
              <c:strCache>
                <c:ptCount val="1"/>
                <c:pt idx="0">
                  <c:v>M (Mixed/Hetero)</c:v>
                </c:pt>
              </c:strCache>
            </c:strRef>
          </c:tx>
          <c:spPr>
            <a:solidFill>
              <a:srgbClr val="e87722"/>
            </a:solidFill>
            <a:ln w="0">
              <a:noFill/>
            </a:ln>
          </c:spPr>
          <c:invertIfNegative val="0"/>
          <c:dLbls>
            <c:numFmt formatCode="#,##0" sourceLinked="0"/>
            <c:txPr>
              <a:bodyPr wrap="square"/>
              <a:lstStyle/>
              <a:p>
                <a:pPr>
                  <a:defRPr b="0" sz="800" spc="-1" strike="noStrike">
                    <a:solidFill>
                      <a:srgbClr val="333333"/>
                    </a:solidFill>
                    <a:latin typeface="Arial"/>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Bipolarization</c:v>
                </c:pt>
                <c:pt idx="1">
                  <c:v>Clustering</c:v>
                </c:pt>
                <c:pt idx="2">
                  <c:v>Consensus</c:v>
                </c:pt>
                <c:pt idx="3">
                  <c:v>No-Change</c:v>
                </c:pt>
              </c:strCache>
            </c:strRef>
          </c:cat>
          <c:val>
            <c:numRef>
              <c:f>1</c:f>
              <c:numCache>
                <c:formatCode>General</c:formatCode>
                <c:ptCount val="4"/>
                <c:pt idx="0">
                  <c:v>0.1706</c:v>
                </c:pt>
                <c:pt idx="1">
                  <c:v>0.1109</c:v>
                </c:pt>
                <c:pt idx="2">
                  <c:v>0.1461</c:v>
                </c:pt>
                <c:pt idx="3">
                  <c:v>0.0366</c:v>
                </c:pt>
              </c:numCache>
            </c:numRef>
          </c:val>
        </c:ser>
        <c:gapWidth val="150"/>
        <c:overlap val="0"/>
        <c:axId val="82553524"/>
        <c:axId val="88092171"/>
      </c:barChart>
      <c:catAx>
        <c:axId val="82553524"/>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pc="-1" strike="noStrike">
                <a:solidFill>
                  <a:srgbClr val="666666"/>
                </a:solidFill>
                <a:latin typeface="Arial"/>
                <a:ea typeface="DejaVu Sans"/>
              </a:defRPr>
            </a:pPr>
          </a:p>
        </c:txPr>
        <c:crossAx val="88092171"/>
        <c:crosses val="autoZero"/>
        <c:auto val="1"/>
        <c:lblAlgn val="ctr"/>
        <c:lblOffset val="100"/>
        <c:noMultiLvlLbl val="0"/>
      </c:catAx>
      <c:valAx>
        <c:axId val="88092171"/>
        <c:scaling>
          <c:orientation val="minMax"/>
          <c:max val="0.22"/>
          <c:min val="0"/>
        </c:scaling>
        <c:delete val="0"/>
        <c:axPos val="l"/>
        <c:majorGridlines>
          <c:spPr>
            <a:ln w="6480">
              <a:solidFill>
                <a:srgbClr val="eeeeee"/>
              </a:solidFill>
              <a:round/>
            </a:ln>
          </c:spPr>
        </c:majorGridlines>
        <c:numFmt formatCode="General" sourceLinked="0"/>
        <c:majorTickMark val="out"/>
        <c:minorTickMark val="none"/>
        <c:tickLblPos val="nextTo"/>
        <c:spPr>
          <a:ln w="12600">
            <a:solidFill>
              <a:srgbClr val="888888"/>
            </a:solidFill>
            <a:round/>
          </a:ln>
        </c:spPr>
        <c:txPr>
          <a:bodyPr/>
          <a:lstStyle/>
          <a:p>
            <a:pPr>
              <a:defRPr b="0" sz="1200" spc="-1" strike="noStrike">
                <a:solidFill>
                  <a:srgbClr val="666666"/>
                </a:solidFill>
                <a:latin typeface="Arial"/>
                <a:ea typeface="DejaVu Sans"/>
              </a:defRPr>
            </a:pPr>
          </a:p>
        </c:txPr>
        <c:crossAx val="82553524"/>
        <c:crosses val="autoZero"/>
        <c:crossBetween val="between"/>
      </c:valAx>
      <c:spPr>
        <a:noFill/>
        <a:ln w="0">
          <a:noFill/>
        </a:ln>
      </c:spPr>
    </c:plotArea>
    <c:legend>
      <c:legendPos val="b"/>
      <c:overlay val="0"/>
      <c:spPr>
        <a:noFill/>
        <a:ln w="0">
          <a:noFill/>
        </a:ln>
      </c:spPr>
      <c:txPr>
        <a:bodyPr/>
        <a:lstStyle/>
        <a:p>
          <a:pPr>
            <a:defRPr b="0" sz="900" spc="-1" strike="noStrike">
              <a:solidFill>
                <a:srgbClr val="000000"/>
              </a:solidFill>
              <a:latin typeface="Calibri"/>
              <a:ea typeface="DejaVu Sans"/>
            </a:defRPr>
          </a:pPr>
        </a:p>
      </c:txPr>
    </c:legend>
    <c:plotVisOnly val="1"/>
    <c:dispBlanksAs val="span"/>
  </c:chart>
  <c:spPr>
    <a:solidFill>
      <a:srgbClr val="ffffff"/>
    </a:solidFill>
    <a:ln w="9360">
      <a:noFill/>
    </a:ln>
  </c:spPr>
</c:chartSpace>
</file>

<file path=ppt/charts/chart2.xml><?xml version="1.0" encoding="utf-8"?>
<c:chartSpace xmlns:c="http://schemas.openxmlformats.org/drawingml/2006/chart" xmlns:a="http://schemas.openxmlformats.org/drawingml/2006/main" xmlns:r="http://schemas.openxmlformats.org/officeDocument/2006/relationships">
  <c:lang val="en-US"/>
  <c:roundedCorners val="0"/>
  <c:chart>
    <c:autoTitleDeleted val="1"/>
    <c:plotArea>
      <c:barChart>
        <c:barDir val="col"/>
        <c:grouping val="clustered"/>
        <c:varyColors val="0"/>
        <c:ser>
          <c:idx val="0"/>
          <c:order val="0"/>
          <c:tx>
            <c:strRef>
              <c:f>label 0</c:f>
              <c:strCache>
                <c:ptCount val="1"/>
                <c:pt idx="0">
                  <c:v>Anti (0–0.33)</c:v>
                </c:pt>
              </c:strCache>
            </c:strRef>
          </c:tx>
          <c:spPr>
            <a:solidFill>
              <a:srgbClr val="e87722"/>
            </a:solidFill>
            <a:ln w="0">
              <a:noFill/>
            </a:ln>
          </c:spPr>
          <c:invertIfNegative val="0"/>
          <c:dLbls>
            <c:numFmt formatCode="#,##0" sourceLinked="0"/>
            <c:txPr>
              <a:bodyPr wrap="square"/>
              <a:lstStyle/>
              <a:p>
                <a:pPr>
                  <a:defRPr b="0" sz="700" spc="-1" strike="noStrike">
                    <a:solidFill>
                      <a:srgbClr val="333333"/>
                    </a:solidFill>
                    <a:latin typeface="Arial"/>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Bipolarization</c:v>
                </c:pt>
                <c:pt idx="1">
                  <c:v>Clustering</c:v>
                </c:pt>
                <c:pt idx="2">
                  <c:v>Consensus</c:v>
                </c:pt>
                <c:pt idx="3">
                  <c:v>No-Change</c:v>
                </c:pt>
              </c:strCache>
            </c:strRef>
          </c:cat>
          <c:val>
            <c:numRef>
              <c:f>0</c:f>
              <c:numCache>
                <c:formatCode>General</c:formatCode>
                <c:ptCount val="4"/>
                <c:pt idx="0">
                  <c:v>0.2124</c:v>
                </c:pt>
                <c:pt idx="1">
                  <c:v>0.114</c:v>
                </c:pt>
                <c:pt idx="2">
                  <c:v>0.1593</c:v>
                </c:pt>
                <c:pt idx="3">
                  <c:v>0.0671</c:v>
                </c:pt>
              </c:numCache>
            </c:numRef>
          </c:val>
        </c:ser>
        <c:ser>
          <c:idx val="1"/>
          <c:order val="1"/>
          <c:tx>
            <c:strRef>
              <c:f>label 1</c:f>
              <c:strCache>
                <c:ptCount val="1"/>
                <c:pt idx="0">
                  <c:v>Moderate (0.33–0.67)</c:v>
                </c:pt>
              </c:strCache>
            </c:strRef>
          </c:tx>
          <c:spPr>
            <a:solidFill>
              <a:srgbClr val="2e75b6"/>
            </a:solidFill>
            <a:ln w="0">
              <a:noFill/>
            </a:ln>
          </c:spPr>
          <c:invertIfNegative val="0"/>
          <c:dLbls>
            <c:numFmt formatCode="#,##0" sourceLinked="0"/>
            <c:txPr>
              <a:bodyPr wrap="square"/>
              <a:lstStyle/>
              <a:p>
                <a:pPr>
                  <a:defRPr b="0" sz="700" spc="-1" strike="noStrike">
                    <a:solidFill>
                      <a:srgbClr val="333333"/>
                    </a:solidFill>
                    <a:latin typeface="Arial"/>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Bipolarization</c:v>
                </c:pt>
                <c:pt idx="1">
                  <c:v>Clustering</c:v>
                </c:pt>
                <c:pt idx="2">
                  <c:v>Consensus</c:v>
                </c:pt>
                <c:pt idx="3">
                  <c:v>No-Change</c:v>
                </c:pt>
              </c:strCache>
            </c:strRef>
          </c:cat>
          <c:val>
            <c:numRef>
              <c:f>1</c:f>
              <c:numCache>
                <c:formatCode>General</c:formatCode>
                <c:ptCount val="4"/>
                <c:pt idx="0">
                  <c:v>0.1338</c:v>
                </c:pt>
                <c:pt idx="1">
                  <c:v>0.0863</c:v>
                </c:pt>
                <c:pt idx="2">
                  <c:v>0.0918</c:v>
                </c:pt>
                <c:pt idx="3">
                  <c:v>0.041</c:v>
                </c:pt>
              </c:numCache>
            </c:numRef>
          </c:val>
        </c:ser>
        <c:ser>
          <c:idx val="2"/>
          <c:order val="2"/>
          <c:tx>
            <c:strRef>
              <c:f>label 2</c:f>
              <c:strCache>
                <c:ptCount val="1"/>
                <c:pt idx="0">
                  <c:v>Pro (0.67–1.0)</c:v>
                </c:pt>
              </c:strCache>
            </c:strRef>
          </c:tx>
          <c:spPr>
            <a:solidFill>
              <a:srgbClr val="a33b20"/>
            </a:solidFill>
            <a:ln w="0">
              <a:noFill/>
            </a:ln>
          </c:spPr>
          <c:invertIfNegative val="0"/>
          <c:dLbls>
            <c:numFmt formatCode="#,##0" sourceLinked="0"/>
            <c:txPr>
              <a:bodyPr wrap="square"/>
              <a:lstStyle/>
              <a:p>
                <a:pPr>
                  <a:defRPr b="0" sz="700" spc="-1" strike="noStrike">
                    <a:solidFill>
                      <a:srgbClr val="333333"/>
                    </a:solidFill>
                    <a:latin typeface="Arial"/>
                    <a:ea typeface="DejaVu Sans"/>
                  </a:defRPr>
                </a:pPr>
              </a:p>
            </c:txPr>
            <c:dLblPos val="outEnd"/>
            <c:showLegendKey val="0"/>
            <c:showVal val="1"/>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4"/>
                <c:pt idx="0">
                  <c:v>Bipolarization</c:v>
                </c:pt>
                <c:pt idx="1">
                  <c:v>Clustering</c:v>
                </c:pt>
                <c:pt idx="2">
                  <c:v>Consensus</c:v>
                </c:pt>
                <c:pt idx="3">
                  <c:v>No-Change</c:v>
                </c:pt>
              </c:strCache>
            </c:strRef>
          </c:cat>
          <c:val>
            <c:numRef>
              <c:f>2</c:f>
              <c:numCache>
                <c:formatCode>General</c:formatCode>
                <c:ptCount val="4"/>
                <c:pt idx="0">
                  <c:v>0.1738</c:v>
                </c:pt>
                <c:pt idx="1">
                  <c:v>0.1554</c:v>
                </c:pt>
                <c:pt idx="2">
                  <c:v>0.2177</c:v>
                </c:pt>
                <c:pt idx="3">
                  <c:v>0.03</c:v>
                </c:pt>
              </c:numCache>
            </c:numRef>
          </c:val>
        </c:ser>
        <c:gapWidth val="150"/>
        <c:overlap val="0"/>
        <c:axId val="8260015"/>
        <c:axId val="54463089"/>
      </c:barChart>
      <c:catAx>
        <c:axId val="8260015"/>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200" spc="-1" strike="noStrike">
                <a:solidFill>
                  <a:srgbClr val="666666"/>
                </a:solidFill>
                <a:latin typeface="Arial"/>
                <a:ea typeface="DejaVu Sans"/>
              </a:defRPr>
            </a:pPr>
          </a:p>
        </c:txPr>
        <c:crossAx val="54463089"/>
        <c:crosses val="autoZero"/>
        <c:auto val="1"/>
        <c:lblAlgn val="ctr"/>
        <c:lblOffset val="100"/>
        <c:noMultiLvlLbl val="0"/>
      </c:catAx>
      <c:valAx>
        <c:axId val="54463089"/>
        <c:scaling>
          <c:orientation val="minMax"/>
          <c:max val="0.28"/>
          <c:min val="0"/>
        </c:scaling>
        <c:delete val="0"/>
        <c:axPos val="l"/>
        <c:majorGridlines>
          <c:spPr>
            <a:ln w="6480">
              <a:solidFill>
                <a:srgbClr val="eeeeee"/>
              </a:solidFill>
              <a:round/>
            </a:ln>
          </c:spPr>
        </c:majorGridlines>
        <c:numFmt formatCode="General" sourceLinked="0"/>
        <c:majorTickMark val="out"/>
        <c:minorTickMark val="none"/>
        <c:tickLblPos val="nextTo"/>
        <c:spPr>
          <a:ln w="12600">
            <a:solidFill>
              <a:srgbClr val="888888"/>
            </a:solidFill>
            <a:round/>
          </a:ln>
        </c:spPr>
        <c:txPr>
          <a:bodyPr/>
          <a:lstStyle/>
          <a:p>
            <a:pPr>
              <a:defRPr b="0" sz="1200" spc="-1" strike="noStrike">
                <a:solidFill>
                  <a:srgbClr val="666666"/>
                </a:solidFill>
                <a:latin typeface="Arial"/>
                <a:ea typeface="DejaVu Sans"/>
              </a:defRPr>
            </a:pPr>
          </a:p>
        </c:txPr>
        <c:crossAx val="8260015"/>
        <c:crosses val="autoZero"/>
        <c:crossBetween val="between"/>
      </c:valAx>
      <c:spPr>
        <a:noFill/>
        <a:ln w="0">
          <a:noFill/>
        </a:ln>
      </c:spPr>
    </c:plotArea>
    <c:legend>
      <c:legendPos val="b"/>
      <c:overlay val="0"/>
      <c:spPr>
        <a:noFill/>
        <a:ln w="0">
          <a:noFill/>
        </a:ln>
      </c:spPr>
      <c:txPr>
        <a:bodyPr/>
        <a:lstStyle/>
        <a:p>
          <a:pPr>
            <a:defRPr b="0" sz="900" spc="-1" strike="noStrike">
              <a:solidFill>
                <a:srgbClr val="000000"/>
              </a:solidFill>
              <a:latin typeface="Calibri"/>
              <a:ea typeface="DejaVu Sans"/>
            </a:defRPr>
          </a:pPr>
        </a:p>
      </c:txPr>
    </c:legend>
    <c:plotVisOnly val="1"/>
    <c:dispBlanksAs val="span"/>
  </c:chart>
  <c:spPr>
    <a:solidFill>
      <a:srgbClr val="ffffff"/>
    </a:solidFill>
    <a:ln w="936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to move </a:t>
            </a:r>
            <a:r>
              <a:rPr b="0" lang="en-US" sz="4400" spc="-1" strike="noStrike">
                <a:latin typeface="Arial"/>
              </a:rPr>
              <a:t>the slide</a:t>
            </a:r>
            <a:endParaRPr b="0" lang="en-US" sz="4400" spc="-1" strike="noStrike">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the notes format</a:t>
            </a:r>
            <a:endParaRPr b="0" lang="en-US"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E1584F6B-F2E9-42B4-9F38-737ADA3C3CD4}"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PlaceHolder 1"/>
          <p:cNvSpPr>
            <a:spLocks noGrp="1"/>
          </p:cNvSpPr>
          <p:nvPr>
            <p:ph type="sldImg"/>
          </p:nvPr>
        </p:nvSpPr>
        <p:spPr>
          <a:xfrm>
            <a:off x="685800" y="1143000"/>
            <a:ext cx="5485680" cy="3085560"/>
          </a:xfrm>
          <a:prstGeom prst="rect">
            <a:avLst/>
          </a:prstGeom>
          <a:ln w="0">
            <a:noFill/>
          </a:ln>
        </p:spPr>
      </p:sp>
      <p:sp>
        <p:nvSpPr>
          <p:cNvPr id="16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66" name="PlaceHolder 3"/>
          <p:cNvSpPr>
            <a:spLocks noGrp="1"/>
          </p:cNvSpPr>
          <p:nvPr>
            <p:ph type="sldNum" idx="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9E3BD70-188B-4832-8838-3BC3C860B5C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685800" y="1143000"/>
            <a:ext cx="5485680" cy="3085560"/>
          </a:xfrm>
          <a:prstGeom prst="rect">
            <a:avLst/>
          </a:prstGeom>
          <a:ln w="0">
            <a:noFill/>
          </a:ln>
        </p:spPr>
      </p:sp>
      <p:sp>
        <p:nvSpPr>
          <p:cNvPr id="16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69" name="PlaceHolder 3"/>
          <p:cNvSpPr>
            <a:spLocks noGrp="1"/>
          </p:cNvSpPr>
          <p:nvPr>
            <p:ph type="sldNum" idx="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89A0D0A-8F93-4E25-A8BE-30B51D8F1788}"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sldImg"/>
          </p:nvPr>
        </p:nvSpPr>
        <p:spPr>
          <a:xfrm>
            <a:off x="685800" y="1143000"/>
            <a:ext cx="5485680" cy="3085560"/>
          </a:xfrm>
          <a:prstGeom prst="rect">
            <a:avLst/>
          </a:prstGeom>
          <a:ln w="0">
            <a:noFill/>
          </a:ln>
        </p:spPr>
      </p:sp>
      <p:sp>
        <p:nvSpPr>
          <p:cNvPr id="17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72" name="PlaceHolder 3"/>
          <p:cNvSpPr>
            <a:spLocks noGrp="1"/>
          </p:cNvSpPr>
          <p:nvPr>
            <p:ph type="sldNum" idx="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19C367D-CA01-40CB-8D5D-B5DE667E4DE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PlaceHolder 1"/>
          <p:cNvSpPr>
            <a:spLocks noGrp="1"/>
          </p:cNvSpPr>
          <p:nvPr>
            <p:ph type="sldImg"/>
          </p:nvPr>
        </p:nvSpPr>
        <p:spPr>
          <a:xfrm>
            <a:off x="685800" y="1143000"/>
            <a:ext cx="5485680" cy="3085560"/>
          </a:xfrm>
          <a:prstGeom prst="rect">
            <a:avLst/>
          </a:prstGeom>
          <a:ln w="0">
            <a:noFill/>
          </a:ln>
        </p:spPr>
      </p:sp>
      <p:sp>
        <p:nvSpPr>
          <p:cNvPr id="174"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75" name="PlaceHolder 3"/>
          <p:cNvSpPr>
            <a:spLocks noGrp="1"/>
          </p:cNvSpPr>
          <p:nvPr>
            <p:ph type="sldNum" idx="7"/>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39AE58A-7158-4753-B2BC-674D376DC5F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sldImg"/>
          </p:nvPr>
        </p:nvSpPr>
        <p:spPr>
          <a:xfrm>
            <a:off x="685800" y="1143000"/>
            <a:ext cx="5485680" cy="3085560"/>
          </a:xfrm>
          <a:prstGeom prst="rect">
            <a:avLst/>
          </a:prstGeom>
          <a:ln w="0">
            <a:noFill/>
          </a:ln>
        </p:spPr>
      </p:sp>
      <p:sp>
        <p:nvSpPr>
          <p:cNvPr id="177"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78" name="PlaceHolder 3"/>
          <p:cNvSpPr>
            <a:spLocks noGrp="1"/>
          </p:cNvSpPr>
          <p:nvPr>
            <p:ph type="sldNum" idx="8"/>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3BA5188-FB0A-4324-B5C1-78B2DA4AF6C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9" name="PlaceHolder 1"/>
          <p:cNvSpPr>
            <a:spLocks noGrp="1"/>
          </p:cNvSpPr>
          <p:nvPr>
            <p:ph type="sldImg"/>
          </p:nvPr>
        </p:nvSpPr>
        <p:spPr>
          <a:xfrm>
            <a:off x="685800" y="1143000"/>
            <a:ext cx="5485680" cy="3085560"/>
          </a:xfrm>
          <a:prstGeom prst="rect">
            <a:avLst/>
          </a:prstGeom>
          <a:ln w="0">
            <a:noFill/>
          </a:ln>
        </p:spPr>
      </p:sp>
      <p:sp>
        <p:nvSpPr>
          <p:cNvPr id="180"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81" name="PlaceHolder 3"/>
          <p:cNvSpPr>
            <a:spLocks noGrp="1"/>
          </p:cNvSpPr>
          <p:nvPr>
            <p:ph type="sldNum" idx="9"/>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C7D3287-BB37-4F01-9430-540EBB8352D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sldImg"/>
          </p:nvPr>
        </p:nvSpPr>
        <p:spPr>
          <a:xfrm>
            <a:off x="685800" y="1143000"/>
            <a:ext cx="5485680" cy="3085560"/>
          </a:xfrm>
          <a:prstGeom prst="rect">
            <a:avLst/>
          </a:prstGeom>
          <a:ln w="0">
            <a:noFill/>
          </a:ln>
        </p:spPr>
      </p:sp>
      <p:sp>
        <p:nvSpPr>
          <p:cNvPr id="183"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84" name="PlaceHolder 3"/>
          <p:cNvSpPr>
            <a:spLocks noGrp="1"/>
          </p:cNvSpPr>
          <p:nvPr>
            <p:ph type="sldNum" idx="10"/>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D7557EE-651E-4D56-8350-0D916FF41F1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PlaceHolder 1"/>
          <p:cNvSpPr>
            <a:spLocks noGrp="1"/>
          </p:cNvSpPr>
          <p:nvPr>
            <p:ph type="sldImg"/>
          </p:nvPr>
        </p:nvSpPr>
        <p:spPr>
          <a:xfrm>
            <a:off x="685800" y="1143000"/>
            <a:ext cx="5485680" cy="3085560"/>
          </a:xfrm>
          <a:prstGeom prst="rect">
            <a:avLst/>
          </a:prstGeom>
          <a:ln w="0">
            <a:noFill/>
          </a:ln>
        </p:spPr>
      </p:sp>
      <p:sp>
        <p:nvSpPr>
          <p:cNvPr id="186"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87" name="PlaceHolder 3"/>
          <p:cNvSpPr>
            <a:spLocks noGrp="1"/>
          </p:cNvSpPr>
          <p:nvPr>
            <p:ph type="sldNum" idx="11"/>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6C05156-DB1D-461C-B883-0F6172411483}"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PlaceHolder 1"/>
          <p:cNvSpPr>
            <a:spLocks noGrp="1"/>
          </p:cNvSpPr>
          <p:nvPr>
            <p:ph type="sldImg"/>
          </p:nvPr>
        </p:nvSpPr>
        <p:spPr>
          <a:xfrm>
            <a:off x="685800" y="1143000"/>
            <a:ext cx="5485680" cy="3085560"/>
          </a:xfrm>
          <a:prstGeom prst="rect">
            <a:avLst/>
          </a:prstGeom>
          <a:ln w="0">
            <a:noFill/>
          </a:ln>
        </p:spPr>
      </p:sp>
      <p:sp>
        <p:nvSpPr>
          <p:cNvPr id="189"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90" name="PlaceHolder 3"/>
          <p:cNvSpPr>
            <a:spLocks noGrp="1"/>
          </p:cNvSpPr>
          <p:nvPr>
            <p:ph type="sldNum" idx="12"/>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A66DAAA-5C36-4F34-AF9D-53C93CCDEA10}"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PlaceHolder 1"/>
          <p:cNvSpPr>
            <a:spLocks noGrp="1"/>
          </p:cNvSpPr>
          <p:nvPr>
            <p:ph type="sldImg"/>
          </p:nvPr>
        </p:nvSpPr>
        <p:spPr>
          <a:xfrm>
            <a:off x="685800" y="1143000"/>
            <a:ext cx="5485680" cy="3085560"/>
          </a:xfrm>
          <a:prstGeom prst="rect">
            <a:avLst/>
          </a:prstGeom>
          <a:ln w="0">
            <a:noFill/>
          </a:ln>
        </p:spPr>
      </p:sp>
      <p:sp>
        <p:nvSpPr>
          <p:cNvPr id="192"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93" name="PlaceHolder 3"/>
          <p:cNvSpPr>
            <a:spLocks noGrp="1"/>
          </p:cNvSpPr>
          <p:nvPr>
            <p:ph type="sldNum" idx="13"/>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A7D5FD4-6A4D-4083-92B1-CFC47D4E60E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5680" cy="3085560"/>
          </a:xfrm>
          <a:prstGeom prst="rect">
            <a:avLst/>
          </a:prstGeom>
          <a:ln w="0">
            <a:noFill/>
          </a:ln>
        </p:spPr>
      </p:sp>
      <p:sp>
        <p:nvSpPr>
          <p:cNvPr id="19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96" name="PlaceHolder 3"/>
          <p:cNvSpPr>
            <a:spLocks noGrp="1"/>
          </p:cNvSpPr>
          <p:nvPr>
            <p:ph type="sldNum" idx="14"/>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3F57AAD-7083-45A5-BEF5-314313921C3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sldImg"/>
          </p:nvPr>
        </p:nvSpPr>
        <p:spPr>
          <a:xfrm>
            <a:off x="685800" y="1143000"/>
            <a:ext cx="5485680" cy="3085560"/>
          </a:xfrm>
          <a:prstGeom prst="rect">
            <a:avLst/>
          </a:prstGeom>
          <a:ln w="0">
            <a:noFill/>
          </a:ln>
        </p:spPr>
      </p:sp>
      <p:sp>
        <p:nvSpPr>
          <p:cNvPr id="198"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199" name="PlaceHolder 3"/>
          <p:cNvSpPr>
            <a:spLocks noGrp="1"/>
          </p:cNvSpPr>
          <p:nvPr>
            <p:ph type="sldNum" idx="15"/>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C593D49C-C8DF-468A-8B3B-194632320B7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sldImg"/>
          </p:nvPr>
        </p:nvSpPr>
        <p:spPr>
          <a:xfrm>
            <a:off x="685800" y="1143000"/>
            <a:ext cx="5485680" cy="3085560"/>
          </a:xfrm>
          <a:prstGeom prst="rect">
            <a:avLst/>
          </a:prstGeom>
          <a:ln w="0">
            <a:noFill/>
          </a:ln>
        </p:spPr>
      </p:sp>
      <p:sp>
        <p:nvSpPr>
          <p:cNvPr id="201"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US" sz="2000" spc="-1" strike="noStrike">
              <a:latin typeface="Arial"/>
            </a:endParaRPr>
          </a:p>
        </p:txBody>
      </p:sp>
      <p:sp>
        <p:nvSpPr>
          <p:cNvPr id="202" name="PlaceHolder 3"/>
          <p:cNvSpPr>
            <a:spLocks noGrp="1"/>
          </p:cNvSpPr>
          <p:nvPr>
            <p:ph type="sldNum" idx="16"/>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BCEAA047-96BD-43EF-B2D2-5DF2D53ED8B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Click to edit </a:t>
            </a:r>
            <a:r>
              <a:rPr b="0" lang="en-US" sz="4400" spc="-1" strike="noStrike">
                <a:latin typeface="Arial"/>
              </a:rPr>
              <a:t>the title text </a:t>
            </a:r>
            <a:r>
              <a:rPr b="0" lang="en-US" sz="4400" spc="-1" strike="noStrike">
                <a:latin typeface="Arial"/>
              </a:rPr>
              <a:t>format</a:t>
            </a:r>
            <a:endParaRPr b="0" lang="en-US" sz="4400" spc="-1" strike="noStrike">
              <a:latin typeface="Arial"/>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a5f"/>
        </a:solidFill>
      </p:bgPr>
    </p:bg>
    <p:spTree>
      <p:nvGrpSpPr>
        <p:cNvPr id="1" name=""/>
        <p:cNvGrpSpPr/>
        <p:nvPr/>
      </p:nvGrpSpPr>
      <p:grpSpPr>
        <a:xfrm>
          <a:off x="0" y="0"/>
          <a:ext cx="0" cy="0"/>
          <a:chOff x="0" y="0"/>
          <a:chExt cx="0" cy="0"/>
        </a:xfrm>
      </p:grpSpPr>
      <p:sp>
        <p:nvSpPr>
          <p:cNvPr id="44" name="Text 0"/>
          <p:cNvSpPr/>
          <p:nvPr/>
        </p:nvSpPr>
        <p:spPr>
          <a:xfrm>
            <a:off x="914400" y="1371600"/>
            <a:ext cx="7314480" cy="18280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3200" spc="-1" strike="noStrike">
                <a:solidFill>
                  <a:srgbClr val="ffffff"/>
                </a:solidFill>
                <a:latin typeface="Calibri"/>
                <a:ea typeface="DejaVu Sans"/>
              </a:rPr>
              <a:t>ABM Social Influence Models</a:t>
            </a:r>
            <a:endParaRPr b="0" lang="en-US" sz="3200" spc="-1" strike="noStrike">
              <a:latin typeface="Arial"/>
            </a:endParaRPr>
          </a:p>
          <a:p>
            <a:pPr algn="ctr">
              <a:lnSpc>
                <a:spcPct val="100000"/>
              </a:lnSpc>
              <a:buNone/>
              <a:tabLst>
                <a:tab algn="l" pos="0"/>
              </a:tabLst>
            </a:pPr>
            <a:r>
              <a:rPr b="1" lang="en-US" sz="3200" spc="-1" strike="noStrike">
                <a:solidFill>
                  <a:srgbClr val="ffffff"/>
                </a:solidFill>
                <a:latin typeface="Calibri"/>
                <a:ea typeface="DejaVu Sans"/>
              </a:rPr>
              <a:t>Results Summary</a:t>
            </a:r>
            <a:endParaRPr b="0" lang="en-US" sz="3200" spc="-1" strike="noStrike">
              <a:latin typeface="Arial"/>
            </a:endParaRPr>
          </a:p>
        </p:txBody>
      </p:sp>
      <p:sp>
        <p:nvSpPr>
          <p:cNvPr id="45" name="Text 1"/>
          <p:cNvSpPr/>
          <p:nvPr/>
        </p:nvSpPr>
        <p:spPr>
          <a:xfrm>
            <a:off x="914400" y="3291840"/>
            <a:ext cx="7314480" cy="9136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i="1" lang="en-US" sz="1400" spc="-1" strike="noStrike">
                <a:solidFill>
                  <a:srgbClr val="cadcfc"/>
                </a:solidFill>
                <a:latin typeface="Calibri"/>
                <a:ea typeface="DejaVu Sans"/>
              </a:rPr>
              <a:t>Consensus · Clustering · Bipolarization · No-Change</a:t>
            </a:r>
            <a:endParaRPr b="0" lang="en-US" sz="1400" spc="-1" strike="noStrike">
              <a:latin typeface="Arial"/>
            </a:endParaRPr>
          </a:p>
          <a:p>
            <a:pPr algn="ctr">
              <a:lnSpc>
                <a:spcPct val="100000"/>
              </a:lnSpc>
              <a:buNone/>
              <a:tabLst>
                <a:tab algn="l" pos="0"/>
              </a:tabLst>
            </a:pPr>
            <a:r>
              <a:rPr b="0" i="1" lang="en-US" sz="1400" spc="-1" strike="noStrike">
                <a:solidFill>
                  <a:srgbClr val="cadcfc"/>
                </a:solidFill>
                <a:latin typeface="Calibri"/>
                <a:ea typeface="DejaVu Sans"/>
              </a:rPr>
              <a:t>All models · Non-distinct agents · No speaking mode</a:t>
            </a:r>
            <a:endParaRPr b="0" lang="en-US" sz="1400" spc="-1" strike="noStrike">
              <a:latin typeface="Arial"/>
            </a:endParaRPr>
          </a:p>
        </p:txBody>
      </p:sp>
      <p:sp>
        <p:nvSpPr>
          <p:cNvPr id="46" name="Text 2"/>
          <p:cNvSpPr/>
          <p:nvPr/>
        </p:nvSpPr>
        <p:spPr>
          <a:xfrm>
            <a:off x="914400" y="4389120"/>
            <a:ext cx="7314480" cy="3650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900" spc="-1" strike="noStrike">
                <a:solidFill>
                  <a:srgbClr val="aaaaaa"/>
                </a:solidFill>
                <a:latin typeface="Calibri"/>
                <a:ea typeface="DejaVu Sans"/>
              </a:rPr>
              <a:t>Data: batch_summary.csv + agent_level_results.csv + data_complete_anonymised.csv</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48"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BATCH LEVEL — MODEL PERFORMANCE</a:t>
            </a:r>
            <a:endParaRPr b="0" lang="en-US" sz="1000" spc="-1" strike="noStrike">
              <a:latin typeface="Arial"/>
            </a:endParaRPr>
          </a:p>
        </p:txBody>
      </p:sp>
      <p:sp>
        <p:nvSpPr>
          <p:cNvPr id="49"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Model Comparison — Boss Table</a:t>
            </a:r>
            <a:endParaRPr b="0" lang="en-US" sz="2000" spc="-1" strike="noStrike">
              <a:latin typeface="Arial"/>
            </a:endParaRPr>
          </a:p>
        </p:txBody>
      </p:sp>
      <p:sp>
        <p:nvSpPr>
          <p:cNvPr id="50"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graphicFrame>
        <p:nvGraphicFramePr>
          <p:cNvPr id="51" name="Table 0"/>
          <p:cNvGraphicFramePr/>
          <p:nvPr/>
        </p:nvGraphicFramePr>
        <p:xfrm>
          <a:off x="274320" y="1143000"/>
          <a:ext cx="7680600" cy="0"/>
        </p:xfrm>
        <a:graphic>
          <a:graphicData uri="http://schemas.openxmlformats.org/drawingml/2006/table">
            <a:tbl>
              <a:tblPr/>
              <a:tblGrid>
                <a:gridCol w="1463040"/>
                <a:gridCol w="914400"/>
                <a:gridCol w="914400"/>
                <a:gridCol w="914400"/>
                <a:gridCol w="1371600"/>
                <a:gridCol w="1371600"/>
                <a:gridCol w="731520"/>
              </a:tblGrid>
              <a:tr h="0">
                <a:tc>
                  <a:txBody>
                    <a:bodyPr anchor="t">
                      <a:noAutofit/>
                    </a:bodyPr>
                    <a:p>
                      <a:pPr algn="ctr">
                        <a:lnSpc>
                          <a:spcPct val="100000"/>
                        </a:lnSpc>
                        <a:buNone/>
                        <a:tabLst>
                          <a:tab algn="l" pos="0"/>
                        </a:tabLst>
                      </a:pPr>
                      <a:r>
                        <a:rPr b="1" lang="en-US" sz="900" spc="-1" strike="noStrike">
                          <a:solidFill>
                            <a:srgbClr val="ffffff"/>
                          </a:solidFill>
                          <a:latin typeface="Calibri"/>
                        </a:rPr>
                        <a:t>Model Type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Use Distinct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Mean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Best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Conv. Speed (cycles)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Failure Rate (&gt;0.15)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0.1363</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0.0201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25.0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20.42%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480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0.1049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0.0162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29.4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19.61%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510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0.1317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0.0364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28.4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42.64%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720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0.0375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0.0156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165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52" name="Text 4"/>
          <p:cNvSpPr/>
          <p:nvPr/>
        </p:nvSpPr>
        <p:spPr>
          <a:xfrm>
            <a:off x="274320" y="2394000"/>
            <a:ext cx="8594640" cy="319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900" spc="-1" strike="noStrike">
                <a:solidFill>
                  <a:srgbClr val="666666"/>
                </a:solidFill>
                <a:latin typeface="Calibri"/>
                <a:ea typeface="DejaVu Sans"/>
              </a:rPr>
              <a:t>How to read: Failure Rate = % runs with MAE &gt; 0.15. Best MAE = single best run. Convergence speed = mean cycles to converge.</a:t>
            </a:r>
            <a:endParaRPr b="0" lang="en-US" sz="900" spc="-1" strike="noStrike">
              <a:latin typeface="Arial"/>
            </a:endParaRPr>
          </a:p>
        </p:txBody>
      </p:sp>
      <p:sp>
        <p:nvSpPr>
          <p:cNvPr id="53" name="Text 5"/>
          <p:cNvSpPr/>
          <p:nvPr/>
        </p:nvSpPr>
        <p:spPr>
          <a:xfrm>
            <a:off x="274320" y="273060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Interpretation</a:t>
            </a:r>
            <a:endParaRPr b="0" lang="en-US" sz="1100" spc="-1" strike="noStrike">
              <a:latin typeface="Arial"/>
            </a:endParaRPr>
          </a:p>
        </p:txBody>
      </p:sp>
      <p:sp>
        <p:nvSpPr>
          <p:cNvPr id="54" name="Text 6"/>
          <p:cNvSpPr/>
          <p:nvPr/>
        </p:nvSpPr>
        <p:spPr>
          <a:xfrm>
            <a:off x="274320" y="2834640"/>
            <a:ext cx="8594640" cy="10965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Clustering achieves the lowest mean MAE (0.105) with the lowest failure rate (19.6%). No-change baseline is the strongest overall (MAE=0.038), outperforming all social influence models on average. Consensus has the highest failure rate (42.6%) — it converges too aggressively for many debates. Bipolarization achieves the single best run (MAE=0.020) but is the least consistent.</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56"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BATCH LEVEL — CONDITION BREAKDOWN</a:t>
            </a:r>
            <a:endParaRPr b="0" lang="en-US" sz="1000" spc="-1" strike="noStrike">
              <a:latin typeface="Arial"/>
            </a:endParaRPr>
          </a:p>
        </p:txBody>
      </p:sp>
      <p:sp>
        <p:nvSpPr>
          <p:cNvPr id="57"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Model Performance by Debate Condition</a:t>
            </a:r>
            <a:endParaRPr b="0" lang="en-US" sz="2000" spc="-1" strike="noStrike">
              <a:latin typeface="Arial"/>
            </a:endParaRPr>
          </a:p>
        </p:txBody>
      </p:sp>
      <p:sp>
        <p:nvSpPr>
          <p:cNvPr id="58"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graphicFrame>
        <p:nvGraphicFramePr>
          <p:cNvPr id="59" name="Table 0"/>
          <p:cNvGraphicFramePr/>
          <p:nvPr/>
        </p:nvGraphicFramePr>
        <p:xfrm>
          <a:off x="274320" y="1143000"/>
          <a:ext cx="6766200" cy="0"/>
        </p:xfrm>
        <a:graphic>
          <a:graphicData uri="http://schemas.openxmlformats.org/drawingml/2006/table">
            <a:tbl>
              <a:tblPr/>
              <a:tblGrid>
                <a:gridCol w="1463040"/>
                <a:gridCol w="1280160"/>
                <a:gridCol w="914400"/>
                <a:gridCol w="914400"/>
                <a:gridCol w="914400"/>
                <a:gridCol w="1280160"/>
              </a:tblGrid>
              <a:tr h="0">
                <a:tc>
                  <a:txBody>
                    <a:bodyPr anchor="t">
                      <a:noAutofit/>
                    </a:bodyPr>
                    <a:p>
                      <a:pPr algn="ctr">
                        <a:lnSpc>
                          <a:spcPct val="100000"/>
                        </a:lnSpc>
                        <a:buNone/>
                        <a:tabLst>
                          <a:tab algn="l" pos="0"/>
                        </a:tabLst>
                      </a:pPr>
                      <a:r>
                        <a:rPr b="1" lang="en-US" sz="900" spc="-1" strike="noStrike">
                          <a:solidFill>
                            <a:srgbClr val="ffffff"/>
                          </a:solidFill>
                          <a:latin typeface="Calibri"/>
                        </a:rPr>
                        <a:t>Model Type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Condition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Use Distinct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Mean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Min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N Debates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0.1706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0.0201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0.0791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0.0466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0.1109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0.0162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0.0856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0.0480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0.1461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0.0364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0.0769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0.0427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0.0366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0.0156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0.0466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0.0466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60" name="Text 4"/>
          <p:cNvSpPr/>
          <p:nvPr/>
        </p:nvSpPr>
        <p:spPr>
          <a:xfrm>
            <a:off x="274320" y="324612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Interpretation</a:t>
            </a:r>
            <a:endParaRPr b="0" lang="en-US" sz="1100" spc="-1" strike="noStrike">
              <a:latin typeface="Arial"/>
            </a:endParaRPr>
          </a:p>
        </p:txBody>
      </p:sp>
      <p:sp>
        <p:nvSpPr>
          <p:cNvPr id="61" name="Text 5"/>
          <p:cNvSpPr/>
          <p:nvPr/>
        </p:nvSpPr>
        <p:spPr>
          <a:xfrm>
            <a:off x="274320" y="3566160"/>
            <a:ext cx="8594640" cy="10051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All models perform substantially better on homogeneous (H) debates than heterogeneous (M) debates. The gap is largest for bipolarization (0.079 vs 0.171). For homogeneous debates, consensus (0.077) and bipolarization (0.079) are near-equivalent. No-change baseline only has 1 homogeneous debate in this run — caution interpreting that figure.</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2"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63"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BATCH LEVEL — H vs M COMPARISON</a:t>
            </a:r>
            <a:endParaRPr b="0" lang="en-US" sz="1000" spc="-1" strike="noStrike">
              <a:latin typeface="Arial"/>
            </a:endParaRPr>
          </a:p>
        </p:txBody>
      </p:sp>
      <p:sp>
        <p:nvSpPr>
          <p:cNvPr id="64"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H4 — Debate Composition: Homogeneous vs Mixed</a:t>
            </a:r>
            <a:endParaRPr b="0" lang="en-US" sz="2000" spc="-1" strike="noStrike">
              <a:latin typeface="Arial"/>
            </a:endParaRPr>
          </a:p>
        </p:txBody>
      </p:sp>
      <p:sp>
        <p:nvSpPr>
          <p:cNvPr id="65"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graphicFrame>
        <p:nvGraphicFramePr>
          <p:cNvPr id="66" name="Chart 0"/>
          <p:cNvGraphicFramePr/>
          <p:nvPr/>
        </p:nvGraphicFramePr>
        <p:xfrm>
          <a:off x="274320" y="1143000"/>
          <a:ext cx="5485680" cy="2742480"/>
        </p:xfrm>
        <a:graphic>
          <a:graphicData uri="http://schemas.openxmlformats.org/drawingml/2006/chart">
            <c:chart xmlns:c="http://schemas.openxmlformats.org/drawingml/2006/chart" xmlns:r="http://schemas.openxmlformats.org/officeDocument/2006/relationships" r:id="rId1"/>
          </a:graphicData>
        </a:graphic>
      </p:graphicFrame>
      <p:sp>
        <p:nvSpPr>
          <p:cNvPr id="67" name="Shape 4"/>
          <p:cNvSpPr/>
          <p:nvPr/>
        </p:nvSpPr>
        <p:spPr>
          <a:xfrm>
            <a:off x="5943600" y="1143000"/>
            <a:ext cx="2925360" cy="2742480"/>
          </a:xfrm>
          <a:prstGeom prst="rect">
            <a:avLst/>
          </a:prstGeom>
          <a:solidFill>
            <a:srgbClr val="f5f5f5"/>
          </a:solidFill>
          <a:ln w="12700">
            <a:solidFill>
              <a:srgbClr val="cccccc"/>
            </a:solidFill>
            <a:round/>
          </a:ln>
        </p:spPr>
        <p:style>
          <a:lnRef idx="0"/>
          <a:fillRef idx="0"/>
          <a:effectRef idx="0"/>
          <a:fontRef idx="minor"/>
        </p:style>
      </p:sp>
      <p:sp>
        <p:nvSpPr>
          <p:cNvPr id="68" name="Text 5"/>
          <p:cNvSpPr/>
          <p:nvPr/>
        </p:nvSpPr>
        <p:spPr>
          <a:xfrm>
            <a:off x="6035040" y="1234440"/>
            <a:ext cx="2742480" cy="319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Statistical Test</a:t>
            </a:r>
            <a:endParaRPr b="0" lang="en-US" sz="1100" spc="-1" strike="noStrike">
              <a:latin typeface="Arial"/>
            </a:endParaRPr>
          </a:p>
        </p:txBody>
      </p:sp>
      <p:sp>
        <p:nvSpPr>
          <p:cNvPr id="69" name="Text 6"/>
          <p:cNvSpPr/>
          <p:nvPr/>
        </p:nvSpPr>
        <p:spPr>
          <a:xfrm>
            <a:off x="6035040" y="1645920"/>
            <a:ext cx="127944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900" spc="-1" strike="noStrike">
                <a:solidFill>
                  <a:srgbClr val="666666"/>
                </a:solidFill>
                <a:latin typeface="Calibri"/>
                <a:ea typeface="DejaVu Sans"/>
              </a:rPr>
              <a:t>Wilcoxon W:</a:t>
            </a:r>
            <a:endParaRPr b="0" lang="en-US" sz="900" spc="-1" strike="noStrike">
              <a:latin typeface="Arial"/>
            </a:endParaRPr>
          </a:p>
        </p:txBody>
      </p:sp>
      <p:sp>
        <p:nvSpPr>
          <p:cNvPr id="70" name="Text 7"/>
          <p:cNvSpPr/>
          <p:nvPr/>
        </p:nvSpPr>
        <p:spPr>
          <a:xfrm>
            <a:off x="7360920" y="1645920"/>
            <a:ext cx="141660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900" spc="-1" strike="noStrike">
                <a:solidFill>
                  <a:srgbClr val="333333"/>
                </a:solidFill>
                <a:latin typeface="Calibri"/>
                <a:ea typeface="DejaVu Sans"/>
              </a:rPr>
              <a:t>162,531</a:t>
            </a:r>
            <a:endParaRPr b="0" lang="en-US" sz="900" spc="-1" strike="noStrike">
              <a:latin typeface="Arial"/>
            </a:endParaRPr>
          </a:p>
        </p:txBody>
      </p:sp>
      <p:sp>
        <p:nvSpPr>
          <p:cNvPr id="71" name="Text 8"/>
          <p:cNvSpPr/>
          <p:nvPr/>
        </p:nvSpPr>
        <p:spPr>
          <a:xfrm>
            <a:off x="6035040" y="2030040"/>
            <a:ext cx="127944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900" spc="-1" strike="noStrike">
                <a:solidFill>
                  <a:srgbClr val="666666"/>
                </a:solidFill>
                <a:latin typeface="Calibri"/>
                <a:ea typeface="DejaVu Sans"/>
              </a:rPr>
              <a:t>p-value:</a:t>
            </a:r>
            <a:endParaRPr b="0" lang="en-US" sz="900" spc="-1" strike="noStrike">
              <a:latin typeface="Arial"/>
            </a:endParaRPr>
          </a:p>
        </p:txBody>
      </p:sp>
      <p:sp>
        <p:nvSpPr>
          <p:cNvPr id="72" name="Text 9"/>
          <p:cNvSpPr/>
          <p:nvPr/>
        </p:nvSpPr>
        <p:spPr>
          <a:xfrm>
            <a:off x="7360920" y="2030040"/>
            <a:ext cx="141660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900" spc="-1" strike="noStrike">
                <a:solidFill>
                  <a:srgbClr val="333333"/>
                </a:solidFill>
                <a:latin typeface="Calibri"/>
                <a:ea typeface="DejaVu Sans"/>
              </a:rPr>
              <a:t>6.35e-60</a:t>
            </a:r>
            <a:endParaRPr b="0" lang="en-US" sz="900" spc="-1" strike="noStrike">
              <a:latin typeface="Arial"/>
            </a:endParaRPr>
          </a:p>
        </p:txBody>
      </p:sp>
      <p:sp>
        <p:nvSpPr>
          <p:cNvPr id="73" name="Text 10"/>
          <p:cNvSpPr/>
          <p:nvPr/>
        </p:nvSpPr>
        <p:spPr>
          <a:xfrm>
            <a:off x="6035040" y="2414160"/>
            <a:ext cx="127944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900" spc="-1" strike="noStrike">
                <a:solidFill>
                  <a:srgbClr val="666666"/>
                </a:solidFill>
                <a:latin typeface="Calibri"/>
                <a:ea typeface="DejaVu Sans"/>
              </a:rPr>
              <a:t>H mean MAE:</a:t>
            </a:r>
            <a:endParaRPr b="0" lang="en-US" sz="900" spc="-1" strike="noStrike">
              <a:latin typeface="Arial"/>
            </a:endParaRPr>
          </a:p>
        </p:txBody>
      </p:sp>
      <p:sp>
        <p:nvSpPr>
          <p:cNvPr id="74" name="Text 11"/>
          <p:cNvSpPr/>
          <p:nvPr/>
        </p:nvSpPr>
        <p:spPr>
          <a:xfrm>
            <a:off x="7360920" y="2414160"/>
            <a:ext cx="141660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900" spc="-1" strike="noStrike">
                <a:solidFill>
                  <a:srgbClr val="333333"/>
                </a:solidFill>
                <a:latin typeface="Calibri"/>
                <a:ea typeface="DejaVu Sans"/>
              </a:rPr>
              <a:t>0.0769–0.0856</a:t>
            </a:r>
            <a:endParaRPr b="0" lang="en-US" sz="900" spc="-1" strike="noStrike">
              <a:latin typeface="Arial"/>
            </a:endParaRPr>
          </a:p>
        </p:txBody>
      </p:sp>
      <p:sp>
        <p:nvSpPr>
          <p:cNvPr id="75" name="Text 12"/>
          <p:cNvSpPr/>
          <p:nvPr/>
        </p:nvSpPr>
        <p:spPr>
          <a:xfrm>
            <a:off x="6035040" y="2797920"/>
            <a:ext cx="127944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900" spc="-1" strike="noStrike">
                <a:solidFill>
                  <a:srgbClr val="666666"/>
                </a:solidFill>
                <a:latin typeface="Calibri"/>
                <a:ea typeface="DejaVu Sans"/>
              </a:rPr>
              <a:t>M mean MAE:</a:t>
            </a:r>
            <a:endParaRPr b="0" lang="en-US" sz="900" spc="-1" strike="noStrike">
              <a:latin typeface="Arial"/>
            </a:endParaRPr>
          </a:p>
        </p:txBody>
      </p:sp>
      <p:sp>
        <p:nvSpPr>
          <p:cNvPr id="76" name="Text 13"/>
          <p:cNvSpPr/>
          <p:nvPr/>
        </p:nvSpPr>
        <p:spPr>
          <a:xfrm>
            <a:off x="7360920" y="2797920"/>
            <a:ext cx="141660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900" spc="-1" strike="noStrike">
                <a:solidFill>
                  <a:srgbClr val="333333"/>
                </a:solidFill>
                <a:latin typeface="Calibri"/>
                <a:ea typeface="DejaVu Sans"/>
              </a:rPr>
              <a:t>0.1109–0.1706</a:t>
            </a:r>
            <a:endParaRPr b="0" lang="en-US" sz="900" spc="-1" strike="noStrike">
              <a:latin typeface="Arial"/>
            </a:endParaRPr>
          </a:p>
        </p:txBody>
      </p:sp>
      <p:sp>
        <p:nvSpPr>
          <p:cNvPr id="77" name="Text 14"/>
          <p:cNvSpPr/>
          <p:nvPr/>
        </p:nvSpPr>
        <p:spPr>
          <a:xfrm>
            <a:off x="6035040" y="3182040"/>
            <a:ext cx="127944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900" spc="-1" strike="noStrike">
                <a:solidFill>
                  <a:srgbClr val="666666"/>
                </a:solidFill>
                <a:latin typeface="Calibri"/>
                <a:ea typeface="DejaVu Sans"/>
              </a:rPr>
              <a:t>Interpretation:</a:t>
            </a:r>
            <a:endParaRPr b="0" lang="en-US" sz="900" spc="-1" strike="noStrike">
              <a:latin typeface="Arial"/>
            </a:endParaRPr>
          </a:p>
        </p:txBody>
      </p:sp>
      <p:sp>
        <p:nvSpPr>
          <p:cNvPr id="78" name="Text 15"/>
          <p:cNvSpPr/>
          <p:nvPr/>
        </p:nvSpPr>
        <p:spPr>
          <a:xfrm>
            <a:off x="7360920" y="3182040"/>
            <a:ext cx="1416600" cy="346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900" spc="-1" strike="noStrike">
                <a:solidFill>
                  <a:srgbClr val="333333"/>
                </a:solidFill>
                <a:latin typeface="Calibri"/>
                <a:ea typeface="DejaVu Sans"/>
              </a:rPr>
              <a:t>H debates</a:t>
            </a:r>
            <a:endParaRPr b="0" lang="en-US" sz="900" spc="-1" strike="noStrike">
              <a:latin typeface="Arial"/>
            </a:endParaRPr>
          </a:p>
          <a:p>
            <a:pPr>
              <a:lnSpc>
                <a:spcPct val="100000"/>
              </a:lnSpc>
              <a:buNone/>
              <a:tabLst>
                <a:tab algn="l" pos="0"/>
              </a:tabLst>
            </a:pPr>
            <a:r>
              <a:rPr b="1" lang="en-US" sz="900" spc="-1" strike="noStrike">
                <a:solidFill>
                  <a:srgbClr val="333333"/>
                </a:solidFill>
                <a:latin typeface="Calibri"/>
                <a:ea typeface="DejaVu Sans"/>
              </a:rPr>
              <a:t>significantly</a:t>
            </a:r>
            <a:endParaRPr b="0" lang="en-US" sz="900" spc="-1" strike="noStrike">
              <a:latin typeface="Arial"/>
            </a:endParaRPr>
          </a:p>
          <a:p>
            <a:pPr>
              <a:lnSpc>
                <a:spcPct val="100000"/>
              </a:lnSpc>
              <a:buNone/>
              <a:tabLst>
                <a:tab algn="l" pos="0"/>
              </a:tabLst>
            </a:pPr>
            <a:r>
              <a:rPr b="1" lang="en-US" sz="900" spc="-1" strike="noStrike">
                <a:solidFill>
                  <a:srgbClr val="333333"/>
                </a:solidFill>
                <a:latin typeface="Calibri"/>
                <a:ea typeface="DejaVu Sans"/>
              </a:rPr>
              <a:t>easier to predict</a:t>
            </a:r>
            <a:endParaRPr b="0" lang="en-US" sz="900" spc="-1" strike="noStrike">
              <a:latin typeface="Arial"/>
            </a:endParaRPr>
          </a:p>
        </p:txBody>
      </p:sp>
      <p:sp>
        <p:nvSpPr>
          <p:cNvPr id="79" name="Text 16"/>
          <p:cNvSpPr/>
          <p:nvPr/>
        </p:nvSpPr>
        <p:spPr>
          <a:xfrm>
            <a:off x="274320" y="3977640"/>
            <a:ext cx="8594640" cy="7765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Interpretation: Homogeneous debates are systematically easier to predict across all models (Wilcoxon p=6.35e-60). The consensus model benefits most relatively from homogeneous composition.</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81"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BATCH LEVEL — CONVERGENCE DYNAMICS</a:t>
            </a:r>
            <a:endParaRPr b="0" lang="en-US" sz="1000" spc="-1" strike="noStrike">
              <a:latin typeface="Arial"/>
            </a:endParaRPr>
          </a:p>
        </p:txBody>
      </p:sp>
      <p:sp>
        <p:nvSpPr>
          <p:cNvPr id="82"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Convergence Analysis by Model &amp; Condition</a:t>
            </a:r>
            <a:endParaRPr b="0" lang="en-US" sz="2000" spc="-1" strike="noStrike">
              <a:latin typeface="Arial"/>
            </a:endParaRPr>
          </a:p>
        </p:txBody>
      </p:sp>
      <p:sp>
        <p:nvSpPr>
          <p:cNvPr id="83"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graphicFrame>
        <p:nvGraphicFramePr>
          <p:cNvPr id="84" name="Table 0"/>
          <p:cNvGraphicFramePr/>
          <p:nvPr/>
        </p:nvGraphicFramePr>
        <p:xfrm>
          <a:off x="274320" y="1143000"/>
          <a:ext cx="7680600" cy="0"/>
        </p:xfrm>
        <a:graphic>
          <a:graphicData uri="http://schemas.openxmlformats.org/drawingml/2006/table">
            <a:tbl>
              <a:tblPr/>
              <a:tblGrid>
                <a:gridCol w="1645920"/>
                <a:gridCol w="1280160"/>
                <a:gridCol w="1097280"/>
                <a:gridCol w="1005840"/>
                <a:gridCol w="1005840"/>
                <a:gridCol w="1645920"/>
              </a:tblGrid>
              <a:tr h="0">
                <a:tc>
                  <a:txBody>
                    <a:bodyPr anchor="t">
                      <a:noAutofit/>
                    </a:bodyPr>
                    <a:p>
                      <a:pPr algn="ctr">
                        <a:lnSpc>
                          <a:spcPct val="100000"/>
                        </a:lnSpc>
                        <a:buNone/>
                        <a:tabLst>
                          <a:tab algn="l" pos="0"/>
                        </a:tabLst>
                      </a:pPr>
                      <a:r>
                        <a:rPr b="1" lang="en-US" sz="900" spc="-1" strike="noStrike">
                          <a:solidFill>
                            <a:srgbClr val="ffffff"/>
                          </a:solidFill>
                          <a:latin typeface="Calibri"/>
                        </a:rPr>
                        <a:t>Model Type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Condition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Mean Cycles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SD Cycles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Min Cycles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Max Cycles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21.67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55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39.44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130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29.60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105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28.88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100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30.96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80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20.23</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40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15.00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15.00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85" name="Text 4"/>
          <p:cNvSpPr/>
          <p:nvPr/>
        </p:nvSpPr>
        <p:spPr>
          <a:xfrm>
            <a:off x="274320" y="316152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900" spc="-1" strike="noStrike">
                <a:solidFill>
                  <a:srgbClr val="666666"/>
                </a:solidFill>
                <a:latin typeface="Calibri"/>
                <a:ea typeface="DejaVu Sans"/>
              </a:rPr>
              <a:t>Note: normalised_convergence = convergence_cycle / 300 (max_cycles constant across all experiments).</a:t>
            </a:r>
            <a:endParaRPr b="0" lang="en-US" sz="900" spc="-1" strike="noStrike">
              <a:latin typeface="Arial"/>
            </a:endParaRPr>
          </a:p>
        </p:txBody>
      </p:sp>
      <p:sp>
        <p:nvSpPr>
          <p:cNvPr id="86" name="Text 5"/>
          <p:cNvSpPr/>
          <p:nvPr/>
        </p:nvSpPr>
        <p:spPr>
          <a:xfrm>
            <a:off x="274320" y="333756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Interpretation</a:t>
            </a:r>
            <a:endParaRPr b="0" lang="en-US" sz="1100" spc="-1" strike="noStrike">
              <a:latin typeface="Arial"/>
            </a:endParaRPr>
          </a:p>
        </p:txBody>
      </p:sp>
      <p:sp>
        <p:nvSpPr>
          <p:cNvPr id="87" name="Text 6"/>
          <p:cNvSpPr/>
          <p:nvPr/>
        </p:nvSpPr>
        <p:spPr>
          <a:xfrm>
            <a:off x="274320" y="3657600"/>
            <a:ext cx="8594640" cy="1050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Bipolarization converges fastest on heterogeneous debates (21.7 cycles) but slowest on homogeneous (39.4 cycles) — opposite to consensus. No-change always converges at cycle 15 (baseline). Clustering shows the most consistent convergence speed across conditions (~29 cycles). No speaking mode was run in this batch — all results reflect standard neighbor-based interaction.</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89"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BATCH LEVEL — BASELINE COMPARISON</a:t>
            </a:r>
            <a:endParaRPr b="0" lang="en-US" sz="1000" spc="-1" strike="noStrike">
              <a:latin typeface="Arial"/>
            </a:endParaRPr>
          </a:p>
        </p:txBody>
      </p:sp>
      <p:sp>
        <p:nvSpPr>
          <p:cNvPr id="90"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No-Change Baseline Coverage</a:t>
            </a:r>
            <a:endParaRPr b="0" lang="en-US" sz="2000" spc="-1" strike="noStrike">
              <a:latin typeface="Arial"/>
            </a:endParaRPr>
          </a:p>
        </p:txBody>
      </p:sp>
      <p:sp>
        <p:nvSpPr>
          <p:cNvPr id="91"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graphicFrame>
        <p:nvGraphicFramePr>
          <p:cNvPr id="92" name="Table 0"/>
          <p:cNvGraphicFramePr/>
          <p:nvPr/>
        </p:nvGraphicFramePr>
        <p:xfrm>
          <a:off x="274320" y="1143000"/>
          <a:ext cx="5028840" cy="0"/>
        </p:xfrm>
        <a:graphic>
          <a:graphicData uri="http://schemas.openxmlformats.org/drawingml/2006/table">
            <a:tbl>
              <a:tblPr/>
              <a:tblGrid>
                <a:gridCol w="1005840"/>
                <a:gridCol w="1005840"/>
                <a:gridCol w="1188720"/>
                <a:gridCol w="1828800"/>
              </a:tblGrid>
              <a:tr h="0">
                <a:tc>
                  <a:txBody>
                    <a:bodyPr anchor="t">
                      <a:noAutofit/>
                    </a:bodyPr>
                    <a:p>
                      <a:pPr algn="ctr">
                        <a:lnSpc>
                          <a:spcPct val="100000"/>
                        </a:lnSpc>
                        <a:buNone/>
                        <a:tabLst>
                          <a:tab algn="l" pos="0"/>
                        </a:tabLst>
                      </a:pPr>
                      <a:r>
                        <a:rPr b="1" lang="en-US" sz="900" spc="-1" strike="noStrike">
                          <a:solidFill>
                            <a:srgbClr val="ffffff"/>
                          </a:solidFill>
                          <a:latin typeface="Calibri"/>
                        </a:rPr>
                        <a:t>Debate ID</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Label</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Composition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Baseline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0.0156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0.0454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3</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0.0347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0.0471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11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M10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0.0477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14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0.0421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19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M25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0.0457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20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M26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0.0318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29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H14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0.0466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31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M30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0.0235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37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M34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0.0320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93" name="Text 4"/>
          <p:cNvSpPr/>
          <p:nvPr/>
        </p:nvSpPr>
        <p:spPr>
          <a:xfrm>
            <a:off x="5577840" y="1143000"/>
            <a:ext cx="3291120" cy="13708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No-change baseline mean MAE: 0.0375</a:t>
            </a:r>
            <a:endParaRPr b="0" lang="en-US" sz="1000" spc="-1" strike="noStrike">
              <a:latin typeface="Arial"/>
            </a:endParaRPr>
          </a:p>
          <a:p>
            <a:pPr>
              <a:lnSpc>
                <a:spcPct val="100000"/>
              </a:lnSpc>
              <a:buNone/>
              <a:tabLst>
                <a:tab algn="l" pos="0"/>
              </a:tabLst>
            </a:pPr>
            <a:r>
              <a:rPr b="0" lang="en-US" sz="1000" spc="-1" strike="noStrike">
                <a:solidFill>
                  <a:srgbClr val="333333"/>
                </a:solidFill>
                <a:latin typeface="Calibri"/>
                <a:ea typeface="DejaVu Sans"/>
              </a:rPr>
              <a:t>Note: GA sampling means only 11 debates covered.</a:t>
            </a:r>
            <a:endParaRPr b="0" lang="en-US" sz="1000" spc="-1" strike="noStrike">
              <a:latin typeface="Arial"/>
            </a:endParaRPr>
          </a:p>
          <a:p>
            <a:pPr>
              <a:lnSpc>
                <a:spcPct val="100000"/>
              </a:lnSpc>
              <a:buNone/>
              <a:tabLst>
                <a:tab algn="l" pos="0"/>
              </a:tabLst>
            </a:pPr>
            <a:r>
              <a:rPr b="0" lang="en-US" sz="1000" spc="-1" strike="noStrike">
                <a:solidFill>
                  <a:srgbClr val="333333"/>
                </a:solidFill>
                <a:latin typeface="Calibri"/>
                <a:ea typeface="DejaVu Sans"/>
              </a:rPr>
              <a:t>Full comparison requires exhaustive no-change run.</a:t>
            </a:r>
            <a:endParaRPr b="0" lang="en-US" sz="1000" spc="-1" strike="noStrike">
              <a:latin typeface="Arial"/>
            </a:endParaRPr>
          </a:p>
        </p:txBody>
      </p:sp>
      <p:sp>
        <p:nvSpPr>
          <p:cNvPr id="94" name="Shape 5"/>
          <p:cNvSpPr/>
          <p:nvPr/>
        </p:nvSpPr>
        <p:spPr>
          <a:xfrm>
            <a:off x="5577840" y="2651760"/>
            <a:ext cx="3291120" cy="1370880"/>
          </a:xfrm>
          <a:prstGeom prst="rect">
            <a:avLst/>
          </a:prstGeom>
          <a:solidFill>
            <a:srgbClr val="f5f5f5"/>
          </a:solidFill>
          <a:ln w="12700">
            <a:solidFill>
              <a:srgbClr val="cccccc"/>
            </a:solidFill>
            <a:round/>
          </a:ln>
        </p:spPr>
        <p:style>
          <a:lnRef idx="0"/>
          <a:fillRef idx="0"/>
          <a:effectRef idx="0"/>
          <a:fontRef idx="minor"/>
        </p:style>
      </p:sp>
      <p:sp>
        <p:nvSpPr>
          <p:cNvPr id="95" name="Text 6"/>
          <p:cNvSpPr/>
          <p:nvPr/>
        </p:nvSpPr>
        <p:spPr>
          <a:xfrm>
            <a:off x="5669280" y="2743200"/>
            <a:ext cx="3108240" cy="3650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000" spc="-1" strike="noStrike">
                <a:solidFill>
                  <a:srgbClr val="1e3a5f"/>
                </a:solidFill>
                <a:latin typeface="Calibri"/>
                <a:ea typeface="DejaVu Sans"/>
              </a:rPr>
              <a:t>ABM vs Baseline</a:t>
            </a:r>
            <a:endParaRPr b="0" lang="en-US" sz="1000" spc="-1" strike="noStrike">
              <a:latin typeface="Arial"/>
            </a:endParaRPr>
          </a:p>
          <a:p>
            <a:pPr>
              <a:lnSpc>
                <a:spcPct val="100000"/>
              </a:lnSpc>
              <a:buNone/>
              <a:tabLst>
                <a:tab algn="l" pos="0"/>
              </a:tabLst>
            </a:pPr>
            <a:r>
              <a:rPr b="1" lang="en-US" sz="1000" spc="-1" strike="noStrike">
                <a:solidFill>
                  <a:srgbClr val="1e3a5f"/>
                </a:solidFill>
                <a:latin typeface="Calibri"/>
                <a:ea typeface="DejaVu Sans"/>
              </a:rPr>
              <a:t>(overlapping debates only)</a:t>
            </a:r>
            <a:endParaRPr b="0" lang="en-US" sz="1000" spc="-1" strike="noStrike">
              <a:latin typeface="Arial"/>
            </a:endParaRPr>
          </a:p>
        </p:txBody>
      </p:sp>
      <p:sp>
        <p:nvSpPr>
          <p:cNvPr id="96" name="Text 7"/>
          <p:cNvSpPr/>
          <p:nvPr/>
        </p:nvSpPr>
        <p:spPr>
          <a:xfrm>
            <a:off x="5669280" y="3127320"/>
            <a:ext cx="3108240" cy="9136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900" spc="-1" strike="noStrike">
                <a:solidFill>
                  <a:srgbClr val="333333"/>
                </a:solidFill>
                <a:latin typeface="Calibri"/>
                <a:ea typeface="DejaVu Sans"/>
              </a:rPr>
              <a:t>Clustering mean MAE: 0.096</a:t>
            </a:r>
            <a:endParaRPr b="0" lang="en-US" sz="900" spc="-1" strike="noStrike">
              <a:latin typeface="Arial"/>
            </a:endParaRPr>
          </a:p>
          <a:p>
            <a:pPr>
              <a:lnSpc>
                <a:spcPct val="100000"/>
              </a:lnSpc>
              <a:buNone/>
              <a:tabLst>
                <a:tab algn="l" pos="0"/>
              </a:tabLst>
            </a:pPr>
            <a:r>
              <a:rPr b="0" lang="en-US" sz="900" spc="-1" strike="noStrike">
                <a:solidFill>
                  <a:srgbClr val="333333"/>
                </a:solidFill>
                <a:latin typeface="Calibri"/>
                <a:ea typeface="DejaVu Sans"/>
              </a:rPr>
              <a:t>Consensus mean MAE: 0.129</a:t>
            </a:r>
            <a:endParaRPr b="0" lang="en-US" sz="900" spc="-1" strike="noStrike">
              <a:latin typeface="Arial"/>
            </a:endParaRPr>
          </a:p>
          <a:p>
            <a:pPr>
              <a:lnSpc>
                <a:spcPct val="100000"/>
              </a:lnSpc>
              <a:buNone/>
              <a:tabLst>
                <a:tab algn="l" pos="0"/>
              </a:tabLst>
            </a:pPr>
            <a:r>
              <a:rPr b="0" lang="en-US" sz="900" spc="-1" strike="noStrike">
                <a:solidFill>
                  <a:srgbClr val="333333"/>
                </a:solidFill>
                <a:latin typeface="Calibri"/>
                <a:ea typeface="DejaVu Sans"/>
              </a:rPr>
              <a:t>Bipolarization mean MAE: 0.136</a:t>
            </a:r>
            <a:endParaRPr b="0" lang="en-US" sz="900" spc="-1" strike="noStrike">
              <a:latin typeface="Arial"/>
            </a:endParaRPr>
          </a:p>
          <a:p>
            <a:pPr>
              <a:lnSpc>
                <a:spcPct val="100000"/>
              </a:lnSpc>
              <a:buNone/>
              <a:tabLst>
                <a:tab algn="l" pos="0"/>
              </a:tabLst>
            </a:pPr>
            <a:r>
              <a:rPr b="0" lang="en-US" sz="900" spc="-1" strike="noStrike">
                <a:solidFill>
                  <a:srgbClr val="333333"/>
                </a:solidFill>
                <a:latin typeface="Calibri"/>
                <a:ea typeface="DejaVu Sans"/>
              </a:rPr>
              <a:t>Baseline mean MAE: 0.038</a:t>
            </a:r>
            <a:endParaRPr b="0" lang="en-US" sz="900" spc="-1" strike="noStrike">
              <a:latin typeface="Arial"/>
            </a:endParaRPr>
          </a:p>
          <a:p>
            <a:pPr>
              <a:lnSpc>
                <a:spcPct val="100000"/>
              </a:lnSpc>
              <a:buNone/>
              <a:tabLst>
                <a:tab algn="l" pos="0"/>
              </a:tabLst>
            </a:pPr>
            <a:r>
              <a:rPr b="0" lang="en-US" sz="900" spc="-1" strike="noStrike">
                <a:solidFill>
                  <a:srgbClr val="333333"/>
                </a:solidFill>
                <a:latin typeface="Calibri"/>
                <a:ea typeface="DejaVu Sans"/>
              </a:rPr>
              <a:t>→ </a:t>
            </a:r>
            <a:r>
              <a:rPr b="0" lang="en-US" sz="900" spc="-1" strike="noStrike">
                <a:solidFill>
                  <a:srgbClr val="333333"/>
                </a:solidFill>
                <a:latin typeface="Calibri"/>
                <a:ea typeface="DejaVu Sans"/>
              </a:rPr>
              <a:t>No model beats baseline on average</a:t>
            </a:r>
            <a:endParaRPr b="0" lang="en-US" sz="900" spc="-1" strike="noStrike">
              <a:latin typeface="Arial"/>
            </a:endParaRPr>
          </a:p>
        </p:txBody>
      </p:sp>
      <p:sp>
        <p:nvSpPr>
          <p:cNvPr id="97" name="Text 8"/>
          <p:cNvSpPr/>
          <p:nvPr/>
        </p:nvSpPr>
        <p:spPr>
          <a:xfrm>
            <a:off x="274320" y="4114800"/>
            <a:ext cx="8594640" cy="8038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Interpretation: The no-change baseline (MAE=0.038) outperforms all social influence models on average. This is an important negative result — adding social dynamics does not improve prediction on these data without further calibration.</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8"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99"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BATCH LEVEL — PARAMETER SENSITIVITY (RQ1)</a:t>
            </a:r>
            <a:endParaRPr b="0" lang="en-US" sz="1000" spc="-1" strike="noStrike">
              <a:latin typeface="Arial"/>
            </a:endParaRPr>
          </a:p>
        </p:txBody>
      </p:sp>
      <p:sp>
        <p:nvSpPr>
          <p:cNvPr id="100"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Parameter Correlations with MAE</a:t>
            </a:r>
            <a:endParaRPr b="0" lang="en-US" sz="2000" spc="-1" strike="noStrike">
              <a:latin typeface="Arial"/>
            </a:endParaRPr>
          </a:p>
        </p:txBody>
      </p:sp>
      <p:sp>
        <p:nvSpPr>
          <p:cNvPr id="101"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graphicFrame>
        <p:nvGraphicFramePr>
          <p:cNvPr id="102" name="Table 0"/>
          <p:cNvGraphicFramePr/>
          <p:nvPr/>
        </p:nvGraphicFramePr>
        <p:xfrm>
          <a:off x="274320" y="1143000"/>
          <a:ext cx="8229240" cy="0"/>
        </p:xfrm>
        <a:graphic>
          <a:graphicData uri="http://schemas.openxmlformats.org/drawingml/2006/table">
            <a:tbl>
              <a:tblPr/>
              <a:tblGrid>
                <a:gridCol w="1463040"/>
                <a:gridCol w="914400"/>
                <a:gridCol w="1463040"/>
                <a:gridCol w="1463040"/>
                <a:gridCol w="1463040"/>
                <a:gridCol w="1463040"/>
              </a:tblGrid>
              <a:tr h="0">
                <a:tc>
                  <a:txBody>
                    <a:bodyPr anchor="t">
                      <a:noAutofit/>
                    </a:bodyPr>
                    <a:p>
                      <a:pPr algn="ctr">
                        <a:lnSpc>
                          <a:spcPct val="100000"/>
                        </a:lnSpc>
                        <a:buNone/>
                        <a:tabLst>
                          <a:tab algn="l" pos="0"/>
                        </a:tabLst>
                      </a:pPr>
                      <a:r>
                        <a:rPr b="1" lang="en-US" sz="900" spc="-1" strike="noStrike">
                          <a:solidFill>
                            <a:srgbClr val="ffffff"/>
                          </a:solidFill>
                          <a:latin typeface="Calibri"/>
                        </a:rPr>
                        <a:t>Model Type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Use Distinct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r(convergence_rate)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r(confidence_threshold)</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r(repulsion_strength)</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r(repulsion_threshold)</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-0.522 ***</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-0.522 ***</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-0.089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N/A</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N/A</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0.314 ***</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N/A</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N/A</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N/A</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false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N/A</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N/A</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N/A</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103" name="Text 4"/>
          <p:cNvSpPr/>
          <p:nvPr/>
        </p:nvSpPr>
        <p:spPr>
          <a:xfrm>
            <a:off x="274320" y="233172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900" spc="-1" strike="noStrike">
                <a:solidFill>
                  <a:srgbClr val="666666"/>
                </a:solidFill>
                <a:latin typeface="Calibri"/>
                <a:ea typeface="DejaVu Sans"/>
              </a:rPr>
              <a:t>Note: *** p&lt;0.001 (approximate). N/A = parameter not varied or not applicable for this model.</a:t>
            </a:r>
            <a:endParaRPr b="0" lang="en-US" sz="900" spc="-1" strike="noStrike">
              <a:latin typeface="Arial"/>
            </a:endParaRPr>
          </a:p>
        </p:txBody>
      </p:sp>
      <p:sp>
        <p:nvSpPr>
          <p:cNvPr id="104" name="Text 5"/>
          <p:cNvSpPr/>
          <p:nvPr/>
        </p:nvSpPr>
        <p:spPr>
          <a:xfrm>
            <a:off x="274320" y="269748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Best Parameter Sets Per Model</a:t>
            </a:r>
            <a:endParaRPr b="0" lang="en-US" sz="1100" spc="-1" strike="noStrike">
              <a:latin typeface="Arial"/>
            </a:endParaRPr>
          </a:p>
        </p:txBody>
      </p:sp>
      <p:graphicFrame>
        <p:nvGraphicFramePr>
          <p:cNvPr id="105" name="Table 1"/>
          <p:cNvGraphicFramePr/>
          <p:nvPr/>
        </p:nvGraphicFramePr>
        <p:xfrm>
          <a:off x="274320" y="3017520"/>
          <a:ext cx="7680600" cy="0"/>
        </p:xfrm>
        <a:graphic>
          <a:graphicData uri="http://schemas.openxmlformats.org/drawingml/2006/table">
            <a:tbl>
              <a:tblPr/>
              <a:tblGrid>
                <a:gridCol w="1371600"/>
                <a:gridCol w="822960"/>
                <a:gridCol w="914400"/>
                <a:gridCol w="1005840"/>
                <a:gridCol w="914400"/>
                <a:gridCol w="731520"/>
                <a:gridCol w="640080"/>
                <a:gridCol w="1280160"/>
              </a:tblGrid>
              <a:tr h="0">
                <a:tc>
                  <a:txBody>
                    <a:bodyPr anchor="t">
                      <a:noAutofit/>
                    </a:bodyPr>
                    <a:p>
                      <a:pPr algn="ctr">
                        <a:lnSpc>
                          <a:spcPct val="100000"/>
                        </a:lnSpc>
                        <a:buNone/>
                        <a:tabLst>
                          <a:tab algn="l" pos="0"/>
                        </a:tabLst>
                      </a:pPr>
                      <a:r>
                        <a:rPr b="1" lang="en-US" sz="900" spc="-1" strike="noStrike">
                          <a:solidFill>
                            <a:srgbClr val="ffffff"/>
                          </a:solidFill>
                          <a:latin typeface="Calibri"/>
                        </a:rPr>
                        <a:t>Model Type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conv_rate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conf_thresh</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repulsion_thresh</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repulsion_str</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Best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Debate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Condition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0.0201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M26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0.0162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M26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0.3</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0.0364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0.0156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M1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106" name="Text 6"/>
          <p:cNvSpPr/>
          <p:nvPr/>
        </p:nvSpPr>
        <p:spPr>
          <a:xfrm>
            <a:off x="274320" y="4160520"/>
            <a:ext cx="8594640" cy="7765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Interpretation: Convergence rate is the key parameter for consensus (r=0.314 — higher rate = worse MAE). For bipolarization, repulsion threshold drives predictions most strongly (r=-0.522). Clustering shows weak parameter sensitivity in this batch.</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7"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108"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BATCH LEVEL — DEBATE-LEVEL INSIGHTS</a:t>
            </a:r>
            <a:endParaRPr b="0" lang="en-US" sz="1000" spc="-1" strike="noStrike">
              <a:latin typeface="Arial"/>
            </a:endParaRPr>
          </a:p>
        </p:txBody>
      </p:sp>
      <p:sp>
        <p:nvSpPr>
          <p:cNvPr id="109"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Hardest &amp; Easiest Debates to Predict</a:t>
            </a:r>
            <a:endParaRPr b="0" lang="en-US" sz="2000" spc="-1" strike="noStrike">
              <a:latin typeface="Arial"/>
            </a:endParaRPr>
          </a:p>
        </p:txBody>
      </p:sp>
      <p:sp>
        <p:nvSpPr>
          <p:cNvPr id="110"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sp>
        <p:nvSpPr>
          <p:cNvPr id="111" name="Text 4"/>
          <p:cNvSpPr/>
          <p:nvPr/>
        </p:nvSpPr>
        <p:spPr>
          <a:xfrm>
            <a:off x="274320" y="1143000"/>
            <a:ext cx="411408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a7a4a"/>
                </a:solidFill>
                <a:latin typeface="Calibri"/>
                <a:ea typeface="DejaVu Sans"/>
              </a:rPr>
              <a:t>Top 5 Easiest Debates</a:t>
            </a:r>
            <a:endParaRPr b="0" lang="en-US" sz="1100" spc="-1" strike="noStrike">
              <a:latin typeface="Arial"/>
            </a:endParaRPr>
          </a:p>
        </p:txBody>
      </p:sp>
      <p:graphicFrame>
        <p:nvGraphicFramePr>
          <p:cNvPr id="112" name="Table 0"/>
          <p:cNvGraphicFramePr/>
          <p:nvPr/>
        </p:nvGraphicFramePr>
        <p:xfrm>
          <a:off x="274320" y="1463040"/>
          <a:ext cx="4114440" cy="0"/>
        </p:xfrm>
        <a:graphic>
          <a:graphicData uri="http://schemas.openxmlformats.org/drawingml/2006/table">
            <a:tbl>
              <a:tblPr/>
              <a:tblGrid>
                <a:gridCol w="914400"/>
                <a:gridCol w="1371600"/>
                <a:gridCol w="914400"/>
                <a:gridCol w="914400"/>
              </a:tblGrid>
              <a:tr h="0">
                <a:tc>
                  <a:txBody>
                    <a:bodyPr anchor="t">
                      <a:noAutofit/>
                    </a:bodyPr>
                    <a:p>
                      <a:pPr algn="ctr">
                        <a:lnSpc>
                          <a:spcPct val="100000"/>
                        </a:lnSpc>
                        <a:buNone/>
                        <a:tabLst>
                          <a:tab algn="l" pos="0"/>
                        </a:tabLst>
                      </a:pPr>
                      <a:r>
                        <a:rPr b="1" lang="en-US" sz="900" spc="-1" strike="noStrike">
                          <a:solidFill>
                            <a:srgbClr val="ffffff"/>
                          </a:solidFill>
                          <a:latin typeface="Calibri"/>
                        </a:rPr>
                        <a:t>Label</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Condition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Mean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Min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H15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0.0387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0.0364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H14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0.0575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0.0466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H20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0.0663</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0.0558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H11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homogeneous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0.0708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0.0480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M30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0.0722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0.0235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113" name="Text 5"/>
          <p:cNvSpPr/>
          <p:nvPr/>
        </p:nvSpPr>
        <p:spPr>
          <a:xfrm>
            <a:off x="4663440" y="1143000"/>
            <a:ext cx="411408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c0392b"/>
                </a:solidFill>
                <a:latin typeface="Calibri"/>
                <a:ea typeface="DejaVu Sans"/>
              </a:rPr>
              <a:t>Top 5 Hardest Debates</a:t>
            </a:r>
            <a:endParaRPr b="0" lang="en-US" sz="1100" spc="-1" strike="noStrike">
              <a:latin typeface="Arial"/>
            </a:endParaRPr>
          </a:p>
        </p:txBody>
      </p:sp>
      <p:graphicFrame>
        <p:nvGraphicFramePr>
          <p:cNvPr id="114" name="Table 1"/>
          <p:cNvGraphicFramePr/>
          <p:nvPr/>
        </p:nvGraphicFramePr>
        <p:xfrm>
          <a:off x="4663440" y="1463040"/>
          <a:ext cx="4114440" cy="0"/>
        </p:xfrm>
        <a:graphic>
          <a:graphicData uri="http://schemas.openxmlformats.org/drawingml/2006/table">
            <a:tbl>
              <a:tblPr/>
              <a:tblGrid>
                <a:gridCol w="914400"/>
                <a:gridCol w="1371600"/>
                <a:gridCol w="914400"/>
                <a:gridCol w="914400"/>
              </a:tblGrid>
              <a:tr h="0">
                <a:tc>
                  <a:txBody>
                    <a:bodyPr anchor="t">
                      <a:noAutofit/>
                    </a:bodyPr>
                    <a:p>
                      <a:pPr algn="ctr">
                        <a:lnSpc>
                          <a:spcPct val="100000"/>
                        </a:lnSpc>
                        <a:buNone/>
                        <a:tabLst>
                          <a:tab algn="l" pos="0"/>
                        </a:tabLst>
                      </a:pPr>
                      <a:r>
                        <a:rPr b="1" lang="en-US" sz="900" spc="-1" strike="noStrike">
                          <a:solidFill>
                            <a:srgbClr val="ffffff"/>
                          </a:solidFill>
                          <a:latin typeface="Calibri"/>
                        </a:rPr>
                        <a:t>Label</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Condition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Mean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Min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M13</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0.2012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0.1595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M5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0.1906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0.0471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M20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0.1571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0.1564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M6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0.1524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0.1384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M16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heterogeneous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0.1488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0.1427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115" name="Text 6"/>
          <p:cNvSpPr/>
          <p:nvPr/>
        </p:nvSpPr>
        <p:spPr>
          <a:xfrm>
            <a:off x="274320" y="306324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Interpretation</a:t>
            </a:r>
            <a:endParaRPr b="0" lang="en-US" sz="1100" spc="-1" strike="noStrike">
              <a:latin typeface="Arial"/>
            </a:endParaRPr>
          </a:p>
        </p:txBody>
      </p:sp>
      <p:sp>
        <p:nvSpPr>
          <p:cNvPr id="116" name="Text 7"/>
          <p:cNvSpPr/>
          <p:nvPr/>
        </p:nvSpPr>
        <p:spPr>
          <a:xfrm>
            <a:off x="274320" y="3383280"/>
            <a:ext cx="8594640" cy="10051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All top 5 easiest debates are homogeneous (H-prefix), all top 5 hardest are heterogeneous (M-prefix). This is a clean pattern supporting H4. Notably, M30 is an exception — a heterogeneous debate with low mean MAE (0.072), worth investigating. M13 has the worst mean MAE (0.201) but M5 has a very low min MAE (0.047), suggesting that with the right parameters M5 can be predicted well — but M13 cannot.</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118"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AGENT LEVEL — OLS REGRESSION</a:t>
            </a:r>
            <a:endParaRPr b="0" lang="en-US" sz="1000" spc="-1" strike="noStrike">
              <a:latin typeface="Arial"/>
            </a:endParaRPr>
          </a:p>
        </p:txBody>
      </p:sp>
      <p:sp>
        <p:nvSpPr>
          <p:cNvPr id="119"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H1 — OLS: Pre-Deliberation Attitudes Predict Post-Deliberation</a:t>
            </a:r>
            <a:endParaRPr b="0" lang="en-US" sz="2000" spc="-1" strike="noStrike">
              <a:latin typeface="Arial"/>
            </a:endParaRPr>
          </a:p>
        </p:txBody>
      </p:sp>
      <p:sp>
        <p:nvSpPr>
          <p:cNvPr id="120"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sp>
        <p:nvSpPr>
          <p:cNvPr id="121" name="Text 4"/>
          <p:cNvSpPr/>
          <p:nvPr/>
        </p:nvSpPr>
        <p:spPr>
          <a:xfrm>
            <a:off x="274320" y="114300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1000" spc="-1" strike="noStrike">
                <a:solidFill>
                  <a:srgbClr val="666666"/>
                </a:solidFill>
                <a:latin typeface="Calibri"/>
                <a:ea typeface="DejaVu Sans"/>
              </a:rPr>
              <a:t>lm(final_attitude ~ initial_opinion, data = df_ag)</a:t>
            </a:r>
            <a:endParaRPr b="0" lang="en-US" sz="1000" spc="-1" strike="noStrike">
              <a:latin typeface="Arial"/>
            </a:endParaRPr>
          </a:p>
        </p:txBody>
      </p:sp>
      <p:graphicFrame>
        <p:nvGraphicFramePr>
          <p:cNvPr id="122" name="Table 0"/>
          <p:cNvGraphicFramePr/>
          <p:nvPr/>
        </p:nvGraphicFramePr>
        <p:xfrm>
          <a:off x="274320" y="1463040"/>
          <a:ext cx="5943240" cy="0"/>
        </p:xfrm>
        <a:graphic>
          <a:graphicData uri="http://schemas.openxmlformats.org/drawingml/2006/table">
            <a:tbl>
              <a:tblPr/>
              <a:tblGrid>
                <a:gridCol w="1828800"/>
                <a:gridCol w="1097280"/>
                <a:gridCol w="914400"/>
                <a:gridCol w="1371600"/>
                <a:gridCol w="731520"/>
              </a:tblGrid>
              <a:tr h="0">
                <a:tc>
                  <a:txBody>
                    <a:bodyPr anchor="t">
                      <a:noAutofit/>
                    </a:bodyPr>
                    <a:p>
                      <a:pPr algn="ctr">
                        <a:lnSpc>
                          <a:spcPct val="100000"/>
                        </a:lnSpc>
                        <a:buNone/>
                        <a:tabLst>
                          <a:tab algn="l" pos="0"/>
                        </a:tabLst>
                      </a:pPr>
                      <a:r>
                        <a:rPr b="1" lang="en-US" sz="900" spc="-1" strike="noStrike">
                          <a:solidFill>
                            <a:srgbClr val="ffffff"/>
                          </a:solidFill>
                          <a:latin typeface="Calibri"/>
                        </a:rPr>
                        <a:t>Term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Estimate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R²</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p-value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SE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Intercept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0.0185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&lt; 2e-16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initial_opinion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1.0031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0.9263</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&lt; 2e-16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0.0029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123" name="Shape 5"/>
          <p:cNvSpPr/>
          <p:nvPr/>
        </p:nvSpPr>
        <p:spPr>
          <a:xfrm>
            <a:off x="6492240" y="1463040"/>
            <a:ext cx="2376720" cy="1005120"/>
          </a:xfrm>
          <a:prstGeom prst="rect">
            <a:avLst/>
          </a:prstGeom>
          <a:solidFill>
            <a:srgbClr val="f5f5f5"/>
          </a:solidFill>
          <a:ln w="12700">
            <a:solidFill>
              <a:srgbClr val="cccccc"/>
            </a:solidFill>
            <a:round/>
          </a:ln>
        </p:spPr>
        <p:style>
          <a:lnRef idx="0"/>
          <a:fillRef idx="0"/>
          <a:effectRef idx="0"/>
          <a:fontRef idx="minor"/>
        </p:style>
      </p:sp>
      <p:sp>
        <p:nvSpPr>
          <p:cNvPr id="124" name="Text 6"/>
          <p:cNvSpPr/>
          <p:nvPr/>
        </p:nvSpPr>
        <p:spPr>
          <a:xfrm>
            <a:off x="6583680" y="1554480"/>
            <a:ext cx="2193840" cy="7308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100" spc="-1" strike="noStrike">
                <a:solidFill>
                  <a:srgbClr val="1e3a5f"/>
                </a:solidFill>
                <a:latin typeface="Calibri"/>
                <a:ea typeface="DejaVu Sans"/>
              </a:rPr>
              <a:t>OLS Mean MAE</a:t>
            </a:r>
            <a:endParaRPr b="0" lang="en-US" sz="1100" spc="-1" strike="noStrike">
              <a:latin typeface="Arial"/>
            </a:endParaRPr>
          </a:p>
          <a:p>
            <a:pPr algn="ctr">
              <a:lnSpc>
                <a:spcPct val="100000"/>
              </a:lnSpc>
              <a:buNone/>
              <a:tabLst>
                <a:tab algn="l" pos="0"/>
              </a:tabLst>
            </a:pPr>
            <a:r>
              <a:rPr b="1" lang="en-US" sz="1100" spc="-1" strike="noStrike">
                <a:solidFill>
                  <a:srgbClr val="1e3a5f"/>
                </a:solidFill>
                <a:latin typeface="Calibri"/>
                <a:ea typeface="DejaVu Sans"/>
              </a:rPr>
              <a:t>across debates: 0.0371</a:t>
            </a:r>
            <a:endParaRPr b="0" lang="en-US" sz="1100" spc="-1" strike="noStrike">
              <a:latin typeface="Arial"/>
            </a:endParaRPr>
          </a:p>
        </p:txBody>
      </p:sp>
      <p:sp>
        <p:nvSpPr>
          <p:cNvPr id="125" name="Text 7"/>
          <p:cNvSpPr/>
          <p:nvPr/>
        </p:nvSpPr>
        <p:spPr>
          <a:xfrm>
            <a:off x="274320" y="260604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Interpretation</a:t>
            </a:r>
            <a:endParaRPr b="0" lang="en-US" sz="1100" spc="-1" strike="noStrike">
              <a:latin typeface="Arial"/>
            </a:endParaRPr>
          </a:p>
        </p:txBody>
      </p:sp>
      <p:sp>
        <p:nvSpPr>
          <p:cNvPr id="126" name="Text 8"/>
          <p:cNvSpPr/>
          <p:nvPr/>
        </p:nvSpPr>
        <p:spPr>
          <a:xfrm>
            <a:off x="274320" y="2926080"/>
            <a:ext cx="8594640" cy="10051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Pre-deliberation attitudes (initial_opinion) are an extremely strong predictor of post-deliberation attitudes (R²=0.926, p&lt;2e-16). The slope of ~1.0 indicates near-perfect correspondence — agents barely change their opinions relative to their starting point. This strongly supports H1. The OLS mean MAE (0.037) is competitive with the best ABM runs, setting a high bar for the ABM comparison (H3/H5).</a:t>
            </a:r>
            <a:endParaRPr b="0" lang="en-US" sz="1000" spc="-1" strike="noStrike">
              <a:latin typeface="Arial"/>
            </a:endParaRPr>
          </a:p>
        </p:txBody>
      </p:sp>
      <p:sp>
        <p:nvSpPr>
          <p:cNvPr id="127" name="Text 9"/>
          <p:cNvSpPr/>
          <p:nvPr/>
        </p:nvSpPr>
        <p:spPr>
          <a:xfrm>
            <a:off x="274320" y="4069080"/>
            <a:ext cx="8594640" cy="3650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900" spc="-1" strike="noStrike">
                <a:solidFill>
                  <a:srgbClr val="666666"/>
                </a:solidFill>
                <a:latin typeface="Calibri"/>
                <a:ea typeface="DejaVu Sans"/>
              </a:rPr>
              <a:t>Note: R²=0.926 means initial opinion explains 92.6% of variance in final attitude — attitudes are highly stable across deliberation.</a:t>
            </a:r>
            <a:endParaRPr b="0" lang="en-US" sz="9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129"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AGENT LEVEL — BASELINE COMPARISON</a:t>
            </a:r>
            <a:endParaRPr b="0" lang="en-US" sz="1000" spc="-1" strike="noStrike">
              <a:latin typeface="Arial"/>
            </a:endParaRPr>
          </a:p>
        </p:txBody>
      </p:sp>
      <p:sp>
        <p:nvSpPr>
          <p:cNvPr id="130"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H3/H5 — ABM vs OLS Regression Comparison</a:t>
            </a:r>
            <a:endParaRPr b="0" lang="en-US" sz="2000" spc="-1" strike="noStrike">
              <a:latin typeface="Arial"/>
            </a:endParaRPr>
          </a:p>
        </p:txBody>
      </p:sp>
      <p:sp>
        <p:nvSpPr>
          <p:cNvPr id="131"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sp>
        <p:nvSpPr>
          <p:cNvPr id="132" name="Text 4"/>
          <p:cNvSpPr/>
          <p:nvPr/>
        </p:nvSpPr>
        <p:spPr>
          <a:xfrm>
            <a:off x="274320" y="114300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900" spc="-1" strike="noStrike">
                <a:solidFill>
                  <a:srgbClr val="666666"/>
                </a:solidFill>
                <a:latin typeface="Calibri"/>
                <a:ea typeface="DejaVu Sans"/>
              </a:rPr>
              <a:t>comparison_ols: mean MAE by model vs OLS MAE (delta = abm_mae - ols_mae, negative = ABM better)</a:t>
            </a:r>
            <a:endParaRPr b="0" lang="en-US" sz="900" spc="-1" strike="noStrike">
              <a:latin typeface="Arial"/>
            </a:endParaRPr>
          </a:p>
        </p:txBody>
      </p:sp>
      <p:graphicFrame>
        <p:nvGraphicFramePr>
          <p:cNvPr id="133" name="Table 0"/>
          <p:cNvGraphicFramePr/>
          <p:nvPr/>
        </p:nvGraphicFramePr>
        <p:xfrm>
          <a:off x="274320" y="1463040"/>
          <a:ext cx="7680600" cy="0"/>
        </p:xfrm>
        <a:graphic>
          <a:graphicData uri="http://schemas.openxmlformats.org/drawingml/2006/table">
            <a:tbl>
              <a:tblPr/>
              <a:tblGrid>
                <a:gridCol w="1371600"/>
                <a:gridCol w="1097280"/>
                <a:gridCol w="1097280"/>
                <a:gridCol w="914400"/>
                <a:gridCol w="1097280"/>
                <a:gridCol w="1005840"/>
                <a:gridCol w="1097280"/>
              </a:tblGrid>
              <a:tr h="0">
                <a:tc>
                  <a:txBody>
                    <a:bodyPr anchor="t">
                      <a:noAutofit/>
                    </a:bodyPr>
                    <a:p>
                      <a:pPr algn="ctr">
                        <a:lnSpc>
                          <a:spcPct val="100000"/>
                        </a:lnSpc>
                        <a:buNone/>
                        <a:tabLst>
                          <a:tab algn="l" pos="0"/>
                        </a:tabLst>
                      </a:pPr>
                      <a:r>
                        <a:rPr b="1" lang="en-US" sz="900" spc="-1" strike="noStrike">
                          <a:solidFill>
                            <a:srgbClr val="ffffff"/>
                          </a:solidFill>
                          <a:latin typeface="Calibri"/>
                        </a:rPr>
                        <a:t>Model Type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ABM Mean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OLS Mean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Delta MAE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Wilcoxon W</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p-value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ABM Better?</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0.1355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0.0381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+0.0974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No</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0.0959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0.0368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+0.0591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0.0002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No</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0.1291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0.0374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+0.0917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&lt; 0.0001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No</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0.0375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0.0338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+0.0036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17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0.1748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No (ns)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134" name="Text 5"/>
          <p:cNvSpPr/>
          <p:nvPr/>
        </p:nvSpPr>
        <p:spPr>
          <a:xfrm>
            <a:off x="274320" y="266832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Interpretation</a:t>
            </a:r>
            <a:endParaRPr b="0" lang="en-US" sz="1100" spc="-1" strike="noStrike">
              <a:latin typeface="Arial"/>
            </a:endParaRPr>
          </a:p>
        </p:txBody>
      </p:sp>
      <p:sp>
        <p:nvSpPr>
          <p:cNvPr id="135" name="Text 6"/>
          <p:cNvSpPr/>
          <p:nvPr/>
        </p:nvSpPr>
        <p:spPr>
          <a:xfrm>
            <a:off x="274320" y="2880360"/>
            <a:ext cx="8594640" cy="13251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All social influence ABMs perform significantly worse than OLS regression (p&lt;0.001 for all, Wilcoxon paired test). The no-change model is not significantly different from OLS (p=0.175) — suggesting that predicting 'no change' is approximately as good as a regression model. This is a critical negative result for H3 and H5 — the ABMs do not improve upon simple regression. Possible explanations: (1) attitudes are too stable (R²=0.926) for social influence to add signal, (2) model needs better calibration, (3) dynamics may differ per debate type.</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6"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137"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AGENT LEVEL — OLS REGRESSION (MERGED WITH EMPIRICAL DATA)</a:t>
            </a:r>
            <a:endParaRPr b="0" lang="en-US" sz="1000" spc="-1" strike="noStrike">
              <a:latin typeface="Arial"/>
            </a:endParaRPr>
          </a:p>
        </p:txBody>
      </p:sp>
      <p:sp>
        <p:nvSpPr>
          <p:cNvPr id="138"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H2 — Social Norms &amp; Self-Control → Opinion Change</a:t>
            </a:r>
            <a:endParaRPr b="0" lang="en-US" sz="2000" spc="-1" strike="noStrike">
              <a:latin typeface="Arial"/>
            </a:endParaRPr>
          </a:p>
        </p:txBody>
      </p:sp>
      <p:sp>
        <p:nvSpPr>
          <p:cNvPr id="139"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sp>
        <p:nvSpPr>
          <p:cNvPr id="140" name="Text 4"/>
          <p:cNvSpPr/>
          <p:nvPr/>
        </p:nvSpPr>
        <p:spPr>
          <a:xfrm>
            <a:off x="274320" y="114300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1000" spc="-1" strike="noStrike">
                <a:solidFill>
                  <a:srgbClr val="666666"/>
                </a:solidFill>
                <a:latin typeface="Calibri"/>
                <a:ea typeface="DejaVu Sans"/>
              </a:rPr>
              <a:t>lm(abs(opinion_change) ~ perceived_norms + self_control, data = df_merged)</a:t>
            </a:r>
            <a:endParaRPr b="0" lang="en-US" sz="1000" spc="-1" strike="noStrike">
              <a:latin typeface="Arial"/>
            </a:endParaRPr>
          </a:p>
        </p:txBody>
      </p:sp>
      <p:graphicFrame>
        <p:nvGraphicFramePr>
          <p:cNvPr id="141" name="Table 0"/>
          <p:cNvGraphicFramePr/>
          <p:nvPr/>
        </p:nvGraphicFramePr>
        <p:xfrm>
          <a:off x="274320" y="1463040"/>
          <a:ext cx="6857640" cy="0"/>
        </p:xfrm>
        <a:graphic>
          <a:graphicData uri="http://schemas.openxmlformats.org/drawingml/2006/table">
            <a:tbl>
              <a:tblPr/>
              <a:tblGrid>
                <a:gridCol w="1645920"/>
                <a:gridCol w="1097280"/>
                <a:gridCol w="1005840"/>
                <a:gridCol w="1005840"/>
                <a:gridCol w="2103120"/>
              </a:tblGrid>
              <a:tr h="0">
                <a:tc>
                  <a:txBody>
                    <a:bodyPr anchor="t">
                      <a:noAutofit/>
                    </a:bodyPr>
                    <a:p>
                      <a:pPr algn="ctr">
                        <a:lnSpc>
                          <a:spcPct val="100000"/>
                        </a:lnSpc>
                        <a:buNone/>
                        <a:tabLst>
                          <a:tab algn="l" pos="0"/>
                        </a:tabLst>
                      </a:pPr>
                      <a:r>
                        <a:rPr b="1" lang="en-US" sz="900" spc="-1" strike="noStrike">
                          <a:solidFill>
                            <a:srgbClr val="ffffff"/>
                          </a:solidFill>
                          <a:latin typeface="Calibri"/>
                        </a:rPr>
                        <a:t>Term</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Coefficient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Individual r</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Individual r²</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p-value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Intercept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0.1477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perceived_norms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-0.0027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-0.0557</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0.0031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5.87e-08 ***</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self_control</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0.0000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0.791 (ns)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142" name="Shape 5"/>
          <p:cNvSpPr/>
          <p:nvPr/>
        </p:nvSpPr>
        <p:spPr>
          <a:xfrm>
            <a:off x="7315200" y="1463040"/>
            <a:ext cx="1553760" cy="1005120"/>
          </a:xfrm>
          <a:prstGeom prst="rect">
            <a:avLst/>
          </a:prstGeom>
          <a:solidFill>
            <a:srgbClr val="f5f5f5"/>
          </a:solidFill>
          <a:ln w="12700">
            <a:solidFill>
              <a:srgbClr val="cccccc"/>
            </a:solidFill>
            <a:round/>
          </a:ln>
        </p:spPr>
        <p:style>
          <a:lnRef idx="0"/>
          <a:fillRef idx="0"/>
          <a:effectRef idx="0"/>
          <a:fontRef idx="minor"/>
        </p:style>
      </p:sp>
      <p:sp>
        <p:nvSpPr>
          <p:cNvPr id="143" name="Text 6"/>
          <p:cNvSpPr/>
          <p:nvPr/>
        </p:nvSpPr>
        <p:spPr>
          <a:xfrm>
            <a:off x="7360920" y="1554480"/>
            <a:ext cx="1462320" cy="7308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100" spc="-1" strike="noStrike">
                <a:solidFill>
                  <a:srgbClr val="1e3a5f"/>
                </a:solidFill>
                <a:latin typeface="Calibri"/>
                <a:ea typeface="DejaVu Sans"/>
              </a:rPr>
              <a:t>Multiple R²</a:t>
            </a:r>
            <a:endParaRPr b="0" lang="en-US" sz="1100" spc="-1" strike="noStrike">
              <a:latin typeface="Arial"/>
            </a:endParaRPr>
          </a:p>
          <a:p>
            <a:pPr algn="ctr">
              <a:lnSpc>
                <a:spcPct val="100000"/>
              </a:lnSpc>
              <a:buNone/>
              <a:tabLst>
                <a:tab algn="l" pos="0"/>
              </a:tabLst>
            </a:pPr>
            <a:r>
              <a:rPr b="1" lang="en-US" sz="1100" spc="-1" strike="noStrike">
                <a:solidFill>
                  <a:srgbClr val="1e3a5f"/>
                </a:solidFill>
                <a:latin typeface="Calibri"/>
                <a:ea typeface="DejaVu Sans"/>
              </a:rPr>
              <a:t>0.0031</a:t>
            </a:r>
            <a:endParaRPr b="0" lang="en-US" sz="1100" spc="-1" strike="noStrike">
              <a:latin typeface="Arial"/>
            </a:endParaRPr>
          </a:p>
        </p:txBody>
      </p:sp>
      <p:sp>
        <p:nvSpPr>
          <p:cNvPr id="144" name="Text 7"/>
          <p:cNvSpPr/>
          <p:nvPr/>
        </p:nvSpPr>
        <p:spPr>
          <a:xfrm>
            <a:off x="274320" y="2514600"/>
            <a:ext cx="8594640" cy="3193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900" spc="-1" strike="noStrike">
                <a:solidFill>
                  <a:srgbClr val="666666"/>
                </a:solidFill>
                <a:latin typeface="Calibri"/>
                <a:ea typeface="DejaVu Sans"/>
              </a:rPr>
              <a:t>Note: Merged rows = 9,555. df_merged = merge(df_ag, df_orig, by='agent_id') including perceived_norms and self_control from empirical data.</a:t>
            </a:r>
            <a:endParaRPr b="0" lang="en-US" sz="900" spc="-1" strike="noStrike">
              <a:latin typeface="Arial"/>
            </a:endParaRPr>
          </a:p>
        </p:txBody>
      </p:sp>
      <p:sp>
        <p:nvSpPr>
          <p:cNvPr id="145" name="Text 8"/>
          <p:cNvSpPr/>
          <p:nvPr/>
        </p:nvSpPr>
        <p:spPr>
          <a:xfrm>
            <a:off x="274320" y="288036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Interpretation</a:t>
            </a:r>
            <a:endParaRPr b="0" lang="en-US" sz="1100" spc="-1" strike="noStrike">
              <a:latin typeface="Arial"/>
            </a:endParaRPr>
          </a:p>
        </p:txBody>
      </p:sp>
      <p:sp>
        <p:nvSpPr>
          <p:cNvPr id="146" name="Text 9"/>
          <p:cNvSpPr/>
          <p:nvPr/>
        </p:nvSpPr>
        <p:spPr>
          <a:xfrm>
            <a:off x="274320" y="3200400"/>
            <a:ext cx="8594640" cy="1416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Perceived norms is a significant but very weak predictor of opinion change (r²=0.003, p&lt;0.001) — its direction is negative (higher norms → slightly less simulated change), which is unexpected for H2. Self-control is non-significant (p=0.791). The multiple R² of 0.003 means norms and self-control together explain less than 0.3% of variance in simulated opinion change. This provides very weak support for H2 — the moderation analysis with initial_opinion as moderator (full model) showed R²=0.10 suggesting the interaction terms are doing most of the work.</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7"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148"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AGENT LEVEL — PRO/ANTI COMPARISON</a:t>
            </a:r>
            <a:endParaRPr b="0" lang="en-US" sz="1000" spc="-1" strike="noStrike">
              <a:latin typeface="Arial"/>
            </a:endParaRPr>
          </a:p>
        </p:txBody>
      </p:sp>
      <p:sp>
        <p:nvSpPr>
          <p:cNvPr id="149"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Pro vs Anti Agents: Simulated vs Empirical Change</a:t>
            </a:r>
            <a:endParaRPr b="0" lang="en-US" sz="2000" spc="-1" strike="noStrike">
              <a:latin typeface="Arial"/>
            </a:endParaRPr>
          </a:p>
        </p:txBody>
      </p:sp>
      <p:sp>
        <p:nvSpPr>
          <p:cNvPr id="150"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sp>
        <p:nvSpPr>
          <p:cNvPr id="151" name="Text 4"/>
          <p:cNvSpPr/>
          <p:nvPr/>
        </p:nvSpPr>
        <p:spPr>
          <a:xfrm>
            <a:off x="274320" y="1143000"/>
            <a:ext cx="411408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a7a4a"/>
                </a:solidFill>
                <a:latin typeface="Calibri"/>
                <a:ea typeface="DejaVu Sans"/>
              </a:rPr>
              <a:t>Pro agents (pro_reduction=1)</a:t>
            </a:r>
            <a:endParaRPr b="0" lang="en-US" sz="1100" spc="-1" strike="noStrike">
              <a:latin typeface="Arial"/>
            </a:endParaRPr>
          </a:p>
        </p:txBody>
      </p:sp>
      <p:graphicFrame>
        <p:nvGraphicFramePr>
          <p:cNvPr id="152" name="Table 0"/>
          <p:cNvGraphicFramePr/>
          <p:nvPr/>
        </p:nvGraphicFramePr>
        <p:xfrm>
          <a:off x="274320" y="1463040"/>
          <a:ext cx="4114440" cy="0"/>
        </p:xfrm>
        <a:graphic>
          <a:graphicData uri="http://schemas.openxmlformats.org/drawingml/2006/table">
            <a:tbl>
              <a:tblPr/>
              <a:tblGrid>
                <a:gridCol w="1463040"/>
                <a:gridCol w="1371600"/>
                <a:gridCol w="1280160"/>
              </a:tblGrid>
              <a:tr h="0">
                <a:tc>
                  <a:txBody>
                    <a:bodyPr anchor="t">
                      <a:noAutofit/>
                    </a:bodyPr>
                    <a:p>
                      <a:pPr algn="ctr">
                        <a:lnSpc>
                          <a:spcPct val="100000"/>
                        </a:lnSpc>
                        <a:buNone/>
                        <a:tabLst>
                          <a:tab algn="l" pos="0"/>
                        </a:tabLst>
                      </a:pPr>
                      <a:r>
                        <a:rPr b="1" lang="en-US" sz="900" spc="-1" strike="noStrike">
                          <a:solidFill>
                            <a:srgbClr val="ffffff"/>
                          </a:solidFill>
                          <a:latin typeface="Calibri"/>
                        </a:rPr>
                        <a:t>Model</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Simulated |change|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Empirical |change|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0.1734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0.0389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0.1183</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0.0395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0.1638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0.0339</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0.0000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0.0301</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153" name="Text 5"/>
          <p:cNvSpPr/>
          <p:nvPr/>
        </p:nvSpPr>
        <p:spPr>
          <a:xfrm>
            <a:off x="4754880" y="1143000"/>
            <a:ext cx="411408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c0392b"/>
                </a:solidFill>
                <a:latin typeface="Calibri"/>
                <a:ea typeface="DejaVu Sans"/>
              </a:rPr>
              <a:t>Anti agents (pro_reduction=0)</a:t>
            </a:r>
            <a:endParaRPr b="0" lang="en-US" sz="1100" spc="-1" strike="noStrike">
              <a:latin typeface="Arial"/>
            </a:endParaRPr>
          </a:p>
        </p:txBody>
      </p:sp>
      <p:graphicFrame>
        <p:nvGraphicFramePr>
          <p:cNvPr id="154" name="Table 1"/>
          <p:cNvGraphicFramePr/>
          <p:nvPr/>
        </p:nvGraphicFramePr>
        <p:xfrm>
          <a:off x="4754880" y="1463040"/>
          <a:ext cx="4114440" cy="0"/>
        </p:xfrm>
        <a:graphic>
          <a:graphicData uri="http://schemas.openxmlformats.org/drawingml/2006/table">
            <a:tbl>
              <a:tblPr/>
              <a:tblGrid>
                <a:gridCol w="1463040"/>
                <a:gridCol w="1371600"/>
                <a:gridCol w="1280160"/>
              </a:tblGrid>
              <a:tr h="0">
                <a:tc>
                  <a:txBody>
                    <a:bodyPr anchor="t">
                      <a:noAutofit/>
                    </a:bodyPr>
                    <a:p>
                      <a:pPr algn="ctr">
                        <a:lnSpc>
                          <a:spcPct val="100000"/>
                        </a:lnSpc>
                        <a:buNone/>
                        <a:tabLst>
                          <a:tab algn="l" pos="0"/>
                        </a:tabLst>
                      </a:pPr>
                      <a:r>
                        <a:rPr b="1" lang="en-US" sz="900" spc="-1" strike="noStrike">
                          <a:solidFill>
                            <a:srgbClr val="ffffff"/>
                          </a:solidFill>
                          <a:latin typeface="Calibri"/>
                        </a:rPr>
                        <a:t>Model</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Simulated |change|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c>
                  <a:txBody>
                    <a:bodyPr anchor="t">
                      <a:noAutofit/>
                    </a:bodyPr>
                    <a:p>
                      <a:pPr algn="ctr">
                        <a:lnSpc>
                          <a:spcPct val="100000"/>
                        </a:lnSpc>
                        <a:buNone/>
                        <a:tabLst>
                          <a:tab algn="l" pos="0"/>
                        </a:tabLst>
                      </a:pPr>
                      <a:r>
                        <a:rPr b="1" lang="en-US" sz="900" spc="-1" strike="noStrike">
                          <a:solidFill>
                            <a:srgbClr val="ffffff"/>
                          </a:solidFill>
                          <a:latin typeface="Calibri"/>
                        </a:rPr>
                        <a:t>Empirical |change|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1e3a5f"/>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bipolarization</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0.1378</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0.0454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clustering</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0.0854</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0.0430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consensus</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0.1045</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0.0436</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r h="0">
                <a:tc>
                  <a:txBody>
                    <a:bodyPr anchor="t">
                      <a:noAutofit/>
                    </a:bodyPr>
                    <a:p>
                      <a:pPr algn="ctr">
                        <a:lnSpc>
                          <a:spcPct val="100000"/>
                        </a:lnSpc>
                        <a:buNone/>
                        <a:tabLst>
                          <a:tab algn="l" pos="0"/>
                        </a:tabLst>
                      </a:pPr>
                      <a:r>
                        <a:rPr b="0" lang="en-US" sz="900" spc="-1" strike="noStrike">
                          <a:solidFill>
                            <a:srgbClr val="333333"/>
                          </a:solidFill>
                          <a:latin typeface="Calibri"/>
                        </a:rPr>
                        <a:t>no_change</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0.0000</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c>
                  <a:txBody>
                    <a:bodyPr anchor="t">
                      <a:noAutofit/>
                    </a:bodyPr>
                    <a:p>
                      <a:pPr algn="ctr">
                        <a:lnSpc>
                          <a:spcPct val="100000"/>
                        </a:lnSpc>
                        <a:buNone/>
                        <a:tabLst>
                          <a:tab algn="l" pos="0"/>
                        </a:tabLst>
                      </a:pPr>
                      <a:r>
                        <a:rPr b="0" lang="en-US" sz="900" spc="-1" strike="noStrike">
                          <a:solidFill>
                            <a:srgbClr val="333333"/>
                          </a:solidFill>
                          <a:latin typeface="Calibri"/>
                        </a:rPr>
                        <a:t>0.0432</a:t>
                      </a:r>
                      <a:endParaRPr b="0" lang="en-US" sz="900" spc="-1" strike="noStrike">
                        <a:latin typeface="Arial"/>
                      </a:endParaRPr>
                    </a:p>
                  </a:txBody>
                  <a:tcPr anchor="t" marL="91440" marR="91440">
                    <a:lnL w="6480">
                      <a:solidFill>
                        <a:srgbClr val="cccccc"/>
                      </a:solidFill>
                    </a:lnL>
                    <a:lnR w="6480">
                      <a:solidFill>
                        <a:srgbClr val="cccccc"/>
                      </a:solidFill>
                    </a:lnR>
                    <a:lnT w="6480">
                      <a:solidFill>
                        <a:srgbClr val="cccccc"/>
                      </a:solidFill>
                    </a:lnT>
                    <a:lnB w="6480">
                      <a:solidFill>
                        <a:srgbClr val="cccccc"/>
                      </a:solidFill>
                    </a:lnB>
                    <a:solidFill>
                      <a:srgbClr val="f5f5f5"/>
                    </a:solidFill>
                  </a:tcPr>
                </a:tc>
              </a:tr>
            </a:tbl>
          </a:graphicData>
        </a:graphic>
      </p:graphicFrame>
      <p:sp>
        <p:nvSpPr>
          <p:cNvPr id="155" name="Text 6"/>
          <p:cNvSpPr/>
          <p:nvPr/>
        </p:nvSpPr>
        <p:spPr>
          <a:xfrm>
            <a:off x="274320" y="274320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100" spc="-1" strike="noStrike">
                <a:solidFill>
                  <a:srgbClr val="1e3a5f"/>
                </a:solidFill>
                <a:latin typeface="Calibri"/>
                <a:ea typeface="DejaVu Sans"/>
              </a:rPr>
              <a:t>Interpretation</a:t>
            </a:r>
            <a:endParaRPr b="0" lang="en-US" sz="1100" spc="-1" strike="noStrike">
              <a:latin typeface="Arial"/>
            </a:endParaRPr>
          </a:p>
        </p:txBody>
      </p:sp>
      <p:sp>
        <p:nvSpPr>
          <p:cNvPr id="156" name="Text 7"/>
          <p:cNvSpPr/>
          <p:nvPr/>
        </p:nvSpPr>
        <p:spPr>
          <a:xfrm>
            <a:off x="274320" y="3063240"/>
            <a:ext cx="8594640" cy="12337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All social influence models massively overestimate opinion change compared to empirical data. Pro agents: simulated change is 4-5x the empirical change (e.g. consensus: 0.164 simulated vs 0.034 empirical). Anti agents: smaller overestimation but still 2-3x. No-change correctly predicts zero simulated change. This confirms that real deliberation produces much smaller attitude shifts than the models generate — the key challenge for calibration is dampening the dynamics.</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7" name="Shape 0"/>
          <p:cNvSpPr/>
          <p:nvPr/>
        </p:nvSpPr>
        <p:spPr>
          <a:xfrm>
            <a:off x="0" y="0"/>
            <a:ext cx="9143280" cy="365040"/>
          </a:xfrm>
          <a:prstGeom prst="rect">
            <a:avLst/>
          </a:prstGeom>
          <a:solidFill>
            <a:srgbClr val="1e3a5f"/>
          </a:solidFill>
          <a:ln w="12700">
            <a:solidFill>
              <a:srgbClr val="1e3a5f"/>
            </a:solidFill>
            <a:round/>
          </a:ln>
        </p:spPr>
        <p:style>
          <a:lnRef idx="0"/>
          <a:fillRef idx="0"/>
          <a:effectRef idx="0"/>
          <a:fontRef idx="minor"/>
        </p:style>
      </p:sp>
      <p:sp>
        <p:nvSpPr>
          <p:cNvPr id="158" name="Text 1"/>
          <p:cNvSpPr/>
          <p:nvPr/>
        </p:nvSpPr>
        <p:spPr>
          <a:xfrm>
            <a:off x="182880" y="0"/>
            <a:ext cx="8777520" cy="365040"/>
          </a:xfrm>
          <a:prstGeom prst="rect">
            <a:avLst/>
          </a:prstGeom>
          <a:noFill/>
          <a:ln w="0">
            <a:noFill/>
          </a:ln>
        </p:spPr>
        <p:style>
          <a:lnRef idx="0"/>
          <a:fillRef idx="0"/>
          <a:effectRef idx="0"/>
          <a:fontRef idx="minor"/>
        </p:style>
        <p:txBody>
          <a:bodyPr lIns="0" rIns="0" tIns="0" bIns="0" anchor="ctr">
            <a:noAutofit/>
          </a:bodyPr>
          <a:p>
            <a:pPr>
              <a:lnSpc>
                <a:spcPct val="100000"/>
              </a:lnSpc>
              <a:buNone/>
              <a:tabLst>
                <a:tab algn="l" pos="0"/>
              </a:tabLst>
            </a:pPr>
            <a:r>
              <a:rPr b="1" lang="en-US" sz="1000" spc="-1" strike="noStrike">
                <a:solidFill>
                  <a:srgbClr val="ffffff"/>
                </a:solidFill>
                <a:latin typeface="Calibri"/>
                <a:ea typeface="DejaVu Sans"/>
              </a:rPr>
              <a:t>AGENT LEVEL — OPINION POSITION ANALYSIS</a:t>
            </a:r>
            <a:endParaRPr b="0" lang="en-US" sz="1000" spc="-1" strike="noStrike">
              <a:latin typeface="Arial"/>
            </a:endParaRPr>
          </a:p>
        </p:txBody>
      </p:sp>
      <p:sp>
        <p:nvSpPr>
          <p:cNvPr id="159" name="Text 2"/>
          <p:cNvSpPr/>
          <p:nvPr/>
        </p:nvSpPr>
        <p:spPr>
          <a:xfrm>
            <a:off x="274320" y="457200"/>
            <a:ext cx="8594640" cy="547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1e3a5f"/>
                </a:solidFill>
                <a:latin typeface="Calibri"/>
                <a:ea typeface="DejaVu Sans"/>
              </a:rPr>
              <a:t>Prediction Error by Initial Opinion Position</a:t>
            </a:r>
            <a:endParaRPr b="0" lang="en-US" sz="2000" spc="-1" strike="noStrike">
              <a:latin typeface="Arial"/>
            </a:endParaRPr>
          </a:p>
        </p:txBody>
      </p:sp>
      <p:sp>
        <p:nvSpPr>
          <p:cNvPr id="160" name="Shape 3"/>
          <p:cNvSpPr/>
          <p:nvPr/>
        </p:nvSpPr>
        <p:spPr>
          <a:xfrm>
            <a:off x="274320" y="1023840"/>
            <a:ext cx="8595360" cy="360"/>
          </a:xfrm>
          <a:prstGeom prst="line">
            <a:avLst/>
          </a:prstGeom>
          <a:ln w="12700">
            <a:solidFill>
              <a:srgbClr val="1e3a5f"/>
            </a:solidFill>
            <a:round/>
          </a:ln>
        </p:spPr>
        <p:style>
          <a:lnRef idx="0"/>
          <a:fillRef idx="0"/>
          <a:effectRef idx="0"/>
          <a:fontRef idx="minor"/>
        </p:style>
      </p:sp>
      <p:sp>
        <p:nvSpPr>
          <p:cNvPr id="161" name="Text 4"/>
          <p:cNvSpPr/>
          <p:nvPr/>
        </p:nvSpPr>
        <p:spPr>
          <a:xfrm>
            <a:off x="274320" y="1143000"/>
            <a:ext cx="8594640" cy="273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i="1" lang="en-US" sz="1000" spc="-1" strike="noStrike">
                <a:solidFill>
                  <a:srgbClr val="666666"/>
                </a:solidFill>
                <a:latin typeface="Calibri"/>
                <a:ea typeface="DejaVu Sans"/>
              </a:rPr>
              <a:t>cut(initial_opinion, breaks=c(0,0.33,0.67,1), labels=c('Anti','Moderate','Pro'))</a:t>
            </a:r>
            <a:endParaRPr b="0" lang="en-US" sz="1000" spc="-1" strike="noStrike">
              <a:latin typeface="Arial"/>
            </a:endParaRPr>
          </a:p>
        </p:txBody>
      </p:sp>
      <p:graphicFrame>
        <p:nvGraphicFramePr>
          <p:cNvPr id="162" name="Chart 0"/>
          <p:cNvGraphicFramePr/>
          <p:nvPr/>
        </p:nvGraphicFramePr>
        <p:xfrm>
          <a:off x="274320" y="1463040"/>
          <a:ext cx="8594640" cy="2468160"/>
        </p:xfrm>
        <a:graphic>
          <a:graphicData uri="http://schemas.openxmlformats.org/drawingml/2006/chart">
            <c:chart xmlns:c="http://schemas.openxmlformats.org/drawingml/2006/chart" xmlns:r="http://schemas.openxmlformats.org/officeDocument/2006/relationships" r:id="rId1"/>
          </a:graphicData>
        </a:graphic>
      </p:graphicFrame>
      <p:sp>
        <p:nvSpPr>
          <p:cNvPr id="163" name="Text 5"/>
          <p:cNvSpPr/>
          <p:nvPr/>
        </p:nvSpPr>
        <p:spPr>
          <a:xfrm>
            <a:off x="274320" y="4041720"/>
            <a:ext cx="8594640" cy="8222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333333"/>
                </a:solidFill>
                <a:latin typeface="Calibri"/>
                <a:ea typeface="DejaVu Sans"/>
              </a:rPr>
              <a:t>Interpretation: Moderate agents have the lowest prediction error across all models. Pro agents are hardest to predict for consensus (MAE=0.218) and clustering (0.155). Anti agents are hardest for bipolarization (MAE=0.212). This mirrors prior findings: moderately opinionated agents are more predictable.</a:t>
            </a:r>
            <a:endParaRPr b="0" lang="en-US" sz="10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13</TotalTime>
  <Application>LibreOffice/7.3.7.2$Linux_X86_64 LibreOffice_project/30$Build-2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2026-03-19T12:59:51Z</dcterms:created>
  <dc:creator>PptxGenJS</dc:creator>
  <dc:description/>
  <dc:language>en-US</dc:language>
  <cp:lastModifiedBy/>
  <dcterms:modified xsi:type="dcterms:W3CDTF">2026-03-20T11:51:45Z</dcterms:modified>
  <cp:revision>3</cp:revision>
  <dc:subject>PptxGenJS Presentation</dc:subject>
  <dc:title>ABM Results – Based on R Script Output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14</vt:i4>
  </property>
  <property fmtid="{D5CDD505-2E9C-101B-9397-08002B2CF9AE}" pid="3" name="PresentationFormat">
    <vt:lpwstr>On-screen Show (16:9)</vt:lpwstr>
  </property>
  <property fmtid="{D5CDD505-2E9C-101B-9397-08002B2CF9AE}" pid="4" name="Slides">
    <vt:i4>14</vt:i4>
  </property>
</Properties>
</file>