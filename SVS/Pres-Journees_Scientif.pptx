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jpeg" ContentType="image/jpeg"/>
  <Override PartName="/ppt/media/image8.png" ContentType="image/png"/>
  <Override PartName="/ppt/media/image13.png" ContentType="image/png"/>
  <Override PartName="/ppt/media/image7.gif" ContentType="image/gif"/>
  <Override PartName="/ppt/media/image9.gif" ContentType="image/gif"/>
  <Override PartName="/ppt/media/image10.gif" ContentType="image/gif"/>
  <Override PartName="/ppt/media/image11.png" ContentType="image/png"/>
  <Override PartName="/ppt/media/image1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Click </a:t>
            </a:r>
            <a:r>
              <a:rPr b="0" lang="fr-FR" sz="4400" spc="-1" strike="noStrike">
                <a:latin typeface="Arial"/>
              </a:rPr>
              <a:t>to </a:t>
            </a:r>
            <a:r>
              <a:rPr b="0" lang="fr-FR" sz="4400" spc="-1" strike="noStrike">
                <a:latin typeface="Arial"/>
              </a:rPr>
              <a:t>move </a:t>
            </a:r>
            <a:r>
              <a:rPr b="0" lang="fr-FR" sz="4400" spc="-1" strike="noStrike">
                <a:latin typeface="Arial"/>
              </a:rPr>
              <a:t>the </a:t>
            </a:r>
            <a:r>
              <a:rPr b="0" lang="fr-FR" sz="4400" spc="-1" strike="noStrike">
                <a:latin typeface="Arial"/>
              </a:rPr>
              <a:t>slide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Click to edit </a:t>
            </a:r>
            <a:r>
              <a:rPr b="0" lang="fr-FR" sz="2000" spc="-1" strike="noStrike">
                <a:latin typeface="Arial"/>
              </a:rPr>
              <a:t>the notes </a:t>
            </a:r>
            <a:r>
              <a:rPr b="0" lang="fr-FR" sz="2000" spc="-1" strike="noStrike">
                <a:latin typeface="Arial"/>
              </a:rPr>
              <a:t>format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&lt;header&gt;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&lt;date/time&gt;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&lt;footer&gt;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B3875B1-43F1-4AD3-9248-73FCF43DD5A4}" type="slidenum">
              <a:rPr b="0" lang="fr-FR" sz="1400" spc="-1" strike="noStrike">
                <a:latin typeface="Times New Roman"/>
              </a:rPr>
              <a:t>&lt;number&gt;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756B94B-8933-4BC2-B39C-5C5B4F7BC1EE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87A4020-5965-490A-A35F-1479CC06158F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72F1485-7B2B-4B9D-89EE-FA0AB3070F75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3D76716-722B-4258-AE4F-CD2F9253D3BE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A36FEA2-9EFB-43F3-B906-316F91555CED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8F72FFE-D4FC-4DA7-BE97-68B6D6C8B1B3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3908BE7-38B6-4392-8B53-067AF93B5F83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A5F18B9-6CEA-4328-80D1-7DB4C59427EA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B9D9F1C-EB7E-4609-852F-C6110332E9F2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B3202B2-C3A4-45A2-BB01-868DF739782D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746121A-CA70-4C63-8561-B46902B9E1D0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641323C-4F94-4C85-8AC4-0A102F37DCE5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0616202-14FD-4762-A66F-D2EC6900C5FA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B9288B0-FA4D-417E-BBE7-69EE22947B0C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000" cy="308088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000" cy="359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640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24E376C-BFA8-44D5-B46F-4A99E8C18F87}" type="slidenum">
              <a:rPr b="0" lang="fr-F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Click </a:t>
            </a:r>
            <a:r>
              <a:rPr b="0" lang="fr-FR" sz="4400" spc="-1" strike="noStrike">
                <a:latin typeface="Arial"/>
              </a:rPr>
              <a:t>to edit </a:t>
            </a:r>
            <a:r>
              <a:rPr b="0" lang="fr-FR" sz="4400" spc="-1" strike="noStrike">
                <a:latin typeface="Arial"/>
              </a:rPr>
              <a:t>the </a:t>
            </a:r>
            <a:r>
              <a:rPr b="0" lang="fr-FR" sz="4400" spc="-1" strike="noStrike">
                <a:latin typeface="Arial"/>
              </a:rPr>
              <a:t>title </a:t>
            </a:r>
            <a:r>
              <a:rPr b="0" lang="fr-FR" sz="4400" spc="-1" strike="noStrike">
                <a:latin typeface="Arial"/>
              </a:rPr>
              <a:t>text </a:t>
            </a:r>
            <a:r>
              <a:rPr b="0" lang="fr-FR" sz="4400" spc="-1" strike="noStrike">
                <a:latin typeface="Arial"/>
              </a:rPr>
              <a:t>format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Click to edit the outline text format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Outline Level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Third Outline Level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Fourth Outline Level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Fifth Outline Level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Sixth Outline Level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Seventh Outline Level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www.allaboutai.com/fr-fr/glossaire-ai/simulation-multi-agent/" TargetMode="External"/><Relationship Id="rId2" Type="http://schemas.openxmlformats.org/officeDocument/2006/relationships/hyperlink" Target="https://www.dicopart.fr/mini-publics-deliberatifs-2022" TargetMode="External"/><Relationship Id="rId3" Type="http://schemas.openxmlformats.org/officeDocument/2006/relationships/hyperlink" Target="https://www.allocine.fr/film/fichefilm_gen_cfilm=123530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720000" y="1296000"/>
            <a:ext cx="8044200" cy="182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Modélisation des dynamiques d’opinion dans la réduction de la consommation de viande: une approche par simulation multi-agents utilisant</a:t>
            </a:r>
            <a:endParaRPr b="0" lang="fr-FR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des données de délibération citoyenne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914400" y="3291840"/>
            <a:ext cx="7309800" cy="90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fr-FR" sz="1400" spc="-1" strike="noStrike">
                <a:solidFill>
                  <a:srgbClr val="cadcfc"/>
                </a:solidFill>
                <a:latin typeface="Calibri"/>
                <a:ea typeface="DejaVu Sans"/>
              </a:rPr>
              <a:t>Journées Scientifiques du département Sciences de la Vie et Santé 2026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914400" y="4029120"/>
            <a:ext cx="73098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900" spc="-1" strike="noStrike">
                <a:solidFill>
                  <a:srgbClr val="aaaaaa"/>
                </a:solidFill>
                <a:latin typeface="Calibri"/>
                <a:ea typeface="DejaVu Sans"/>
              </a:rPr>
              <a:t>Gregor Stolte, Nicolas Darcel, Patrick Taillandier</a:t>
            </a:r>
            <a:endParaRPr b="0" lang="fr-FR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3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Notre Problème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Transition vers les régimes durables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18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Réduction des émissions liée à la production alimentaire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288000" y="2307600"/>
            <a:ext cx="85899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Les choix alimentaires ont un impact sur la santé (Springmann et al., 2016), la planète (Springmann et al., 2016), et l’environnement (Garnett, 2008)</a:t>
            </a: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Plan National Intégré Énergie-Climat Francais 2021-2030 (European Commission, 2024)</a:t>
            </a:r>
            <a:endParaRPr b="0" lang="fr-FR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Paris Agreement (OECD, 2025)</a:t>
            </a: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Réduction</a:t>
            </a: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 de consommation et un </a:t>
            </a:r>
            <a:r>
              <a:rPr b="1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changement</a:t>
            </a: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 de régime</a:t>
            </a: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Est-ce qu’on s’influence? (Cruwys et al., 2015)</a:t>
            </a:r>
            <a:endParaRPr b="0" lang="fr-FR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Observation (choix des autres, visuel)</a:t>
            </a:r>
            <a:endParaRPr b="0" lang="fr-FR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Imitation</a:t>
            </a:r>
            <a:endParaRPr b="0" lang="fr-FR" sz="1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Répulsion</a:t>
            </a: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Nudge – Schäufele-Elbers et al., 2025</a:t>
            </a:r>
            <a:endParaRPr b="0" lang="fr-FR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Normes sociales – Pollicino et al., 2025</a:t>
            </a: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000" spc="-1" strike="noStrike"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859000" y="2285640"/>
            <a:ext cx="2284200" cy="2284560"/>
          </a:xfrm>
          <a:custGeom>
            <a:avLst/>
            <a:gdLst/>
            <a:ahLst/>
            <a:rect l="l" t="t" r="r" b="b"/>
            <a:pathLst>
              <a:path w="6350" h="6351">
                <a:moveTo>
                  <a:pt x="6350" y="5338"/>
                </a:moveTo>
                <a:cubicBezTo>
                  <a:pt x="6343" y="5508"/>
                  <a:pt x="6294" y="5674"/>
                  <a:pt x="6209" y="5822"/>
                </a:cubicBezTo>
                <a:cubicBezTo>
                  <a:pt x="6116" y="5983"/>
                  <a:pt x="5983" y="6116"/>
                  <a:pt x="5822" y="6209"/>
                </a:cubicBezTo>
                <a:cubicBezTo>
                  <a:pt x="5661" y="6302"/>
                  <a:pt x="5478" y="6351"/>
                  <a:pt x="5293" y="6351"/>
                </a:cubicBezTo>
                <a:lnTo>
                  <a:pt x="5292" y="6351"/>
                </a:lnTo>
                <a:lnTo>
                  <a:pt x="1059" y="6351"/>
                </a:lnTo>
                <a:cubicBezTo>
                  <a:pt x="873" y="6351"/>
                  <a:pt x="690" y="6302"/>
                  <a:pt x="529" y="6209"/>
                </a:cubicBezTo>
                <a:cubicBezTo>
                  <a:pt x="368" y="6116"/>
                  <a:pt x="235" y="5983"/>
                  <a:pt x="142" y="5822"/>
                </a:cubicBezTo>
                <a:cubicBezTo>
                  <a:pt x="49" y="5661"/>
                  <a:pt x="0" y="5478"/>
                  <a:pt x="0" y="5293"/>
                </a:cubicBezTo>
                <a:lnTo>
                  <a:pt x="0" y="5292"/>
                </a:lnTo>
                <a:lnTo>
                  <a:pt x="0" y="1059"/>
                </a:lnTo>
                <a:cubicBezTo>
                  <a:pt x="0" y="873"/>
                  <a:pt x="49" y="690"/>
                  <a:pt x="142" y="529"/>
                </a:cubicBezTo>
                <a:cubicBezTo>
                  <a:pt x="235" y="368"/>
                  <a:pt x="368" y="235"/>
                  <a:pt x="529" y="142"/>
                </a:cubicBezTo>
                <a:cubicBezTo>
                  <a:pt x="690" y="49"/>
                  <a:pt x="873" y="0"/>
                  <a:pt x="1059" y="0"/>
                </a:cubicBezTo>
                <a:lnTo>
                  <a:pt x="5293" y="0"/>
                </a:lnTo>
                <a:cubicBezTo>
                  <a:pt x="5478" y="0"/>
                  <a:pt x="5661" y="49"/>
                  <a:pt x="5822" y="142"/>
                </a:cubicBezTo>
                <a:cubicBezTo>
                  <a:pt x="5983" y="235"/>
                  <a:pt x="6116" y="368"/>
                  <a:pt x="6209" y="529"/>
                </a:cubicBezTo>
                <a:cubicBezTo>
                  <a:pt x="6294" y="677"/>
                  <a:pt x="6343" y="843"/>
                  <a:pt x="6350" y="1013"/>
                </a:cubicBezTo>
                <a:lnTo>
                  <a:pt x="6350" y="5338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8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40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Les dynamiques d’opinion - 1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6" name="Text 41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Caractériser l’influence sociale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42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Trois exemples de modèles d’influence social (Flache et al., 2017)</a:t>
            </a:r>
            <a:endParaRPr b="0" lang="fr-FR" sz="1100" spc="-1" strike="noStrike"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rcRect l="0" t="10360" r="72788" b="0"/>
          <a:stretch/>
        </p:blipFill>
        <p:spPr>
          <a:xfrm>
            <a:off x="900000" y="1567080"/>
            <a:ext cx="1604520" cy="3109680"/>
          </a:xfrm>
          <a:prstGeom prst="rect">
            <a:avLst/>
          </a:prstGeom>
          <a:ln w="0">
            <a:noFill/>
          </a:ln>
        </p:spPr>
      </p:pic>
      <p:sp>
        <p:nvSpPr>
          <p:cNvPr id="60" name="Text 43"/>
          <p:cNvSpPr/>
          <p:nvPr/>
        </p:nvSpPr>
        <p:spPr>
          <a:xfrm>
            <a:off x="3934800" y="2520000"/>
            <a:ext cx="42699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Tout le monde est connecté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Chaque individu s’influence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Réduction de différence d’opinion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Long-terme: consensus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12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31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Les dynamiques d’opinion - 2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63" name="Text 32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Caractériser l’influence sociale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33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Trois exemples de modèles d’influence social (Flache et al., 2017)</a:t>
            </a:r>
            <a:endParaRPr b="0" lang="fr-FR" sz="1100" spc="-1" strike="noStrike"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rcRect l="33353" t="11885" r="36198" b="0"/>
          <a:stretch/>
        </p:blipFill>
        <p:spPr>
          <a:xfrm>
            <a:off x="720000" y="1619280"/>
            <a:ext cx="1796760" cy="3057480"/>
          </a:xfrm>
          <a:prstGeom prst="rect">
            <a:avLst/>
          </a:prstGeom>
          <a:ln w="0">
            <a:noFill/>
          </a:ln>
        </p:spPr>
      </p:pic>
      <p:sp>
        <p:nvSpPr>
          <p:cNvPr id="67" name="Text 25"/>
          <p:cNvSpPr/>
          <p:nvPr/>
        </p:nvSpPr>
        <p:spPr>
          <a:xfrm>
            <a:off x="3970800" y="2658240"/>
            <a:ext cx="42699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Tout le monde est connecté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Attraction: seul les individus assez similaire s’influence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Réduction de différence d’opinion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Long-terme: fragmentation (potentiel)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14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34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Les dynamiques d’opinion - 3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70" name="Text 35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Caractériser l’influence sociale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36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Trois exemples de modèles d’influence social (Flache et al., 2017)</a:t>
            </a:r>
            <a:endParaRPr b="0" lang="fr-FR" sz="1100" spc="-1" strike="noStrike"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rcRect l="72583" t="11878" r="0" b="0"/>
          <a:stretch/>
        </p:blipFill>
        <p:spPr>
          <a:xfrm>
            <a:off x="900000" y="1584000"/>
            <a:ext cx="1616760" cy="3056760"/>
          </a:xfrm>
          <a:prstGeom prst="rect">
            <a:avLst/>
          </a:prstGeom>
          <a:ln w="0">
            <a:noFill/>
          </a:ln>
        </p:spPr>
      </p:pic>
      <p:sp>
        <p:nvSpPr>
          <p:cNvPr id="74" name="Text 26"/>
          <p:cNvSpPr/>
          <p:nvPr/>
        </p:nvSpPr>
        <p:spPr>
          <a:xfrm>
            <a:off x="3971160" y="2766600"/>
            <a:ext cx="42699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Tout le monde est connecté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Attraction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Répulsion: les individus pas assez similaire se repousse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Réduction/Augmentation de différence d’opinion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Long-terme: fragmentation/bi-polarization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0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8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Les dynamiques d’opinion - 4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77" name="Text 29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Caractériser l’influence sociale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30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Trois exemples de modèles d’influence social (Flache et al., 2017)</a:t>
            </a:r>
            <a:endParaRPr b="0" lang="fr-FR" sz="1100" spc="-1" strike="noStrike"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595880" y="1394280"/>
            <a:ext cx="5924880" cy="346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16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0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Les dynamiques d’opinion - 5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83" name="Text 38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La Délibération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39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Le contexte de changement d’attitudes et de consommation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86" name="Text 27"/>
          <p:cNvSpPr/>
          <p:nvPr/>
        </p:nvSpPr>
        <p:spPr>
          <a:xfrm>
            <a:off x="4907160" y="2808360"/>
            <a:ext cx="42699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Mini-publics : experts = individus (Dahl., 1989)</a:t>
            </a:r>
            <a:endParaRPr b="0" lang="fr-FR" sz="16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Participation citoyenne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Convention Citoyenne pour le Climat, 2021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“</a:t>
            </a: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View from manywhere” (Niemeyer et al., 2024)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Normes sociales et nudges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228600" y="1714680"/>
            <a:ext cx="4547880" cy="3083040"/>
          </a:xfrm>
          <a:prstGeom prst="rect">
            <a:avLst/>
          </a:prstGeom>
          <a:ln w="0">
            <a:noFill/>
          </a:ln>
        </p:spPr>
      </p:pic>
      <p:sp>
        <p:nvSpPr>
          <p:cNvPr id="88" name="Text 21"/>
          <p:cNvSpPr/>
          <p:nvPr/>
        </p:nvSpPr>
        <p:spPr>
          <a:xfrm>
            <a:off x="166680" y="4741560"/>
            <a:ext cx="46317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900" spc="-1" strike="noStrike">
                <a:solidFill>
                  <a:srgbClr val="1e3a5f"/>
                </a:solidFill>
                <a:latin typeface="Calibri"/>
                <a:ea typeface="DejaVu Sans"/>
              </a:rPr>
              <a:t>Conseil municipal, la Haye, construction de maison de guilde, 1636</a:t>
            </a:r>
            <a:endParaRPr b="0" lang="fr-FR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6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2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Les dynamiques d’opinion - 5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C’est quoi la simulation multi-agent ?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24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Pourquoi modéliser les comportements de la vie réel ?</a:t>
            </a:r>
            <a:endParaRPr b="0" lang="fr-FR" sz="11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rcRect l="0" t="24567" r="0" b="18072"/>
          <a:stretch/>
        </p:blipFill>
        <p:spPr>
          <a:xfrm>
            <a:off x="1371600" y="2153160"/>
            <a:ext cx="6579360" cy="1597680"/>
          </a:xfrm>
          <a:prstGeom prst="rect">
            <a:avLst/>
          </a:prstGeom>
          <a:ln w="0">
            <a:noFill/>
          </a:ln>
        </p:spPr>
      </p:pic>
      <p:sp>
        <p:nvSpPr>
          <p:cNvPr id="95" name="Text 59"/>
          <p:cNvSpPr/>
          <p:nvPr/>
        </p:nvSpPr>
        <p:spPr>
          <a:xfrm>
            <a:off x="1371600" y="3621600"/>
            <a:ext cx="1598040" cy="4550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Agents: Individus Concerné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96" name="Text 58"/>
          <p:cNvSpPr/>
          <p:nvPr/>
        </p:nvSpPr>
        <p:spPr>
          <a:xfrm>
            <a:off x="2237400" y="1740600"/>
            <a:ext cx="1826640" cy="5072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Environnement: Crous, Cantine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97" name="Text 62"/>
          <p:cNvSpPr/>
          <p:nvPr/>
        </p:nvSpPr>
        <p:spPr>
          <a:xfrm>
            <a:off x="3393000" y="3634200"/>
            <a:ext cx="1405440" cy="4838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Règles de communication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98" name="Text 64"/>
          <p:cNvSpPr/>
          <p:nvPr/>
        </p:nvSpPr>
        <p:spPr>
          <a:xfrm>
            <a:off x="4163400" y="1740600"/>
            <a:ext cx="2235240" cy="4946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Algorithmes déterminant les actions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99" name="Text 65"/>
          <p:cNvSpPr/>
          <p:nvPr/>
        </p:nvSpPr>
        <p:spPr>
          <a:xfrm>
            <a:off x="5450400" y="3657600"/>
            <a:ext cx="1862640" cy="4550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Pas de temps/événements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0" name="Text 66"/>
          <p:cNvSpPr/>
          <p:nvPr/>
        </p:nvSpPr>
        <p:spPr>
          <a:xfrm>
            <a:off x="6508800" y="1704600"/>
            <a:ext cx="1598040" cy="5432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Définition de comportement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908000" y="2836440"/>
            <a:ext cx="376560" cy="36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9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37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L’expérience - 2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04" name="Text 44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Notre expérience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5" name="Shape 19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45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La simulation multi-agent et le comportement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07" name="Text 46"/>
          <p:cNvSpPr/>
          <p:nvPr/>
        </p:nvSpPr>
        <p:spPr>
          <a:xfrm>
            <a:off x="349920" y="4608000"/>
            <a:ext cx="270972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 </a:t>
            </a: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Inférieure :: Supérieure</a:t>
            </a:r>
            <a:endParaRPr b="0" lang="fr-FR" sz="160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02400" y="1600200"/>
            <a:ext cx="5264280" cy="281664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324000" y="4500000"/>
            <a:ext cx="2519640" cy="179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10800"/>
                </a:moveTo>
                <a:lnTo>
                  <a:pt x="4300" y="0"/>
                </a:lnTo>
                <a:lnTo>
                  <a:pt x="4300" y="5400"/>
                </a:lnTo>
                <a:lnTo>
                  <a:pt x="17300" y="5400"/>
                </a:lnTo>
                <a:lnTo>
                  <a:pt x="17300" y="0"/>
                </a:lnTo>
                <a:lnTo>
                  <a:pt x="21600" y="10800"/>
                </a:lnTo>
                <a:lnTo>
                  <a:pt x="17300" y="21600"/>
                </a:lnTo>
                <a:lnTo>
                  <a:pt x="17300" y="16200"/>
                </a:lnTo>
                <a:lnTo>
                  <a:pt x="4300" y="16200"/>
                </a:lnTo>
                <a:lnTo>
                  <a:pt x="43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3"/>
          <p:cNvSpPr/>
          <p:nvPr/>
        </p:nvSpPr>
        <p:spPr>
          <a:xfrm>
            <a:off x="5807160" y="2884320"/>
            <a:ext cx="314172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Dheilly et al. (soumis a Communications Sustainability)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Mini-publiques → Débats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Légende: </a:t>
            </a:r>
            <a:endParaRPr b="0" lang="fr-FR" sz="16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highlight>
                  <a:srgbClr val="81d41a"/>
                </a:highlight>
                <a:latin typeface="Calibri"/>
                <a:ea typeface="DejaVu Sans"/>
              </a:rPr>
              <a:t>Vert </a:t>
            </a: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: Content</a:t>
            </a:r>
            <a:endParaRPr b="0" lang="fr-FR" sz="16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DejaVu Sans"/>
              </a:rPr>
              <a:t>Jaune </a:t>
            </a: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: Moyennement content</a:t>
            </a:r>
            <a:endParaRPr b="0" lang="fr-FR" sz="16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highlight>
                  <a:srgbClr val="ff0000"/>
                </a:highlight>
                <a:latin typeface="Calibri"/>
                <a:ea typeface="DejaVu Sans"/>
              </a:rPr>
              <a:t>Rouge </a:t>
            </a: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: pas content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</p:txBody>
      </p:sp>
      <p:sp>
        <p:nvSpPr>
          <p:cNvPr id="111" name="Text 54"/>
          <p:cNvSpPr/>
          <p:nvPr/>
        </p:nvSpPr>
        <p:spPr>
          <a:xfrm>
            <a:off x="3708000" y="4608000"/>
            <a:ext cx="270972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Tous égal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024000" y="4500000"/>
            <a:ext cx="2519640" cy="179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10800"/>
                </a:moveTo>
                <a:lnTo>
                  <a:pt x="4300" y="0"/>
                </a:lnTo>
                <a:lnTo>
                  <a:pt x="4300" y="5400"/>
                </a:lnTo>
                <a:lnTo>
                  <a:pt x="17300" y="5400"/>
                </a:lnTo>
                <a:lnTo>
                  <a:pt x="17300" y="0"/>
                </a:lnTo>
                <a:lnTo>
                  <a:pt x="21600" y="10800"/>
                </a:lnTo>
                <a:lnTo>
                  <a:pt x="17300" y="21600"/>
                </a:lnTo>
                <a:lnTo>
                  <a:pt x="17300" y="16200"/>
                </a:lnTo>
                <a:lnTo>
                  <a:pt x="4300" y="16200"/>
                </a:lnTo>
                <a:lnTo>
                  <a:pt x="43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20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47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L’expérience - 3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15" name="Text 48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Nos hypothèses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6" name="Shape 21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49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La simulation multi-agent et le comportement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18" name="Text 50"/>
          <p:cNvSpPr/>
          <p:nvPr/>
        </p:nvSpPr>
        <p:spPr>
          <a:xfrm>
            <a:off x="299160" y="2521080"/>
            <a:ext cx="88419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Est-ce que les attitudes avant la délibération sont liées à celles d’après?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Les individus avec normes perçues et “self-control”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Simulations et comparaison avec des modèles de régression simple?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Simulations augmenté avec des dynamiques d’argumentation?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3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5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L’expérience - 4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Notre simulation multi-agent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" descr=""/>
          <p:cNvPicPr/>
          <p:nvPr/>
        </p:nvPicPr>
        <p:blipFill>
          <a:blip r:embed="rId1"/>
          <a:srcRect l="0" t="24567" r="0" b="18072"/>
          <a:stretch/>
        </p:blipFill>
        <p:spPr>
          <a:xfrm>
            <a:off x="1371600" y="2153160"/>
            <a:ext cx="6579360" cy="1597680"/>
          </a:xfrm>
          <a:prstGeom prst="rect">
            <a:avLst/>
          </a:prstGeom>
          <a:ln w="0">
            <a:noFill/>
          </a:ln>
        </p:spPr>
      </p:pic>
      <p:sp>
        <p:nvSpPr>
          <p:cNvPr id="124" name="Text 8"/>
          <p:cNvSpPr/>
          <p:nvPr/>
        </p:nvSpPr>
        <p:spPr>
          <a:xfrm>
            <a:off x="1371600" y="3621600"/>
            <a:ext cx="1598040" cy="4550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Agents: Individus dans les débats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2057400" y="1740600"/>
            <a:ext cx="1827000" cy="5072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Environnement: Débats visio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3393000" y="3634200"/>
            <a:ext cx="1634400" cy="4838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Modèles d’influence sociale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4294440" y="1753200"/>
            <a:ext cx="1875960" cy="4946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Interagir avec les autres ou pas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5450400" y="3657600"/>
            <a:ext cx="1862640" cy="4550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Pas de temps relatif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6485400" y="1828800"/>
            <a:ext cx="1827000" cy="41904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Paramètres pour chaque modèle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1947600" y="4343760"/>
            <a:ext cx="5256000" cy="455040"/>
          </a:xfrm>
          <a:prstGeom prst="rect">
            <a:avLst/>
          </a:prstGeom>
          <a:noFill/>
          <a:ln w="29160">
            <a:solidFill>
              <a:srgbClr val="00a933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333333"/>
                </a:solidFill>
                <a:latin typeface="Calibri"/>
                <a:ea typeface="DejaVu Sans"/>
              </a:rPr>
              <a:t>Métrique d’efficacité: Mean of absolute error (MAE)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1908360" y="2836800"/>
            <a:ext cx="376560" cy="36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5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4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Résultats - 1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Premiers résultats – a completer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5" name="Shape 30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6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La simulation multi-agent et le comportement</a:t>
            </a:r>
            <a:endParaRPr b="0" lang="fr-FR" sz="11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619640" y="1392840"/>
            <a:ext cx="6150960" cy="352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31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7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Résultats - 1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40" name="Text 69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Premiers résultats – a completer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41" name="Shape 32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70"/>
          <p:cNvSpPr/>
          <p:nvPr/>
        </p:nvSpPr>
        <p:spPr>
          <a:xfrm>
            <a:off x="274320" y="1122120"/>
            <a:ext cx="85899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100" spc="-1" strike="noStrike">
                <a:solidFill>
                  <a:srgbClr val="1e3a5f"/>
                </a:solidFill>
                <a:latin typeface="Calibri"/>
                <a:ea typeface="DejaVu Sans"/>
              </a:rPr>
              <a:t>La simulation multi-agent et le comportement</a:t>
            </a:r>
            <a:endParaRPr b="0" lang="fr-FR" sz="11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1391040" y="1384560"/>
            <a:ext cx="6379920" cy="366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22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51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Prochaines étapes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46" name="Text 52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Conclusions et prochaines étapes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4"/>
          <p:cNvSpPr/>
          <p:nvPr/>
        </p:nvSpPr>
        <p:spPr>
          <a:xfrm>
            <a:off x="299160" y="1693080"/>
            <a:ext cx="88419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Travail en cours!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Le grand défi → modéliser les changements d’attitudes subtiles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333333"/>
                </a:solidFill>
                <a:latin typeface="Calibri"/>
                <a:ea typeface="DejaVu Sans"/>
              </a:rPr>
              <a:t>Prochaine étape → dynamiques d’argumentation</a:t>
            </a:r>
            <a:endParaRPr b="0" lang="fr-FR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26"/>
          <p:cNvSpPr/>
          <p:nvPr/>
        </p:nvSpPr>
        <p:spPr>
          <a:xfrm>
            <a:off x="0" y="0"/>
            <a:ext cx="9138600" cy="36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60"/>
          <p:cNvSpPr/>
          <p:nvPr/>
        </p:nvSpPr>
        <p:spPr>
          <a:xfrm>
            <a:off x="182880" y="0"/>
            <a:ext cx="8772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L’expérience - 2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51" name="Text 61"/>
          <p:cNvSpPr/>
          <p:nvPr/>
        </p:nvSpPr>
        <p:spPr>
          <a:xfrm>
            <a:off x="274320" y="457200"/>
            <a:ext cx="858996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1e3a5f"/>
                </a:solidFill>
                <a:latin typeface="Calibri"/>
                <a:ea typeface="DejaVu Sans"/>
              </a:rPr>
              <a:t>References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2" name="Shape 27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63"/>
          <p:cNvSpPr/>
          <p:nvPr/>
        </p:nvSpPr>
        <p:spPr>
          <a:xfrm>
            <a:off x="299880" y="2883600"/>
            <a:ext cx="83847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9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1"/>
              </a:rPr>
              <a:t>https://www.allaboutai.com/fr-fr/glossaire-ai/simulation-multi-agent/</a:t>
            </a:r>
            <a:endParaRPr b="0" lang="fr-FR" sz="9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900" spc="-1" strike="noStrike">
                <a:solidFill>
                  <a:srgbClr val="333333"/>
                </a:solidFill>
                <a:latin typeface="Calibri"/>
                <a:ea typeface="DejaVu Sans"/>
              </a:rPr>
              <a:t>Paulis, E, Talukder, D, Vrydagh, J. (2022). Mini-publics déliberatifs. In G. Petit, L. Blondiaux, I. Casillo, J.-M. Fourniau, G. Gourgues, S. Hayat, R. Lefebvre, S. Rui, S. Wojcik, &amp; J. Zetlaoui-Léger (Éds.), Dictionnaire critique et interdisciplinaire de la Participation, DicoPart (2ème édition). GIS Démocratie et Participation. </a:t>
            </a:r>
            <a:r>
              <a:rPr b="0" lang="fr-FR" sz="9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2"/>
              </a:rPr>
              <a:t>https://www.dicopart.fr/mini-publics-deliberatifs-2022</a:t>
            </a:r>
            <a:endParaRPr b="0" lang="fr-FR" sz="9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https://medium.com/data-science/how-to-create-an-agent-based-simulation-model-37bd7b4b0da7</a:t>
            </a:r>
            <a:endParaRPr b="0" lang="fr-FR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https://nl.wikipedia.org/wiki/Sint_Sebastiaansdoelen_(Den_Haag)</a:t>
            </a:r>
            <a:endParaRPr b="0" lang="fr-FR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900" spc="-1" strike="noStrike">
                <a:solidFill>
                  <a:srgbClr val="333333"/>
                </a:solidFill>
                <a:latin typeface="Calibri"/>
                <a:ea typeface="DejaVu Sans"/>
              </a:rPr>
              <a:t>Include Flache et al and all the other references used</a:t>
            </a:r>
            <a:endParaRPr b="0" lang="fr-FR" sz="9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 u="sng">
                <a:solidFill>
                  <a:srgbClr val="0563c1"/>
                </a:solidFill>
                <a:uFillTx/>
                <a:latin typeface="Calibri"/>
                <a:ea typeface="DejaVu Sans"/>
                <a:hlinkClick r:id="rId3"/>
              </a:rPr>
              <a:t>https://www.allocine.fr/film/fichefilm_gen_cfilm=123530.html</a:t>
            </a:r>
            <a:endParaRPr b="0" lang="fr-FR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000" spc="-1" strike="noStrike">
                <a:solidFill>
                  <a:srgbClr val="333333"/>
                </a:solidFill>
                <a:latin typeface="Calibri"/>
                <a:ea typeface="DejaVu Sans"/>
              </a:rPr>
              <a:t>https://www.inrae.fr/dossiers/alimentation-saine-durable/accelerer-transitions</a:t>
            </a:r>
            <a:endParaRPr b="0" lang="fr-FR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2026-03-19T12:59:51Z</dcterms:created>
  <dc:creator>PptxGenJS</dc:creator>
  <dc:description/>
  <dc:language>en-US</dc:language>
  <cp:lastModifiedBy/>
  <dcterms:modified xsi:type="dcterms:W3CDTF">2026-04-08T18:26:11Z</dcterms:modified>
  <cp:revision>25</cp:revision>
  <dc:subject>PptxGenJS Presentation</dc:subject>
  <dc:title>ABM Results – Based on R Script Output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